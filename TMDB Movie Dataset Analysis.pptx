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5911" y="0"/>
            <a:ext cx="1340230" cy="685799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4819015" cy="6858000"/>
          </a:xfrm>
          <a:custGeom>
            <a:avLst/>
            <a:gdLst/>
            <a:ahLst/>
            <a:cxnLst/>
            <a:rect l="l" t="t" r="r" b="b"/>
            <a:pathLst>
              <a:path w="4819015" h="6858000">
                <a:moveTo>
                  <a:pt x="3605911" y="0"/>
                </a:moveTo>
                <a:lnTo>
                  <a:pt x="0" y="0"/>
                </a:lnTo>
                <a:lnTo>
                  <a:pt x="0" y="6857999"/>
                </a:lnTo>
                <a:lnTo>
                  <a:pt x="3605911" y="6857999"/>
                </a:lnTo>
                <a:lnTo>
                  <a:pt x="3668903" y="6788730"/>
                </a:lnTo>
                <a:lnTo>
                  <a:pt x="3697952" y="6753210"/>
                </a:lnTo>
                <a:lnTo>
                  <a:pt x="3726692" y="6717324"/>
                </a:lnTo>
                <a:lnTo>
                  <a:pt x="3755122" y="6681075"/>
                </a:lnTo>
                <a:lnTo>
                  <a:pt x="3783239" y="6644466"/>
                </a:lnTo>
                <a:lnTo>
                  <a:pt x="3811040" y="6607500"/>
                </a:lnTo>
                <a:lnTo>
                  <a:pt x="3838523" y="6570181"/>
                </a:lnTo>
                <a:lnTo>
                  <a:pt x="3865685" y="6532511"/>
                </a:lnTo>
                <a:lnTo>
                  <a:pt x="3892523" y="6494494"/>
                </a:lnTo>
                <a:lnTo>
                  <a:pt x="3919036" y="6456132"/>
                </a:lnTo>
                <a:lnTo>
                  <a:pt x="3945220" y="6417430"/>
                </a:lnTo>
                <a:lnTo>
                  <a:pt x="3971072" y="6378390"/>
                </a:lnTo>
                <a:lnTo>
                  <a:pt x="3996591" y="6339015"/>
                </a:lnTo>
                <a:lnTo>
                  <a:pt x="4021773" y="6299308"/>
                </a:lnTo>
                <a:lnTo>
                  <a:pt x="4046617" y="6259273"/>
                </a:lnTo>
                <a:lnTo>
                  <a:pt x="4071118" y="6218913"/>
                </a:lnTo>
                <a:lnTo>
                  <a:pt x="4095276" y="6178231"/>
                </a:lnTo>
                <a:lnTo>
                  <a:pt x="4119087" y="6137229"/>
                </a:lnTo>
                <a:lnTo>
                  <a:pt x="4142548" y="6095912"/>
                </a:lnTo>
                <a:lnTo>
                  <a:pt x="4165657" y="6054282"/>
                </a:lnTo>
                <a:lnTo>
                  <a:pt x="4188412" y="6012342"/>
                </a:lnTo>
                <a:lnTo>
                  <a:pt x="4210809" y="5970096"/>
                </a:lnTo>
                <a:lnTo>
                  <a:pt x="4232847" y="5927547"/>
                </a:lnTo>
                <a:lnTo>
                  <a:pt x="4254522" y="5884697"/>
                </a:lnTo>
                <a:lnTo>
                  <a:pt x="4275833" y="5841550"/>
                </a:lnTo>
                <a:lnTo>
                  <a:pt x="4296775" y="5798110"/>
                </a:lnTo>
                <a:lnTo>
                  <a:pt x="4317348" y="5754379"/>
                </a:lnTo>
                <a:lnTo>
                  <a:pt x="4337548" y="5710360"/>
                </a:lnTo>
                <a:lnTo>
                  <a:pt x="4357372" y="5666057"/>
                </a:lnTo>
                <a:lnTo>
                  <a:pt x="4376819" y="5621472"/>
                </a:lnTo>
                <a:lnTo>
                  <a:pt x="4395885" y="5576610"/>
                </a:lnTo>
                <a:lnTo>
                  <a:pt x="4414567" y="5531472"/>
                </a:lnTo>
                <a:lnTo>
                  <a:pt x="4432864" y="5486062"/>
                </a:lnTo>
                <a:lnTo>
                  <a:pt x="4450773" y="5440384"/>
                </a:lnTo>
                <a:lnTo>
                  <a:pt x="4468291" y="5394440"/>
                </a:lnTo>
                <a:lnTo>
                  <a:pt x="4485415" y="5348234"/>
                </a:lnTo>
                <a:lnTo>
                  <a:pt x="4502143" y="5301769"/>
                </a:lnTo>
                <a:lnTo>
                  <a:pt x="4518473" y="5255047"/>
                </a:lnTo>
                <a:lnTo>
                  <a:pt x="4534401" y="5208072"/>
                </a:lnTo>
                <a:lnTo>
                  <a:pt x="4549925" y="5160848"/>
                </a:lnTo>
                <a:lnTo>
                  <a:pt x="4565042" y="5113377"/>
                </a:lnTo>
                <a:lnTo>
                  <a:pt x="4579751" y="5065662"/>
                </a:lnTo>
                <a:lnTo>
                  <a:pt x="4594048" y="5017707"/>
                </a:lnTo>
                <a:lnTo>
                  <a:pt x="4607930" y="4969514"/>
                </a:lnTo>
                <a:lnTo>
                  <a:pt x="4621396" y="4921088"/>
                </a:lnTo>
                <a:lnTo>
                  <a:pt x="4634442" y="4872430"/>
                </a:lnTo>
                <a:lnTo>
                  <a:pt x="4647066" y="4823545"/>
                </a:lnTo>
                <a:lnTo>
                  <a:pt x="4659266" y="4774434"/>
                </a:lnTo>
                <a:lnTo>
                  <a:pt x="4671038" y="4725103"/>
                </a:lnTo>
                <a:lnTo>
                  <a:pt x="4682380" y="4675553"/>
                </a:lnTo>
                <a:lnTo>
                  <a:pt x="4693290" y="4625787"/>
                </a:lnTo>
                <a:lnTo>
                  <a:pt x="4703765" y="4575810"/>
                </a:lnTo>
                <a:lnTo>
                  <a:pt x="4713802" y="4525623"/>
                </a:lnTo>
                <a:lnTo>
                  <a:pt x="4723399" y="4475231"/>
                </a:lnTo>
                <a:lnTo>
                  <a:pt x="4732553" y="4424636"/>
                </a:lnTo>
                <a:lnTo>
                  <a:pt x="4741262" y="4373841"/>
                </a:lnTo>
                <a:lnTo>
                  <a:pt x="4749522" y="4322850"/>
                </a:lnTo>
                <a:lnTo>
                  <a:pt x="4757332" y="4271666"/>
                </a:lnTo>
                <a:lnTo>
                  <a:pt x="4764689" y="4220292"/>
                </a:lnTo>
                <a:lnTo>
                  <a:pt x="4771590" y="4168730"/>
                </a:lnTo>
                <a:lnTo>
                  <a:pt x="4778033" y="4116985"/>
                </a:lnTo>
                <a:lnTo>
                  <a:pt x="4784014" y="4065059"/>
                </a:lnTo>
                <a:lnTo>
                  <a:pt x="4789532" y="4012956"/>
                </a:lnTo>
                <a:lnTo>
                  <a:pt x="4794584" y="3960678"/>
                </a:lnTo>
                <a:lnTo>
                  <a:pt x="4799166" y="3908229"/>
                </a:lnTo>
                <a:lnTo>
                  <a:pt x="4803278" y="3855612"/>
                </a:lnTo>
                <a:lnTo>
                  <a:pt x="4806916" y="3802830"/>
                </a:lnTo>
                <a:lnTo>
                  <a:pt x="4810076" y="3749886"/>
                </a:lnTo>
                <a:lnTo>
                  <a:pt x="4812758" y="3696783"/>
                </a:lnTo>
                <a:lnTo>
                  <a:pt x="4814958" y="3643525"/>
                </a:lnTo>
                <a:lnTo>
                  <a:pt x="4816674" y="3590114"/>
                </a:lnTo>
                <a:lnTo>
                  <a:pt x="4817902" y="3536554"/>
                </a:lnTo>
                <a:lnTo>
                  <a:pt x="4818642" y="3482848"/>
                </a:lnTo>
                <a:lnTo>
                  <a:pt x="4818888" y="3429000"/>
                </a:lnTo>
                <a:lnTo>
                  <a:pt x="4818642" y="3375151"/>
                </a:lnTo>
                <a:lnTo>
                  <a:pt x="4817902" y="3321445"/>
                </a:lnTo>
                <a:lnTo>
                  <a:pt x="4816674" y="3267885"/>
                </a:lnTo>
                <a:lnTo>
                  <a:pt x="4814958" y="3214474"/>
                </a:lnTo>
                <a:lnTo>
                  <a:pt x="4812758" y="3161216"/>
                </a:lnTo>
                <a:lnTo>
                  <a:pt x="4810076" y="3108114"/>
                </a:lnTo>
                <a:lnTo>
                  <a:pt x="4806916" y="3055170"/>
                </a:lnTo>
                <a:lnTo>
                  <a:pt x="4803278" y="3002388"/>
                </a:lnTo>
                <a:lnTo>
                  <a:pt x="4799166" y="2949771"/>
                </a:lnTo>
                <a:lnTo>
                  <a:pt x="4794584" y="2897322"/>
                </a:lnTo>
                <a:lnTo>
                  <a:pt x="4789532" y="2845045"/>
                </a:lnTo>
                <a:lnTo>
                  <a:pt x="4784014" y="2792941"/>
                </a:lnTo>
                <a:lnTo>
                  <a:pt x="4778033" y="2741016"/>
                </a:lnTo>
                <a:lnTo>
                  <a:pt x="4771590" y="2689271"/>
                </a:lnTo>
                <a:lnTo>
                  <a:pt x="4764689" y="2637709"/>
                </a:lnTo>
                <a:lnTo>
                  <a:pt x="4757332" y="2586335"/>
                </a:lnTo>
                <a:lnTo>
                  <a:pt x="4749522" y="2535151"/>
                </a:lnTo>
                <a:lnTo>
                  <a:pt x="4741262" y="2484160"/>
                </a:lnTo>
                <a:lnTo>
                  <a:pt x="4732553" y="2433366"/>
                </a:lnTo>
                <a:lnTo>
                  <a:pt x="4723399" y="2382771"/>
                </a:lnTo>
                <a:lnTo>
                  <a:pt x="4713802" y="2332379"/>
                </a:lnTo>
                <a:lnTo>
                  <a:pt x="4703765" y="2282193"/>
                </a:lnTo>
                <a:lnTo>
                  <a:pt x="4693290" y="2232215"/>
                </a:lnTo>
                <a:lnTo>
                  <a:pt x="4682380" y="2182450"/>
                </a:lnTo>
                <a:lnTo>
                  <a:pt x="4671038" y="2132900"/>
                </a:lnTo>
                <a:lnTo>
                  <a:pt x="4659266" y="2083568"/>
                </a:lnTo>
                <a:lnTo>
                  <a:pt x="4647066" y="2034458"/>
                </a:lnTo>
                <a:lnTo>
                  <a:pt x="4634442" y="1985573"/>
                </a:lnTo>
                <a:lnTo>
                  <a:pt x="4621396" y="1936915"/>
                </a:lnTo>
                <a:lnTo>
                  <a:pt x="4607930" y="1888489"/>
                </a:lnTo>
                <a:lnTo>
                  <a:pt x="4594048" y="1840296"/>
                </a:lnTo>
                <a:lnTo>
                  <a:pt x="4579751" y="1792341"/>
                </a:lnTo>
                <a:lnTo>
                  <a:pt x="4565042" y="1744626"/>
                </a:lnTo>
                <a:lnTo>
                  <a:pt x="4549925" y="1697154"/>
                </a:lnTo>
                <a:lnTo>
                  <a:pt x="4534401" y="1649930"/>
                </a:lnTo>
                <a:lnTo>
                  <a:pt x="4518473" y="1602955"/>
                </a:lnTo>
                <a:lnTo>
                  <a:pt x="4502143" y="1556233"/>
                </a:lnTo>
                <a:lnTo>
                  <a:pt x="4485415" y="1509767"/>
                </a:lnTo>
                <a:lnTo>
                  <a:pt x="4468291" y="1463560"/>
                </a:lnTo>
                <a:lnTo>
                  <a:pt x="4450773" y="1417616"/>
                </a:lnTo>
                <a:lnTo>
                  <a:pt x="4432864" y="1371937"/>
                </a:lnTo>
                <a:lnTo>
                  <a:pt x="4414567" y="1326527"/>
                </a:lnTo>
                <a:lnTo>
                  <a:pt x="4395885" y="1281389"/>
                </a:lnTo>
                <a:lnTo>
                  <a:pt x="4376819" y="1236526"/>
                </a:lnTo>
                <a:lnTo>
                  <a:pt x="4357372" y="1191941"/>
                </a:lnTo>
                <a:lnTo>
                  <a:pt x="4337548" y="1147637"/>
                </a:lnTo>
                <a:lnTo>
                  <a:pt x="4317348" y="1103617"/>
                </a:lnTo>
                <a:lnTo>
                  <a:pt x="4296775" y="1059885"/>
                </a:lnTo>
                <a:lnTo>
                  <a:pt x="4275833" y="1016443"/>
                </a:lnTo>
                <a:lnTo>
                  <a:pt x="4254522" y="973296"/>
                </a:lnTo>
                <a:lnTo>
                  <a:pt x="4232847" y="930445"/>
                </a:lnTo>
                <a:lnTo>
                  <a:pt x="4210809" y="887894"/>
                </a:lnTo>
                <a:lnTo>
                  <a:pt x="4188412" y="845647"/>
                </a:lnTo>
                <a:lnTo>
                  <a:pt x="4165657" y="803706"/>
                </a:lnTo>
                <a:lnTo>
                  <a:pt x="4142548" y="762074"/>
                </a:lnTo>
                <a:lnTo>
                  <a:pt x="4119087" y="720756"/>
                </a:lnTo>
                <a:lnTo>
                  <a:pt x="4095276" y="679753"/>
                </a:lnTo>
                <a:lnTo>
                  <a:pt x="4071118" y="639068"/>
                </a:lnTo>
                <a:lnTo>
                  <a:pt x="4046617" y="598706"/>
                </a:lnTo>
                <a:lnTo>
                  <a:pt x="4021773" y="558669"/>
                </a:lnTo>
                <a:lnTo>
                  <a:pt x="3996591" y="518961"/>
                </a:lnTo>
                <a:lnTo>
                  <a:pt x="3971072" y="479584"/>
                </a:lnTo>
                <a:lnTo>
                  <a:pt x="3945220" y="440542"/>
                </a:lnTo>
                <a:lnTo>
                  <a:pt x="3919036" y="401837"/>
                </a:lnTo>
                <a:lnTo>
                  <a:pt x="3892523" y="363473"/>
                </a:lnTo>
                <a:lnTo>
                  <a:pt x="3865685" y="325454"/>
                </a:lnTo>
                <a:lnTo>
                  <a:pt x="3838523" y="287781"/>
                </a:lnTo>
                <a:lnTo>
                  <a:pt x="3811040" y="250459"/>
                </a:lnTo>
                <a:lnTo>
                  <a:pt x="3783239" y="213491"/>
                </a:lnTo>
                <a:lnTo>
                  <a:pt x="3755122" y="176879"/>
                </a:lnTo>
                <a:lnTo>
                  <a:pt x="3726692" y="140627"/>
                </a:lnTo>
                <a:lnTo>
                  <a:pt x="3697952" y="104738"/>
                </a:lnTo>
                <a:lnTo>
                  <a:pt x="3668903" y="69215"/>
                </a:lnTo>
                <a:lnTo>
                  <a:pt x="360591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0"/>
            <a:ext cx="4819015" cy="6858000"/>
          </a:xfrm>
          <a:custGeom>
            <a:avLst/>
            <a:gdLst/>
            <a:ahLst/>
            <a:cxnLst/>
            <a:rect l="l" t="t" r="r" b="b"/>
            <a:pathLst>
              <a:path w="4819015" h="6858000">
                <a:moveTo>
                  <a:pt x="0" y="0"/>
                </a:moveTo>
                <a:lnTo>
                  <a:pt x="3605911" y="0"/>
                </a:lnTo>
                <a:lnTo>
                  <a:pt x="3668903" y="69215"/>
                </a:lnTo>
                <a:lnTo>
                  <a:pt x="3697952" y="104738"/>
                </a:lnTo>
                <a:lnTo>
                  <a:pt x="3726692" y="140627"/>
                </a:lnTo>
                <a:lnTo>
                  <a:pt x="3755122" y="176879"/>
                </a:lnTo>
                <a:lnTo>
                  <a:pt x="3783239" y="213491"/>
                </a:lnTo>
                <a:lnTo>
                  <a:pt x="3811040" y="250459"/>
                </a:lnTo>
                <a:lnTo>
                  <a:pt x="3838523" y="287781"/>
                </a:lnTo>
                <a:lnTo>
                  <a:pt x="3865685" y="325454"/>
                </a:lnTo>
                <a:lnTo>
                  <a:pt x="3892523" y="363473"/>
                </a:lnTo>
                <a:lnTo>
                  <a:pt x="3919036" y="401837"/>
                </a:lnTo>
                <a:lnTo>
                  <a:pt x="3945220" y="440542"/>
                </a:lnTo>
                <a:lnTo>
                  <a:pt x="3971072" y="479584"/>
                </a:lnTo>
                <a:lnTo>
                  <a:pt x="3996591" y="518961"/>
                </a:lnTo>
                <a:lnTo>
                  <a:pt x="4021773" y="558669"/>
                </a:lnTo>
                <a:lnTo>
                  <a:pt x="4046617" y="598706"/>
                </a:lnTo>
                <a:lnTo>
                  <a:pt x="4071118" y="639068"/>
                </a:lnTo>
                <a:lnTo>
                  <a:pt x="4095276" y="679753"/>
                </a:lnTo>
                <a:lnTo>
                  <a:pt x="4119087" y="720756"/>
                </a:lnTo>
                <a:lnTo>
                  <a:pt x="4142548" y="762074"/>
                </a:lnTo>
                <a:lnTo>
                  <a:pt x="4165657" y="803706"/>
                </a:lnTo>
                <a:lnTo>
                  <a:pt x="4188412" y="845647"/>
                </a:lnTo>
                <a:lnTo>
                  <a:pt x="4210809" y="887894"/>
                </a:lnTo>
                <a:lnTo>
                  <a:pt x="4232847" y="930445"/>
                </a:lnTo>
                <a:lnTo>
                  <a:pt x="4254522" y="973296"/>
                </a:lnTo>
                <a:lnTo>
                  <a:pt x="4275833" y="1016443"/>
                </a:lnTo>
                <a:lnTo>
                  <a:pt x="4296775" y="1059885"/>
                </a:lnTo>
                <a:lnTo>
                  <a:pt x="4317348" y="1103617"/>
                </a:lnTo>
                <a:lnTo>
                  <a:pt x="4337548" y="1147637"/>
                </a:lnTo>
                <a:lnTo>
                  <a:pt x="4357372" y="1191941"/>
                </a:lnTo>
                <a:lnTo>
                  <a:pt x="4376819" y="1236526"/>
                </a:lnTo>
                <a:lnTo>
                  <a:pt x="4395885" y="1281389"/>
                </a:lnTo>
                <a:lnTo>
                  <a:pt x="4414567" y="1326527"/>
                </a:lnTo>
                <a:lnTo>
                  <a:pt x="4432864" y="1371937"/>
                </a:lnTo>
                <a:lnTo>
                  <a:pt x="4450773" y="1417616"/>
                </a:lnTo>
                <a:lnTo>
                  <a:pt x="4468291" y="1463560"/>
                </a:lnTo>
                <a:lnTo>
                  <a:pt x="4485415" y="1509767"/>
                </a:lnTo>
                <a:lnTo>
                  <a:pt x="4502143" y="1556233"/>
                </a:lnTo>
                <a:lnTo>
                  <a:pt x="4518473" y="1602955"/>
                </a:lnTo>
                <a:lnTo>
                  <a:pt x="4534401" y="1649930"/>
                </a:lnTo>
                <a:lnTo>
                  <a:pt x="4549925" y="1697154"/>
                </a:lnTo>
                <a:lnTo>
                  <a:pt x="4565042" y="1744626"/>
                </a:lnTo>
                <a:lnTo>
                  <a:pt x="4579751" y="1792341"/>
                </a:lnTo>
                <a:lnTo>
                  <a:pt x="4594048" y="1840296"/>
                </a:lnTo>
                <a:lnTo>
                  <a:pt x="4607930" y="1888489"/>
                </a:lnTo>
                <a:lnTo>
                  <a:pt x="4621396" y="1936915"/>
                </a:lnTo>
                <a:lnTo>
                  <a:pt x="4634442" y="1985573"/>
                </a:lnTo>
                <a:lnTo>
                  <a:pt x="4647066" y="2034458"/>
                </a:lnTo>
                <a:lnTo>
                  <a:pt x="4659266" y="2083568"/>
                </a:lnTo>
                <a:lnTo>
                  <a:pt x="4671038" y="2132900"/>
                </a:lnTo>
                <a:lnTo>
                  <a:pt x="4682380" y="2182450"/>
                </a:lnTo>
                <a:lnTo>
                  <a:pt x="4693290" y="2232215"/>
                </a:lnTo>
                <a:lnTo>
                  <a:pt x="4703765" y="2282193"/>
                </a:lnTo>
                <a:lnTo>
                  <a:pt x="4713802" y="2332379"/>
                </a:lnTo>
                <a:lnTo>
                  <a:pt x="4723399" y="2382771"/>
                </a:lnTo>
                <a:lnTo>
                  <a:pt x="4732553" y="2433366"/>
                </a:lnTo>
                <a:lnTo>
                  <a:pt x="4741262" y="2484160"/>
                </a:lnTo>
                <a:lnTo>
                  <a:pt x="4749522" y="2535151"/>
                </a:lnTo>
                <a:lnTo>
                  <a:pt x="4757332" y="2586335"/>
                </a:lnTo>
                <a:lnTo>
                  <a:pt x="4764689" y="2637709"/>
                </a:lnTo>
                <a:lnTo>
                  <a:pt x="4771590" y="2689271"/>
                </a:lnTo>
                <a:lnTo>
                  <a:pt x="4778033" y="2741016"/>
                </a:lnTo>
                <a:lnTo>
                  <a:pt x="4784014" y="2792941"/>
                </a:lnTo>
                <a:lnTo>
                  <a:pt x="4789532" y="2845045"/>
                </a:lnTo>
                <a:lnTo>
                  <a:pt x="4794584" y="2897322"/>
                </a:lnTo>
                <a:lnTo>
                  <a:pt x="4799166" y="2949771"/>
                </a:lnTo>
                <a:lnTo>
                  <a:pt x="4803278" y="3002388"/>
                </a:lnTo>
                <a:lnTo>
                  <a:pt x="4806916" y="3055170"/>
                </a:lnTo>
                <a:lnTo>
                  <a:pt x="4810076" y="3108114"/>
                </a:lnTo>
                <a:lnTo>
                  <a:pt x="4812758" y="3161216"/>
                </a:lnTo>
                <a:lnTo>
                  <a:pt x="4814958" y="3214474"/>
                </a:lnTo>
                <a:lnTo>
                  <a:pt x="4816674" y="3267885"/>
                </a:lnTo>
                <a:lnTo>
                  <a:pt x="4817902" y="3321445"/>
                </a:lnTo>
                <a:lnTo>
                  <a:pt x="4818642" y="3375151"/>
                </a:lnTo>
                <a:lnTo>
                  <a:pt x="4818888" y="3429000"/>
                </a:lnTo>
                <a:lnTo>
                  <a:pt x="4818642" y="3482848"/>
                </a:lnTo>
                <a:lnTo>
                  <a:pt x="4817902" y="3536554"/>
                </a:lnTo>
                <a:lnTo>
                  <a:pt x="4816674" y="3590114"/>
                </a:lnTo>
                <a:lnTo>
                  <a:pt x="4814958" y="3643525"/>
                </a:lnTo>
                <a:lnTo>
                  <a:pt x="4812758" y="3696783"/>
                </a:lnTo>
                <a:lnTo>
                  <a:pt x="4810076" y="3749886"/>
                </a:lnTo>
                <a:lnTo>
                  <a:pt x="4806916" y="3802830"/>
                </a:lnTo>
                <a:lnTo>
                  <a:pt x="4803278" y="3855612"/>
                </a:lnTo>
                <a:lnTo>
                  <a:pt x="4799166" y="3908229"/>
                </a:lnTo>
                <a:lnTo>
                  <a:pt x="4794584" y="3960678"/>
                </a:lnTo>
                <a:lnTo>
                  <a:pt x="4789532" y="4012956"/>
                </a:lnTo>
                <a:lnTo>
                  <a:pt x="4784014" y="4065059"/>
                </a:lnTo>
                <a:lnTo>
                  <a:pt x="4778033" y="4116985"/>
                </a:lnTo>
                <a:lnTo>
                  <a:pt x="4771590" y="4168730"/>
                </a:lnTo>
                <a:lnTo>
                  <a:pt x="4764689" y="4220292"/>
                </a:lnTo>
                <a:lnTo>
                  <a:pt x="4757332" y="4271666"/>
                </a:lnTo>
                <a:lnTo>
                  <a:pt x="4749522" y="4322850"/>
                </a:lnTo>
                <a:lnTo>
                  <a:pt x="4741262" y="4373841"/>
                </a:lnTo>
                <a:lnTo>
                  <a:pt x="4732553" y="4424636"/>
                </a:lnTo>
                <a:lnTo>
                  <a:pt x="4723399" y="4475231"/>
                </a:lnTo>
                <a:lnTo>
                  <a:pt x="4713802" y="4525623"/>
                </a:lnTo>
                <a:lnTo>
                  <a:pt x="4703765" y="4575810"/>
                </a:lnTo>
                <a:lnTo>
                  <a:pt x="4693290" y="4625787"/>
                </a:lnTo>
                <a:lnTo>
                  <a:pt x="4682380" y="4675553"/>
                </a:lnTo>
                <a:lnTo>
                  <a:pt x="4671038" y="4725103"/>
                </a:lnTo>
                <a:lnTo>
                  <a:pt x="4659266" y="4774434"/>
                </a:lnTo>
                <a:lnTo>
                  <a:pt x="4647066" y="4823545"/>
                </a:lnTo>
                <a:lnTo>
                  <a:pt x="4634442" y="4872430"/>
                </a:lnTo>
                <a:lnTo>
                  <a:pt x="4621396" y="4921088"/>
                </a:lnTo>
                <a:lnTo>
                  <a:pt x="4607930" y="4969514"/>
                </a:lnTo>
                <a:lnTo>
                  <a:pt x="4594048" y="5017707"/>
                </a:lnTo>
                <a:lnTo>
                  <a:pt x="4579751" y="5065662"/>
                </a:lnTo>
                <a:lnTo>
                  <a:pt x="4565042" y="5113377"/>
                </a:lnTo>
                <a:lnTo>
                  <a:pt x="4549925" y="5160848"/>
                </a:lnTo>
                <a:lnTo>
                  <a:pt x="4534401" y="5208072"/>
                </a:lnTo>
                <a:lnTo>
                  <a:pt x="4518473" y="5255047"/>
                </a:lnTo>
                <a:lnTo>
                  <a:pt x="4502143" y="5301769"/>
                </a:lnTo>
                <a:lnTo>
                  <a:pt x="4485415" y="5348234"/>
                </a:lnTo>
                <a:lnTo>
                  <a:pt x="4468291" y="5394440"/>
                </a:lnTo>
                <a:lnTo>
                  <a:pt x="4450773" y="5440384"/>
                </a:lnTo>
                <a:lnTo>
                  <a:pt x="4432864" y="5486062"/>
                </a:lnTo>
                <a:lnTo>
                  <a:pt x="4414567" y="5531472"/>
                </a:lnTo>
                <a:lnTo>
                  <a:pt x="4395885" y="5576610"/>
                </a:lnTo>
                <a:lnTo>
                  <a:pt x="4376819" y="5621472"/>
                </a:lnTo>
                <a:lnTo>
                  <a:pt x="4357372" y="5666057"/>
                </a:lnTo>
                <a:lnTo>
                  <a:pt x="4337548" y="5710360"/>
                </a:lnTo>
                <a:lnTo>
                  <a:pt x="4317348" y="5754379"/>
                </a:lnTo>
                <a:lnTo>
                  <a:pt x="4296775" y="5798110"/>
                </a:lnTo>
                <a:lnTo>
                  <a:pt x="4275833" y="5841550"/>
                </a:lnTo>
                <a:lnTo>
                  <a:pt x="4254522" y="5884697"/>
                </a:lnTo>
                <a:lnTo>
                  <a:pt x="4232847" y="5927547"/>
                </a:lnTo>
                <a:lnTo>
                  <a:pt x="4210809" y="5970096"/>
                </a:lnTo>
                <a:lnTo>
                  <a:pt x="4188412" y="6012342"/>
                </a:lnTo>
                <a:lnTo>
                  <a:pt x="4165657" y="6054282"/>
                </a:lnTo>
                <a:lnTo>
                  <a:pt x="4142548" y="6095912"/>
                </a:lnTo>
                <a:lnTo>
                  <a:pt x="4119087" y="6137229"/>
                </a:lnTo>
                <a:lnTo>
                  <a:pt x="4095276" y="6178231"/>
                </a:lnTo>
                <a:lnTo>
                  <a:pt x="4071118" y="6218913"/>
                </a:lnTo>
                <a:lnTo>
                  <a:pt x="4046617" y="6259273"/>
                </a:lnTo>
                <a:lnTo>
                  <a:pt x="4021773" y="6299308"/>
                </a:lnTo>
                <a:lnTo>
                  <a:pt x="3996591" y="6339015"/>
                </a:lnTo>
                <a:lnTo>
                  <a:pt x="3971072" y="6378390"/>
                </a:lnTo>
                <a:lnTo>
                  <a:pt x="3945220" y="6417430"/>
                </a:lnTo>
                <a:lnTo>
                  <a:pt x="3919036" y="6456132"/>
                </a:lnTo>
                <a:lnTo>
                  <a:pt x="3892523" y="6494494"/>
                </a:lnTo>
                <a:lnTo>
                  <a:pt x="3865685" y="6532511"/>
                </a:lnTo>
                <a:lnTo>
                  <a:pt x="3838523" y="6570181"/>
                </a:lnTo>
                <a:lnTo>
                  <a:pt x="3811040" y="6607500"/>
                </a:lnTo>
                <a:lnTo>
                  <a:pt x="3783239" y="6644466"/>
                </a:lnTo>
                <a:lnTo>
                  <a:pt x="3755122" y="6681075"/>
                </a:lnTo>
                <a:lnTo>
                  <a:pt x="3726692" y="6717324"/>
                </a:lnTo>
                <a:lnTo>
                  <a:pt x="3697952" y="6753210"/>
                </a:lnTo>
                <a:lnTo>
                  <a:pt x="3668903" y="6788730"/>
                </a:lnTo>
                <a:lnTo>
                  <a:pt x="3605911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EEEE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0"/>
            <a:ext cx="4812030" cy="6858000"/>
          </a:xfrm>
          <a:custGeom>
            <a:avLst/>
            <a:gdLst/>
            <a:ahLst/>
            <a:cxnLst/>
            <a:rect l="l" t="t" r="r" b="b"/>
            <a:pathLst>
              <a:path w="4812030" h="6858000">
                <a:moveTo>
                  <a:pt x="3598544" y="0"/>
                </a:moveTo>
                <a:lnTo>
                  <a:pt x="0" y="0"/>
                </a:lnTo>
                <a:lnTo>
                  <a:pt x="0" y="6857999"/>
                </a:lnTo>
                <a:lnTo>
                  <a:pt x="3598544" y="6857999"/>
                </a:lnTo>
                <a:lnTo>
                  <a:pt x="3661536" y="6788730"/>
                </a:lnTo>
                <a:lnTo>
                  <a:pt x="3690579" y="6753210"/>
                </a:lnTo>
                <a:lnTo>
                  <a:pt x="3719314" y="6717324"/>
                </a:lnTo>
                <a:lnTo>
                  <a:pt x="3747740" y="6681075"/>
                </a:lnTo>
                <a:lnTo>
                  <a:pt x="3775852" y="6644466"/>
                </a:lnTo>
                <a:lnTo>
                  <a:pt x="3803649" y="6607500"/>
                </a:lnTo>
                <a:lnTo>
                  <a:pt x="3831128" y="6570181"/>
                </a:lnTo>
                <a:lnTo>
                  <a:pt x="3858287" y="6532511"/>
                </a:lnTo>
                <a:lnTo>
                  <a:pt x="3885122" y="6494494"/>
                </a:lnTo>
                <a:lnTo>
                  <a:pt x="3911632" y="6456132"/>
                </a:lnTo>
                <a:lnTo>
                  <a:pt x="3937813" y="6417430"/>
                </a:lnTo>
                <a:lnTo>
                  <a:pt x="3963663" y="6378390"/>
                </a:lnTo>
                <a:lnTo>
                  <a:pt x="3989179" y="6339015"/>
                </a:lnTo>
                <a:lnTo>
                  <a:pt x="4014360" y="6299308"/>
                </a:lnTo>
                <a:lnTo>
                  <a:pt x="4039201" y="6259273"/>
                </a:lnTo>
                <a:lnTo>
                  <a:pt x="4063701" y="6218913"/>
                </a:lnTo>
                <a:lnTo>
                  <a:pt x="4087857" y="6178231"/>
                </a:lnTo>
                <a:lnTo>
                  <a:pt x="4111666" y="6137229"/>
                </a:lnTo>
                <a:lnTo>
                  <a:pt x="4135127" y="6095912"/>
                </a:lnTo>
                <a:lnTo>
                  <a:pt x="4158235" y="6054282"/>
                </a:lnTo>
                <a:lnTo>
                  <a:pt x="4180989" y="6012342"/>
                </a:lnTo>
                <a:lnTo>
                  <a:pt x="4203386" y="5970096"/>
                </a:lnTo>
                <a:lnTo>
                  <a:pt x="4225423" y="5927547"/>
                </a:lnTo>
                <a:lnTo>
                  <a:pt x="4247098" y="5884697"/>
                </a:lnTo>
                <a:lnTo>
                  <a:pt x="4268408" y="5841550"/>
                </a:lnTo>
                <a:lnTo>
                  <a:pt x="4289351" y="5798110"/>
                </a:lnTo>
                <a:lnTo>
                  <a:pt x="4309924" y="5754379"/>
                </a:lnTo>
                <a:lnTo>
                  <a:pt x="4330124" y="5710360"/>
                </a:lnTo>
                <a:lnTo>
                  <a:pt x="4349949" y="5666057"/>
                </a:lnTo>
                <a:lnTo>
                  <a:pt x="4369396" y="5621472"/>
                </a:lnTo>
                <a:lnTo>
                  <a:pt x="4388462" y="5576610"/>
                </a:lnTo>
                <a:lnTo>
                  <a:pt x="4407146" y="5531472"/>
                </a:lnTo>
                <a:lnTo>
                  <a:pt x="4425444" y="5486062"/>
                </a:lnTo>
                <a:lnTo>
                  <a:pt x="4443353" y="5440384"/>
                </a:lnTo>
                <a:lnTo>
                  <a:pt x="4460872" y="5394440"/>
                </a:lnTo>
                <a:lnTo>
                  <a:pt x="4477998" y="5348234"/>
                </a:lnTo>
                <a:lnTo>
                  <a:pt x="4494727" y="5301769"/>
                </a:lnTo>
                <a:lnTo>
                  <a:pt x="4511058" y="5255047"/>
                </a:lnTo>
                <a:lnTo>
                  <a:pt x="4526987" y="5208072"/>
                </a:lnTo>
                <a:lnTo>
                  <a:pt x="4542513" y="5160848"/>
                </a:lnTo>
                <a:lnTo>
                  <a:pt x="4557632" y="5113377"/>
                </a:lnTo>
                <a:lnTo>
                  <a:pt x="4572342" y="5065662"/>
                </a:lnTo>
                <a:lnTo>
                  <a:pt x="4586640" y="5017707"/>
                </a:lnTo>
                <a:lnTo>
                  <a:pt x="4600525" y="4969514"/>
                </a:lnTo>
                <a:lnTo>
                  <a:pt x="4613992" y="4921088"/>
                </a:lnTo>
                <a:lnTo>
                  <a:pt x="4627040" y="4872430"/>
                </a:lnTo>
                <a:lnTo>
                  <a:pt x="4639666" y="4823545"/>
                </a:lnTo>
                <a:lnTo>
                  <a:pt x="4651867" y="4774434"/>
                </a:lnTo>
                <a:lnTo>
                  <a:pt x="4663641" y="4725103"/>
                </a:lnTo>
                <a:lnTo>
                  <a:pt x="4674985" y="4675553"/>
                </a:lnTo>
                <a:lnTo>
                  <a:pt x="4685896" y="4625787"/>
                </a:lnTo>
                <a:lnTo>
                  <a:pt x="4696373" y="4575810"/>
                </a:lnTo>
                <a:lnTo>
                  <a:pt x="4706412" y="4525623"/>
                </a:lnTo>
                <a:lnTo>
                  <a:pt x="4716010" y="4475231"/>
                </a:lnTo>
                <a:lnTo>
                  <a:pt x="4725166" y="4424636"/>
                </a:lnTo>
                <a:lnTo>
                  <a:pt x="4733876" y="4373841"/>
                </a:lnTo>
                <a:lnTo>
                  <a:pt x="4742139" y="4322850"/>
                </a:lnTo>
                <a:lnTo>
                  <a:pt x="4749950" y="4271666"/>
                </a:lnTo>
                <a:lnTo>
                  <a:pt x="4757308" y="4220292"/>
                </a:lnTo>
                <a:lnTo>
                  <a:pt x="4764211" y="4168730"/>
                </a:lnTo>
                <a:lnTo>
                  <a:pt x="4770655" y="4116985"/>
                </a:lnTo>
                <a:lnTo>
                  <a:pt x="4776637" y="4065059"/>
                </a:lnTo>
                <a:lnTo>
                  <a:pt x="4782157" y="4012956"/>
                </a:lnTo>
                <a:lnTo>
                  <a:pt x="4787209" y="3960678"/>
                </a:lnTo>
                <a:lnTo>
                  <a:pt x="4791793" y="3908229"/>
                </a:lnTo>
                <a:lnTo>
                  <a:pt x="4795906" y="3855612"/>
                </a:lnTo>
                <a:lnTo>
                  <a:pt x="4799544" y="3802830"/>
                </a:lnTo>
                <a:lnTo>
                  <a:pt x="4802706" y="3749886"/>
                </a:lnTo>
                <a:lnTo>
                  <a:pt x="4805389" y="3696783"/>
                </a:lnTo>
                <a:lnTo>
                  <a:pt x="4807589" y="3643525"/>
                </a:lnTo>
                <a:lnTo>
                  <a:pt x="4809305" y="3590114"/>
                </a:lnTo>
                <a:lnTo>
                  <a:pt x="4810534" y="3536554"/>
                </a:lnTo>
                <a:lnTo>
                  <a:pt x="4811273" y="3482848"/>
                </a:lnTo>
                <a:lnTo>
                  <a:pt x="4811521" y="3429000"/>
                </a:lnTo>
                <a:lnTo>
                  <a:pt x="4811273" y="3375151"/>
                </a:lnTo>
                <a:lnTo>
                  <a:pt x="4810534" y="3321445"/>
                </a:lnTo>
                <a:lnTo>
                  <a:pt x="4809305" y="3267885"/>
                </a:lnTo>
                <a:lnTo>
                  <a:pt x="4807589" y="3214474"/>
                </a:lnTo>
                <a:lnTo>
                  <a:pt x="4805389" y="3161216"/>
                </a:lnTo>
                <a:lnTo>
                  <a:pt x="4802706" y="3108114"/>
                </a:lnTo>
                <a:lnTo>
                  <a:pt x="4799544" y="3055170"/>
                </a:lnTo>
                <a:lnTo>
                  <a:pt x="4795906" y="3002388"/>
                </a:lnTo>
                <a:lnTo>
                  <a:pt x="4791793" y="2949771"/>
                </a:lnTo>
                <a:lnTo>
                  <a:pt x="4787209" y="2897322"/>
                </a:lnTo>
                <a:lnTo>
                  <a:pt x="4782157" y="2845045"/>
                </a:lnTo>
                <a:lnTo>
                  <a:pt x="4776637" y="2792941"/>
                </a:lnTo>
                <a:lnTo>
                  <a:pt x="4770655" y="2741016"/>
                </a:lnTo>
                <a:lnTo>
                  <a:pt x="4764211" y="2689271"/>
                </a:lnTo>
                <a:lnTo>
                  <a:pt x="4757308" y="2637709"/>
                </a:lnTo>
                <a:lnTo>
                  <a:pt x="4749950" y="2586335"/>
                </a:lnTo>
                <a:lnTo>
                  <a:pt x="4742139" y="2535151"/>
                </a:lnTo>
                <a:lnTo>
                  <a:pt x="4733876" y="2484160"/>
                </a:lnTo>
                <a:lnTo>
                  <a:pt x="4725166" y="2433366"/>
                </a:lnTo>
                <a:lnTo>
                  <a:pt x="4716010" y="2382771"/>
                </a:lnTo>
                <a:lnTo>
                  <a:pt x="4706412" y="2332379"/>
                </a:lnTo>
                <a:lnTo>
                  <a:pt x="4696373" y="2282193"/>
                </a:lnTo>
                <a:lnTo>
                  <a:pt x="4685896" y="2232215"/>
                </a:lnTo>
                <a:lnTo>
                  <a:pt x="4674985" y="2182450"/>
                </a:lnTo>
                <a:lnTo>
                  <a:pt x="4663641" y="2132900"/>
                </a:lnTo>
                <a:lnTo>
                  <a:pt x="4651867" y="2083568"/>
                </a:lnTo>
                <a:lnTo>
                  <a:pt x="4639666" y="2034458"/>
                </a:lnTo>
                <a:lnTo>
                  <a:pt x="4627040" y="1985573"/>
                </a:lnTo>
                <a:lnTo>
                  <a:pt x="4613992" y="1936915"/>
                </a:lnTo>
                <a:lnTo>
                  <a:pt x="4600525" y="1888489"/>
                </a:lnTo>
                <a:lnTo>
                  <a:pt x="4586640" y="1840296"/>
                </a:lnTo>
                <a:lnTo>
                  <a:pt x="4572342" y="1792341"/>
                </a:lnTo>
                <a:lnTo>
                  <a:pt x="4557632" y="1744626"/>
                </a:lnTo>
                <a:lnTo>
                  <a:pt x="4542513" y="1697154"/>
                </a:lnTo>
                <a:lnTo>
                  <a:pt x="4526987" y="1649930"/>
                </a:lnTo>
                <a:lnTo>
                  <a:pt x="4511058" y="1602955"/>
                </a:lnTo>
                <a:lnTo>
                  <a:pt x="4494727" y="1556233"/>
                </a:lnTo>
                <a:lnTo>
                  <a:pt x="4477998" y="1509767"/>
                </a:lnTo>
                <a:lnTo>
                  <a:pt x="4460872" y="1463560"/>
                </a:lnTo>
                <a:lnTo>
                  <a:pt x="4443353" y="1417616"/>
                </a:lnTo>
                <a:lnTo>
                  <a:pt x="4425444" y="1371937"/>
                </a:lnTo>
                <a:lnTo>
                  <a:pt x="4407146" y="1326527"/>
                </a:lnTo>
                <a:lnTo>
                  <a:pt x="4388462" y="1281389"/>
                </a:lnTo>
                <a:lnTo>
                  <a:pt x="4369396" y="1236526"/>
                </a:lnTo>
                <a:lnTo>
                  <a:pt x="4349949" y="1191941"/>
                </a:lnTo>
                <a:lnTo>
                  <a:pt x="4330124" y="1147637"/>
                </a:lnTo>
                <a:lnTo>
                  <a:pt x="4309924" y="1103617"/>
                </a:lnTo>
                <a:lnTo>
                  <a:pt x="4289351" y="1059885"/>
                </a:lnTo>
                <a:lnTo>
                  <a:pt x="4268408" y="1016443"/>
                </a:lnTo>
                <a:lnTo>
                  <a:pt x="4247098" y="973296"/>
                </a:lnTo>
                <a:lnTo>
                  <a:pt x="4225423" y="930445"/>
                </a:lnTo>
                <a:lnTo>
                  <a:pt x="4203386" y="887894"/>
                </a:lnTo>
                <a:lnTo>
                  <a:pt x="4180989" y="845647"/>
                </a:lnTo>
                <a:lnTo>
                  <a:pt x="4158235" y="803706"/>
                </a:lnTo>
                <a:lnTo>
                  <a:pt x="4135127" y="762074"/>
                </a:lnTo>
                <a:lnTo>
                  <a:pt x="4111666" y="720756"/>
                </a:lnTo>
                <a:lnTo>
                  <a:pt x="4087857" y="679753"/>
                </a:lnTo>
                <a:lnTo>
                  <a:pt x="4063701" y="639068"/>
                </a:lnTo>
                <a:lnTo>
                  <a:pt x="4039201" y="598706"/>
                </a:lnTo>
                <a:lnTo>
                  <a:pt x="4014360" y="558669"/>
                </a:lnTo>
                <a:lnTo>
                  <a:pt x="3989179" y="518961"/>
                </a:lnTo>
                <a:lnTo>
                  <a:pt x="3963663" y="479584"/>
                </a:lnTo>
                <a:lnTo>
                  <a:pt x="3937813" y="440542"/>
                </a:lnTo>
                <a:lnTo>
                  <a:pt x="3911632" y="401837"/>
                </a:lnTo>
                <a:lnTo>
                  <a:pt x="3885122" y="363473"/>
                </a:lnTo>
                <a:lnTo>
                  <a:pt x="3858287" y="325454"/>
                </a:lnTo>
                <a:lnTo>
                  <a:pt x="3831128" y="287781"/>
                </a:lnTo>
                <a:lnTo>
                  <a:pt x="3803649" y="250459"/>
                </a:lnTo>
                <a:lnTo>
                  <a:pt x="3775852" y="213491"/>
                </a:lnTo>
                <a:lnTo>
                  <a:pt x="3747740" y="176879"/>
                </a:lnTo>
                <a:lnTo>
                  <a:pt x="3719314" y="140627"/>
                </a:lnTo>
                <a:lnTo>
                  <a:pt x="3690579" y="104738"/>
                </a:lnTo>
                <a:lnTo>
                  <a:pt x="3661536" y="69215"/>
                </a:lnTo>
                <a:lnTo>
                  <a:pt x="35985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03402"/>
            <a:ext cx="536575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76978" y="2533345"/>
            <a:ext cx="6316980" cy="1623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kaggle.com/datasets/juzershakir/tmdb-movies-dataset" TargetMode="Externa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0929" y="1656079"/>
            <a:ext cx="6475730" cy="1763395"/>
          </a:xfrm>
          <a:prstGeom prst="rect"/>
        </p:spPr>
        <p:txBody>
          <a:bodyPr wrap="square" lIns="0" tIns="116205" rIns="0" bIns="0" rtlCol="0" vert="horz">
            <a:spAutoFit/>
          </a:bodyPr>
          <a:lstStyle/>
          <a:p>
            <a:pPr marL="1946910" marR="5080" indent="-1934845">
              <a:lnSpc>
                <a:spcPts val="6480"/>
              </a:lnSpc>
              <a:spcBef>
                <a:spcPts val="915"/>
              </a:spcBef>
            </a:pPr>
            <a:r>
              <a:rPr dirty="0" sz="6000" b="0">
                <a:latin typeface="Trebuchet MS"/>
                <a:cs typeface="Trebuchet MS"/>
              </a:rPr>
              <a:t>TMDB</a:t>
            </a:r>
            <a:r>
              <a:rPr dirty="0" sz="6000" spc="-650" b="0">
                <a:latin typeface="Trebuchet MS"/>
                <a:cs typeface="Trebuchet MS"/>
              </a:rPr>
              <a:t> </a:t>
            </a:r>
            <a:r>
              <a:rPr dirty="0" sz="6000" spc="-204" b="0">
                <a:latin typeface="Trebuchet MS"/>
                <a:cs typeface="Trebuchet MS"/>
              </a:rPr>
              <a:t>Movie</a:t>
            </a:r>
            <a:r>
              <a:rPr dirty="0" sz="6000" spc="-655" b="0">
                <a:latin typeface="Trebuchet MS"/>
                <a:cs typeface="Trebuchet MS"/>
              </a:rPr>
              <a:t> </a:t>
            </a:r>
            <a:r>
              <a:rPr dirty="0" sz="6000" spc="-180" b="0">
                <a:latin typeface="Trebuchet MS"/>
                <a:cs typeface="Trebuchet MS"/>
              </a:rPr>
              <a:t>Dataset </a:t>
            </a:r>
            <a:r>
              <a:rPr dirty="0" sz="6000" spc="-10" b="0">
                <a:latin typeface="Trebuchet MS"/>
                <a:cs typeface="Trebuchet MS"/>
              </a:rPr>
              <a:t>Analysis</a:t>
            </a:r>
            <a:endParaRPr sz="60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830573" y="3487673"/>
            <a:ext cx="4530725" cy="1394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24700"/>
              </a:lnSpc>
              <a:spcBef>
                <a:spcPts val="95"/>
              </a:spcBef>
            </a:pPr>
            <a:r>
              <a:rPr dirty="0" sz="2400" spc="-20">
                <a:latin typeface="Trebuchet MS"/>
                <a:cs typeface="Trebuchet MS"/>
              </a:rPr>
              <a:t>Data</a:t>
            </a:r>
            <a:r>
              <a:rPr dirty="0" sz="2400" spc="-21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Analysis</a:t>
            </a:r>
            <a:r>
              <a:rPr dirty="0" sz="2400" spc="-175">
                <a:latin typeface="Trebuchet MS"/>
                <a:cs typeface="Trebuchet MS"/>
              </a:rPr>
              <a:t> </a:t>
            </a:r>
            <a:r>
              <a:rPr dirty="0" sz="2400" spc="-100">
                <a:latin typeface="Trebuchet MS"/>
                <a:cs typeface="Trebuchet MS"/>
              </a:rPr>
              <a:t>Project</a:t>
            </a:r>
            <a:r>
              <a:rPr dirty="0" sz="2400" spc="-185">
                <a:latin typeface="Trebuchet MS"/>
                <a:cs typeface="Trebuchet MS"/>
              </a:rPr>
              <a:t> </a:t>
            </a:r>
            <a:r>
              <a:rPr dirty="0" sz="2400" spc="-40">
                <a:latin typeface="Trebuchet MS"/>
                <a:cs typeface="Trebuchet MS"/>
              </a:rPr>
              <a:t>Presentation </a:t>
            </a:r>
            <a:r>
              <a:rPr dirty="0" sz="2400" spc="-35">
                <a:latin typeface="Trebuchet MS"/>
                <a:cs typeface="Trebuchet MS"/>
              </a:rPr>
              <a:t>Student</a:t>
            </a:r>
            <a:r>
              <a:rPr dirty="0" sz="2400" spc="-195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Name</a:t>
            </a:r>
            <a:endParaRPr sz="2400">
              <a:latin typeface="Trebuchet MS"/>
              <a:cs typeface="Trebuchet MS"/>
            </a:endParaRPr>
          </a:p>
          <a:p>
            <a:pPr algn="ctr" marL="1905">
              <a:lnSpc>
                <a:spcPct val="100000"/>
              </a:lnSpc>
              <a:spcBef>
                <a:spcPts val="720"/>
              </a:spcBef>
            </a:pPr>
            <a:r>
              <a:rPr dirty="0" sz="2400" spc="-20">
                <a:latin typeface="Trebuchet MS"/>
                <a:cs typeface="Trebuchet MS"/>
              </a:rPr>
              <a:t>Date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3943" y="2361641"/>
            <a:ext cx="3070860" cy="135763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5245"/>
              </a:lnSpc>
              <a:spcBef>
                <a:spcPts val="95"/>
              </a:spcBef>
            </a:pPr>
            <a:r>
              <a:rPr dirty="0" sz="4600" spc="-405"/>
              <a:t>1.</a:t>
            </a:r>
            <a:endParaRPr sz="4600"/>
          </a:p>
          <a:p>
            <a:pPr marL="12700">
              <a:lnSpc>
                <a:spcPts val="5245"/>
              </a:lnSpc>
            </a:pPr>
            <a:r>
              <a:rPr dirty="0" sz="4600" spc="-225"/>
              <a:t>Introduction</a:t>
            </a:r>
            <a:endParaRPr sz="4600"/>
          </a:p>
        </p:txBody>
      </p:sp>
      <p:grpSp>
        <p:nvGrpSpPr>
          <p:cNvPr id="3" name="object 3" descr=""/>
          <p:cNvGrpSpPr/>
          <p:nvPr/>
        </p:nvGrpSpPr>
        <p:grpSpPr>
          <a:xfrm>
            <a:off x="4297018" y="745553"/>
            <a:ext cx="81915" cy="5453380"/>
            <a:chOff x="4297018" y="745553"/>
            <a:chExt cx="81915" cy="5453380"/>
          </a:xfrm>
        </p:grpSpPr>
        <p:sp>
          <p:nvSpPr>
            <p:cNvPr id="4" name="object 4" descr=""/>
            <p:cNvSpPr/>
            <p:nvPr/>
          </p:nvSpPr>
          <p:spPr>
            <a:xfrm>
              <a:off x="4311084" y="766064"/>
              <a:ext cx="46355" cy="5411470"/>
            </a:xfrm>
            <a:custGeom>
              <a:avLst/>
              <a:gdLst/>
              <a:ahLst/>
              <a:cxnLst/>
              <a:rect l="l" t="t" r="r" b="b"/>
              <a:pathLst>
                <a:path w="46354" h="5411470">
                  <a:moveTo>
                    <a:pt x="22917" y="0"/>
                  </a:moveTo>
                  <a:lnTo>
                    <a:pt x="19488" y="381"/>
                  </a:lnTo>
                  <a:lnTo>
                    <a:pt x="12376" y="762"/>
                  </a:lnTo>
                  <a:lnTo>
                    <a:pt x="15562" y="70816"/>
                  </a:lnTo>
                  <a:lnTo>
                    <a:pt x="17375" y="136985"/>
                  </a:lnTo>
                  <a:lnTo>
                    <a:pt x="18035" y="199554"/>
                  </a:lnTo>
                  <a:lnTo>
                    <a:pt x="17763" y="258804"/>
                  </a:lnTo>
                  <a:lnTo>
                    <a:pt x="16781" y="315020"/>
                  </a:lnTo>
                  <a:lnTo>
                    <a:pt x="15309" y="368484"/>
                  </a:lnTo>
                  <a:lnTo>
                    <a:pt x="10158" y="515201"/>
                  </a:lnTo>
                  <a:lnTo>
                    <a:pt x="8933" y="560493"/>
                  </a:lnTo>
                  <a:lnTo>
                    <a:pt x="8321" y="604449"/>
                  </a:lnTo>
                  <a:lnTo>
                    <a:pt x="8544" y="647353"/>
                  </a:lnTo>
                  <a:lnTo>
                    <a:pt x="9822" y="689488"/>
                  </a:lnTo>
                  <a:lnTo>
                    <a:pt x="12376" y="731138"/>
                  </a:lnTo>
                  <a:lnTo>
                    <a:pt x="15564" y="777379"/>
                  </a:lnTo>
                  <a:lnTo>
                    <a:pt x="18164" y="826433"/>
                  </a:lnTo>
                  <a:lnTo>
                    <a:pt x="20190" y="877796"/>
                  </a:lnTo>
                  <a:lnTo>
                    <a:pt x="21659" y="930964"/>
                  </a:lnTo>
                  <a:lnTo>
                    <a:pt x="22587" y="985431"/>
                  </a:lnTo>
                  <a:lnTo>
                    <a:pt x="22988" y="1040694"/>
                  </a:lnTo>
                  <a:lnTo>
                    <a:pt x="22879" y="1096248"/>
                  </a:lnTo>
                  <a:lnTo>
                    <a:pt x="22275" y="1151588"/>
                  </a:lnTo>
                  <a:lnTo>
                    <a:pt x="21191" y="1206209"/>
                  </a:lnTo>
                  <a:lnTo>
                    <a:pt x="19644" y="1259606"/>
                  </a:lnTo>
                  <a:lnTo>
                    <a:pt x="17649" y="1311276"/>
                  </a:lnTo>
                  <a:lnTo>
                    <a:pt x="15221" y="1360714"/>
                  </a:lnTo>
                  <a:lnTo>
                    <a:pt x="9061" y="1459554"/>
                  </a:lnTo>
                  <a:lnTo>
                    <a:pt x="6337" y="1509715"/>
                  </a:lnTo>
                  <a:lnTo>
                    <a:pt x="4228" y="1558522"/>
                  </a:lnTo>
                  <a:lnTo>
                    <a:pt x="2758" y="1606603"/>
                  </a:lnTo>
                  <a:lnTo>
                    <a:pt x="1951" y="1654584"/>
                  </a:lnTo>
                  <a:lnTo>
                    <a:pt x="1831" y="1703092"/>
                  </a:lnTo>
                  <a:lnTo>
                    <a:pt x="2421" y="1752755"/>
                  </a:lnTo>
                  <a:lnTo>
                    <a:pt x="3747" y="1804199"/>
                  </a:lnTo>
                  <a:lnTo>
                    <a:pt x="5832" y="1858050"/>
                  </a:lnTo>
                  <a:lnTo>
                    <a:pt x="8701" y="1914936"/>
                  </a:lnTo>
                  <a:lnTo>
                    <a:pt x="12376" y="1975485"/>
                  </a:lnTo>
                  <a:lnTo>
                    <a:pt x="14448" y="2018635"/>
                  </a:lnTo>
                  <a:lnTo>
                    <a:pt x="15236" y="2062137"/>
                  </a:lnTo>
                  <a:lnTo>
                    <a:pt x="14955" y="2106083"/>
                  </a:lnTo>
                  <a:lnTo>
                    <a:pt x="13823" y="2150566"/>
                  </a:lnTo>
                  <a:lnTo>
                    <a:pt x="12054" y="2195679"/>
                  </a:lnTo>
                  <a:lnTo>
                    <a:pt x="5089" y="2335720"/>
                  </a:lnTo>
                  <a:lnTo>
                    <a:pt x="2935" y="2384277"/>
                  </a:lnTo>
                  <a:lnTo>
                    <a:pt x="1225" y="2433927"/>
                  </a:lnTo>
                  <a:lnTo>
                    <a:pt x="174" y="2484763"/>
                  </a:lnTo>
                  <a:lnTo>
                    <a:pt x="0" y="2536876"/>
                  </a:lnTo>
                  <a:lnTo>
                    <a:pt x="916" y="2590360"/>
                  </a:lnTo>
                  <a:lnTo>
                    <a:pt x="3141" y="2645308"/>
                  </a:lnTo>
                  <a:lnTo>
                    <a:pt x="6888" y="2701811"/>
                  </a:lnTo>
                  <a:lnTo>
                    <a:pt x="17709" y="2817698"/>
                  </a:lnTo>
                  <a:lnTo>
                    <a:pt x="21075" y="2873103"/>
                  </a:lnTo>
                  <a:lnTo>
                    <a:pt x="22744" y="2926428"/>
                  </a:lnTo>
                  <a:lnTo>
                    <a:pt x="22985" y="2977923"/>
                  </a:lnTo>
                  <a:lnTo>
                    <a:pt x="22066" y="3027840"/>
                  </a:lnTo>
                  <a:lnTo>
                    <a:pt x="20256" y="3076427"/>
                  </a:lnTo>
                  <a:lnTo>
                    <a:pt x="17826" y="3123937"/>
                  </a:lnTo>
                  <a:lnTo>
                    <a:pt x="9496" y="3262499"/>
                  </a:lnTo>
                  <a:lnTo>
                    <a:pt x="7270" y="3308199"/>
                  </a:lnTo>
                  <a:lnTo>
                    <a:pt x="5768" y="3354073"/>
                  </a:lnTo>
                  <a:lnTo>
                    <a:pt x="5259" y="3400372"/>
                  </a:lnTo>
                  <a:lnTo>
                    <a:pt x="6011" y="3447345"/>
                  </a:lnTo>
                  <a:lnTo>
                    <a:pt x="8294" y="3495242"/>
                  </a:lnTo>
                  <a:lnTo>
                    <a:pt x="17360" y="3602603"/>
                  </a:lnTo>
                  <a:lnTo>
                    <a:pt x="20136" y="3655605"/>
                  </a:lnTo>
                  <a:lnTo>
                    <a:pt x="21080" y="3704289"/>
                  </a:lnTo>
                  <a:lnTo>
                    <a:pt x="20567" y="3749623"/>
                  </a:lnTo>
                  <a:lnTo>
                    <a:pt x="18973" y="3792575"/>
                  </a:lnTo>
                  <a:lnTo>
                    <a:pt x="16673" y="3834114"/>
                  </a:lnTo>
                  <a:lnTo>
                    <a:pt x="11460" y="3916823"/>
                  </a:lnTo>
                  <a:lnTo>
                    <a:pt x="9298" y="3959928"/>
                  </a:lnTo>
                  <a:lnTo>
                    <a:pt x="7933" y="4005493"/>
                  </a:lnTo>
                  <a:lnTo>
                    <a:pt x="7741" y="4054483"/>
                  </a:lnTo>
                  <a:lnTo>
                    <a:pt x="9096" y="4107868"/>
                  </a:lnTo>
                  <a:lnTo>
                    <a:pt x="15947" y="4227866"/>
                  </a:lnTo>
                  <a:lnTo>
                    <a:pt x="18129" y="4288082"/>
                  </a:lnTo>
                  <a:lnTo>
                    <a:pt x="19139" y="4347125"/>
                  </a:lnTo>
                  <a:lnTo>
                    <a:pt x="19193" y="4404858"/>
                  </a:lnTo>
                  <a:lnTo>
                    <a:pt x="18508" y="4461145"/>
                  </a:lnTo>
                  <a:lnTo>
                    <a:pt x="17300" y="4515846"/>
                  </a:lnTo>
                  <a:lnTo>
                    <a:pt x="12701" y="4669065"/>
                  </a:lnTo>
                  <a:lnTo>
                    <a:pt x="11564" y="4716052"/>
                  </a:lnTo>
                  <a:lnTo>
                    <a:pt x="10987" y="4760766"/>
                  </a:lnTo>
                  <a:lnTo>
                    <a:pt x="11186" y="4803070"/>
                  </a:lnTo>
                  <a:lnTo>
                    <a:pt x="13541" y="4888049"/>
                  </a:lnTo>
                  <a:lnTo>
                    <a:pt x="13226" y="4933145"/>
                  </a:lnTo>
                  <a:lnTo>
                    <a:pt x="11847" y="4978583"/>
                  </a:lnTo>
                  <a:lnTo>
                    <a:pt x="7558" y="5072372"/>
                  </a:lnTo>
                  <a:lnTo>
                    <a:pt x="5480" y="5121662"/>
                  </a:lnTo>
                  <a:lnTo>
                    <a:pt x="4000" y="5173178"/>
                  </a:lnTo>
                  <a:lnTo>
                    <a:pt x="3534" y="5227389"/>
                  </a:lnTo>
                  <a:lnTo>
                    <a:pt x="4498" y="5284766"/>
                  </a:lnTo>
                  <a:lnTo>
                    <a:pt x="7307" y="5345778"/>
                  </a:lnTo>
                  <a:lnTo>
                    <a:pt x="12376" y="5410898"/>
                  </a:lnTo>
                  <a:lnTo>
                    <a:pt x="18091" y="5410174"/>
                  </a:lnTo>
                  <a:lnTo>
                    <a:pt x="25203" y="5410212"/>
                  </a:lnTo>
                  <a:lnTo>
                    <a:pt x="30664" y="5410898"/>
                  </a:lnTo>
                  <a:lnTo>
                    <a:pt x="29453" y="5366203"/>
                  </a:lnTo>
                  <a:lnTo>
                    <a:pt x="28703" y="5319206"/>
                  </a:lnTo>
                  <a:lnTo>
                    <a:pt x="28353" y="5270231"/>
                  </a:lnTo>
                  <a:lnTo>
                    <a:pt x="28345" y="5219601"/>
                  </a:lnTo>
                  <a:lnTo>
                    <a:pt x="29112" y="5114670"/>
                  </a:lnTo>
                  <a:lnTo>
                    <a:pt x="33402" y="4793797"/>
                  </a:lnTo>
                  <a:lnTo>
                    <a:pt x="33905" y="4693440"/>
                  </a:lnTo>
                  <a:lnTo>
                    <a:pt x="33716" y="4645954"/>
                  </a:lnTo>
                  <a:lnTo>
                    <a:pt x="33152" y="4600695"/>
                  </a:lnTo>
                  <a:lnTo>
                    <a:pt x="32154" y="4557987"/>
                  </a:lnTo>
                  <a:lnTo>
                    <a:pt x="30664" y="4518152"/>
                  </a:lnTo>
                  <a:lnTo>
                    <a:pt x="28521" y="4469686"/>
                  </a:lnTo>
                  <a:lnTo>
                    <a:pt x="26971" y="4428998"/>
                  </a:lnTo>
                  <a:lnTo>
                    <a:pt x="25951" y="4394182"/>
                  </a:lnTo>
                  <a:lnTo>
                    <a:pt x="25395" y="4363336"/>
                  </a:lnTo>
                  <a:lnTo>
                    <a:pt x="25240" y="4334555"/>
                  </a:lnTo>
                  <a:lnTo>
                    <a:pt x="25420" y="4305935"/>
                  </a:lnTo>
                  <a:lnTo>
                    <a:pt x="28208" y="4154999"/>
                  </a:lnTo>
                  <a:lnTo>
                    <a:pt x="29940" y="4031001"/>
                  </a:lnTo>
                  <a:lnTo>
                    <a:pt x="30664" y="3950208"/>
                  </a:lnTo>
                  <a:lnTo>
                    <a:pt x="30859" y="3881803"/>
                  </a:lnTo>
                  <a:lnTo>
                    <a:pt x="30518" y="3819196"/>
                  </a:lnTo>
                  <a:lnTo>
                    <a:pt x="29750" y="3761697"/>
                  </a:lnTo>
                  <a:lnTo>
                    <a:pt x="28664" y="3708618"/>
                  </a:lnTo>
                  <a:lnTo>
                    <a:pt x="22296" y="3485416"/>
                  </a:lnTo>
                  <a:lnTo>
                    <a:pt x="21600" y="3444393"/>
                  </a:lnTo>
                  <a:lnTo>
                    <a:pt x="21353" y="3402969"/>
                  </a:lnTo>
                  <a:lnTo>
                    <a:pt x="21663" y="3360455"/>
                  </a:lnTo>
                  <a:lnTo>
                    <a:pt x="22640" y="3316163"/>
                  </a:lnTo>
                  <a:lnTo>
                    <a:pt x="24392" y="3269404"/>
                  </a:lnTo>
                  <a:lnTo>
                    <a:pt x="27031" y="3219488"/>
                  </a:lnTo>
                  <a:lnTo>
                    <a:pt x="35704" y="3094170"/>
                  </a:lnTo>
                  <a:lnTo>
                    <a:pt x="39730" y="3028246"/>
                  </a:lnTo>
                  <a:lnTo>
                    <a:pt x="42773" y="2967341"/>
                  </a:lnTo>
                  <a:lnTo>
                    <a:pt x="44860" y="2910839"/>
                  </a:lnTo>
                  <a:lnTo>
                    <a:pt x="46021" y="2858127"/>
                  </a:lnTo>
                  <a:lnTo>
                    <a:pt x="46285" y="2808589"/>
                  </a:lnTo>
                  <a:lnTo>
                    <a:pt x="45681" y="2761609"/>
                  </a:lnTo>
                  <a:lnTo>
                    <a:pt x="44239" y="2716572"/>
                  </a:lnTo>
                  <a:lnTo>
                    <a:pt x="41987" y="2672863"/>
                  </a:lnTo>
                  <a:lnTo>
                    <a:pt x="38954" y="2629868"/>
                  </a:lnTo>
                  <a:lnTo>
                    <a:pt x="35170" y="2586970"/>
                  </a:lnTo>
                  <a:lnTo>
                    <a:pt x="30664" y="2543556"/>
                  </a:lnTo>
                  <a:lnTo>
                    <a:pt x="26742" y="2501266"/>
                  </a:lnTo>
                  <a:lnTo>
                    <a:pt x="24552" y="2461388"/>
                  </a:lnTo>
                  <a:lnTo>
                    <a:pt x="23788" y="2422677"/>
                  </a:lnTo>
                  <a:lnTo>
                    <a:pt x="24145" y="2383888"/>
                  </a:lnTo>
                  <a:lnTo>
                    <a:pt x="25316" y="2343776"/>
                  </a:lnTo>
                  <a:lnTo>
                    <a:pt x="28881" y="2254604"/>
                  </a:lnTo>
                  <a:lnTo>
                    <a:pt x="30664" y="2203054"/>
                  </a:lnTo>
                  <a:lnTo>
                    <a:pt x="32039" y="2145202"/>
                  </a:lnTo>
                  <a:lnTo>
                    <a:pt x="32701" y="2079803"/>
                  </a:lnTo>
                  <a:lnTo>
                    <a:pt x="32345" y="2005611"/>
                  </a:lnTo>
                  <a:lnTo>
                    <a:pt x="29027" y="1850183"/>
                  </a:lnTo>
                  <a:lnTo>
                    <a:pt x="28017" y="1780308"/>
                  </a:lnTo>
                  <a:lnTo>
                    <a:pt x="27543" y="1712073"/>
                  </a:lnTo>
                  <a:lnTo>
                    <a:pt x="27515" y="1645798"/>
                  </a:lnTo>
                  <a:lnTo>
                    <a:pt x="27842" y="1581799"/>
                  </a:lnTo>
                  <a:lnTo>
                    <a:pt x="28433" y="1520394"/>
                  </a:lnTo>
                  <a:lnTo>
                    <a:pt x="31624" y="1307069"/>
                  </a:lnTo>
                  <a:lnTo>
                    <a:pt x="32444" y="1224232"/>
                  </a:lnTo>
                  <a:lnTo>
                    <a:pt x="32343" y="1189881"/>
                  </a:lnTo>
                  <a:lnTo>
                    <a:pt x="31780" y="1160666"/>
                  </a:lnTo>
                  <a:lnTo>
                    <a:pt x="30664" y="1136903"/>
                  </a:lnTo>
                  <a:lnTo>
                    <a:pt x="29505" y="1103684"/>
                  </a:lnTo>
                  <a:lnTo>
                    <a:pt x="30018" y="1066796"/>
                  </a:lnTo>
                  <a:lnTo>
                    <a:pt x="31672" y="1026102"/>
                  </a:lnTo>
                  <a:lnTo>
                    <a:pt x="36284" y="932735"/>
                  </a:lnTo>
                  <a:lnTo>
                    <a:pt x="38180" y="879783"/>
                  </a:lnTo>
                  <a:lnTo>
                    <a:pt x="39097" y="822467"/>
                  </a:lnTo>
                  <a:lnTo>
                    <a:pt x="38504" y="760646"/>
                  </a:lnTo>
                  <a:lnTo>
                    <a:pt x="35869" y="694182"/>
                  </a:lnTo>
                  <a:lnTo>
                    <a:pt x="30664" y="622935"/>
                  </a:lnTo>
                  <a:lnTo>
                    <a:pt x="26061" y="564512"/>
                  </a:lnTo>
                  <a:lnTo>
                    <a:pt x="23238" y="511310"/>
                  </a:lnTo>
                  <a:lnTo>
                    <a:pt x="21913" y="462123"/>
                  </a:lnTo>
                  <a:lnTo>
                    <a:pt x="21802" y="415741"/>
                  </a:lnTo>
                  <a:lnTo>
                    <a:pt x="22623" y="370957"/>
                  </a:lnTo>
                  <a:lnTo>
                    <a:pt x="24092" y="326564"/>
                  </a:lnTo>
                  <a:lnTo>
                    <a:pt x="27842" y="234117"/>
                  </a:lnTo>
                  <a:lnTo>
                    <a:pt x="29557" y="183647"/>
                  </a:lnTo>
                  <a:lnTo>
                    <a:pt x="30788" y="128737"/>
                  </a:lnTo>
                  <a:lnTo>
                    <a:pt x="31251" y="68178"/>
                  </a:lnTo>
                  <a:lnTo>
                    <a:pt x="30664" y="762"/>
                  </a:lnTo>
                  <a:lnTo>
                    <a:pt x="22917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317655" y="766191"/>
              <a:ext cx="40640" cy="5412105"/>
            </a:xfrm>
            <a:custGeom>
              <a:avLst/>
              <a:gdLst/>
              <a:ahLst/>
              <a:cxnLst/>
              <a:rect l="l" t="t" r="r" b="b"/>
              <a:pathLst>
                <a:path w="40639" h="5412105">
                  <a:moveTo>
                    <a:pt x="24093" y="635"/>
                  </a:moveTo>
                  <a:lnTo>
                    <a:pt x="28667" y="44984"/>
                  </a:lnTo>
                  <a:lnTo>
                    <a:pt x="32228" y="89452"/>
                  </a:lnTo>
                  <a:lnTo>
                    <a:pt x="34810" y="134486"/>
                  </a:lnTo>
                  <a:lnTo>
                    <a:pt x="36444" y="180532"/>
                  </a:lnTo>
                  <a:lnTo>
                    <a:pt x="37163" y="228037"/>
                  </a:lnTo>
                  <a:lnTo>
                    <a:pt x="37000" y="277447"/>
                  </a:lnTo>
                  <a:lnTo>
                    <a:pt x="35987" y="329208"/>
                  </a:lnTo>
                  <a:lnTo>
                    <a:pt x="34157" y="383769"/>
                  </a:lnTo>
                  <a:lnTo>
                    <a:pt x="31543" y="441574"/>
                  </a:lnTo>
                  <a:lnTo>
                    <a:pt x="28177" y="503071"/>
                  </a:lnTo>
                  <a:lnTo>
                    <a:pt x="24093" y="568706"/>
                  </a:lnTo>
                  <a:lnTo>
                    <a:pt x="21169" y="621244"/>
                  </a:lnTo>
                  <a:lnTo>
                    <a:pt x="19314" y="672492"/>
                  </a:lnTo>
                  <a:lnTo>
                    <a:pt x="18374" y="722759"/>
                  </a:lnTo>
                  <a:lnTo>
                    <a:pt x="18194" y="772353"/>
                  </a:lnTo>
                  <a:lnTo>
                    <a:pt x="18619" y="821582"/>
                  </a:lnTo>
                  <a:lnTo>
                    <a:pt x="19494" y="870754"/>
                  </a:lnTo>
                  <a:lnTo>
                    <a:pt x="20664" y="920178"/>
                  </a:lnTo>
                  <a:lnTo>
                    <a:pt x="21973" y="970162"/>
                  </a:lnTo>
                  <a:lnTo>
                    <a:pt x="23268" y="1021014"/>
                  </a:lnTo>
                  <a:lnTo>
                    <a:pt x="24393" y="1073042"/>
                  </a:lnTo>
                  <a:lnTo>
                    <a:pt x="25192" y="1126554"/>
                  </a:lnTo>
                  <a:lnTo>
                    <a:pt x="25512" y="1181860"/>
                  </a:lnTo>
                  <a:lnTo>
                    <a:pt x="25197" y="1239267"/>
                  </a:lnTo>
                  <a:lnTo>
                    <a:pt x="24093" y="1299083"/>
                  </a:lnTo>
                  <a:lnTo>
                    <a:pt x="22608" y="1365701"/>
                  </a:lnTo>
                  <a:lnTo>
                    <a:pt x="21764" y="1424103"/>
                  </a:lnTo>
                  <a:lnTo>
                    <a:pt x="21449" y="1475950"/>
                  </a:lnTo>
                  <a:lnTo>
                    <a:pt x="21553" y="1522899"/>
                  </a:lnTo>
                  <a:lnTo>
                    <a:pt x="21963" y="1566609"/>
                  </a:lnTo>
                  <a:lnTo>
                    <a:pt x="22569" y="1608740"/>
                  </a:lnTo>
                  <a:lnTo>
                    <a:pt x="23259" y="1650951"/>
                  </a:lnTo>
                  <a:lnTo>
                    <a:pt x="23923" y="1694899"/>
                  </a:lnTo>
                  <a:lnTo>
                    <a:pt x="24450" y="1742245"/>
                  </a:lnTo>
                  <a:lnTo>
                    <a:pt x="24728" y="1794647"/>
                  </a:lnTo>
                  <a:lnTo>
                    <a:pt x="24646" y="1853764"/>
                  </a:lnTo>
                  <a:lnTo>
                    <a:pt x="24093" y="1921256"/>
                  </a:lnTo>
                  <a:lnTo>
                    <a:pt x="23752" y="1996777"/>
                  </a:lnTo>
                  <a:lnTo>
                    <a:pt x="24397" y="2066127"/>
                  </a:lnTo>
                  <a:lnTo>
                    <a:pt x="25721" y="2129770"/>
                  </a:lnTo>
                  <a:lnTo>
                    <a:pt x="27419" y="2188172"/>
                  </a:lnTo>
                  <a:lnTo>
                    <a:pt x="29185" y="2241798"/>
                  </a:lnTo>
                  <a:lnTo>
                    <a:pt x="30714" y="2291113"/>
                  </a:lnTo>
                  <a:lnTo>
                    <a:pt x="31699" y="2336584"/>
                  </a:lnTo>
                  <a:lnTo>
                    <a:pt x="31835" y="2378675"/>
                  </a:lnTo>
                  <a:lnTo>
                    <a:pt x="30817" y="2417853"/>
                  </a:lnTo>
                  <a:lnTo>
                    <a:pt x="28338" y="2454581"/>
                  </a:lnTo>
                  <a:lnTo>
                    <a:pt x="24093" y="2489327"/>
                  </a:lnTo>
                  <a:lnTo>
                    <a:pt x="21181" y="2517834"/>
                  </a:lnTo>
                  <a:lnTo>
                    <a:pt x="19928" y="2553083"/>
                  </a:lnTo>
                  <a:lnTo>
                    <a:pt x="20045" y="2594181"/>
                  </a:lnTo>
                  <a:lnTo>
                    <a:pt x="21247" y="2640239"/>
                  </a:lnTo>
                  <a:lnTo>
                    <a:pt x="23246" y="2690368"/>
                  </a:lnTo>
                  <a:lnTo>
                    <a:pt x="25757" y="2743676"/>
                  </a:lnTo>
                  <a:lnTo>
                    <a:pt x="28493" y="2799275"/>
                  </a:lnTo>
                  <a:lnTo>
                    <a:pt x="31167" y="2856273"/>
                  </a:lnTo>
                  <a:lnTo>
                    <a:pt x="33493" y="2913782"/>
                  </a:lnTo>
                  <a:lnTo>
                    <a:pt x="35184" y="2970911"/>
                  </a:lnTo>
                  <a:lnTo>
                    <a:pt x="35954" y="3026769"/>
                  </a:lnTo>
                  <a:lnTo>
                    <a:pt x="35517" y="3080468"/>
                  </a:lnTo>
                  <a:lnTo>
                    <a:pt x="33585" y="3131116"/>
                  </a:lnTo>
                  <a:lnTo>
                    <a:pt x="29872" y="3177825"/>
                  </a:lnTo>
                  <a:lnTo>
                    <a:pt x="24093" y="3219704"/>
                  </a:lnTo>
                  <a:lnTo>
                    <a:pt x="16880" y="3265665"/>
                  </a:lnTo>
                  <a:lnTo>
                    <a:pt x="11186" y="3313131"/>
                  </a:lnTo>
                  <a:lnTo>
                    <a:pt x="6924" y="3361968"/>
                  </a:lnTo>
                  <a:lnTo>
                    <a:pt x="4009" y="3412039"/>
                  </a:lnTo>
                  <a:lnTo>
                    <a:pt x="2353" y="3463209"/>
                  </a:lnTo>
                  <a:lnTo>
                    <a:pt x="1871" y="3515343"/>
                  </a:lnTo>
                  <a:lnTo>
                    <a:pt x="2475" y="3568303"/>
                  </a:lnTo>
                  <a:lnTo>
                    <a:pt x="4080" y="3621956"/>
                  </a:lnTo>
                  <a:lnTo>
                    <a:pt x="6600" y="3676165"/>
                  </a:lnTo>
                  <a:lnTo>
                    <a:pt x="9947" y="3730794"/>
                  </a:lnTo>
                  <a:lnTo>
                    <a:pt x="14036" y="3785709"/>
                  </a:lnTo>
                  <a:lnTo>
                    <a:pt x="18780" y="3840773"/>
                  </a:lnTo>
                  <a:lnTo>
                    <a:pt x="24093" y="3895852"/>
                  </a:lnTo>
                  <a:lnTo>
                    <a:pt x="29133" y="3951254"/>
                  </a:lnTo>
                  <a:lnTo>
                    <a:pt x="33200" y="4007136"/>
                  </a:lnTo>
                  <a:lnTo>
                    <a:pt x="36329" y="4063211"/>
                  </a:lnTo>
                  <a:lnTo>
                    <a:pt x="38558" y="4119198"/>
                  </a:lnTo>
                  <a:lnTo>
                    <a:pt x="39922" y="4174812"/>
                  </a:lnTo>
                  <a:lnTo>
                    <a:pt x="40459" y="4229769"/>
                  </a:lnTo>
                  <a:lnTo>
                    <a:pt x="40204" y="4283786"/>
                  </a:lnTo>
                  <a:lnTo>
                    <a:pt x="39194" y="4336579"/>
                  </a:lnTo>
                  <a:lnTo>
                    <a:pt x="37465" y="4387864"/>
                  </a:lnTo>
                  <a:lnTo>
                    <a:pt x="35054" y="4437358"/>
                  </a:lnTo>
                  <a:lnTo>
                    <a:pt x="31998" y="4484776"/>
                  </a:lnTo>
                  <a:lnTo>
                    <a:pt x="28332" y="4529836"/>
                  </a:lnTo>
                  <a:lnTo>
                    <a:pt x="24093" y="4572254"/>
                  </a:lnTo>
                  <a:lnTo>
                    <a:pt x="21076" y="4606121"/>
                  </a:lnTo>
                  <a:lnTo>
                    <a:pt x="18912" y="4644690"/>
                  </a:lnTo>
                  <a:lnTo>
                    <a:pt x="17504" y="4687406"/>
                  </a:lnTo>
                  <a:lnTo>
                    <a:pt x="16757" y="4733717"/>
                  </a:lnTo>
                  <a:lnTo>
                    <a:pt x="16578" y="4783068"/>
                  </a:lnTo>
                  <a:lnTo>
                    <a:pt x="16871" y="4834905"/>
                  </a:lnTo>
                  <a:lnTo>
                    <a:pt x="17541" y="4888674"/>
                  </a:lnTo>
                  <a:lnTo>
                    <a:pt x="18492" y="4943821"/>
                  </a:lnTo>
                  <a:lnTo>
                    <a:pt x="19631" y="4999793"/>
                  </a:lnTo>
                  <a:lnTo>
                    <a:pt x="20863" y="5056035"/>
                  </a:lnTo>
                  <a:lnTo>
                    <a:pt x="22091" y="5111993"/>
                  </a:lnTo>
                  <a:lnTo>
                    <a:pt x="23223" y="5167114"/>
                  </a:lnTo>
                  <a:lnTo>
                    <a:pt x="24161" y="5220844"/>
                  </a:lnTo>
                  <a:lnTo>
                    <a:pt x="24812" y="5272628"/>
                  </a:lnTo>
                  <a:lnTo>
                    <a:pt x="25081" y="5321914"/>
                  </a:lnTo>
                  <a:lnTo>
                    <a:pt x="24873" y="5368146"/>
                  </a:lnTo>
                  <a:lnTo>
                    <a:pt x="24093" y="5410771"/>
                  </a:lnTo>
                  <a:lnTo>
                    <a:pt x="17108" y="5411304"/>
                  </a:lnTo>
                  <a:lnTo>
                    <a:pt x="11139" y="5411508"/>
                  </a:lnTo>
                  <a:lnTo>
                    <a:pt x="5805" y="5410771"/>
                  </a:lnTo>
                  <a:lnTo>
                    <a:pt x="8092" y="5342725"/>
                  </a:lnTo>
                  <a:lnTo>
                    <a:pt x="8937" y="5284933"/>
                  </a:lnTo>
                  <a:lnTo>
                    <a:pt x="8669" y="5235071"/>
                  </a:lnTo>
                  <a:lnTo>
                    <a:pt x="7616" y="5190815"/>
                  </a:lnTo>
                  <a:lnTo>
                    <a:pt x="6105" y="5149839"/>
                  </a:lnTo>
                  <a:lnTo>
                    <a:pt x="4465" y="5109819"/>
                  </a:lnTo>
                  <a:lnTo>
                    <a:pt x="3023" y="5068431"/>
                  </a:lnTo>
                  <a:lnTo>
                    <a:pt x="2109" y="5023350"/>
                  </a:lnTo>
                  <a:lnTo>
                    <a:pt x="2048" y="4972251"/>
                  </a:lnTo>
                  <a:lnTo>
                    <a:pt x="3171" y="4912809"/>
                  </a:lnTo>
                  <a:lnTo>
                    <a:pt x="5805" y="4842700"/>
                  </a:lnTo>
                  <a:lnTo>
                    <a:pt x="9127" y="4763641"/>
                  </a:lnTo>
                  <a:lnTo>
                    <a:pt x="11523" y="4693461"/>
                  </a:lnTo>
                  <a:lnTo>
                    <a:pt x="13062" y="4631136"/>
                  </a:lnTo>
                  <a:lnTo>
                    <a:pt x="13815" y="4575641"/>
                  </a:lnTo>
                  <a:lnTo>
                    <a:pt x="13853" y="4525954"/>
                  </a:lnTo>
                  <a:lnTo>
                    <a:pt x="13248" y="4481050"/>
                  </a:lnTo>
                  <a:lnTo>
                    <a:pt x="12069" y="4439906"/>
                  </a:lnTo>
                  <a:lnTo>
                    <a:pt x="10389" y="4401498"/>
                  </a:lnTo>
                  <a:lnTo>
                    <a:pt x="8277" y="4364802"/>
                  </a:lnTo>
                  <a:lnTo>
                    <a:pt x="5805" y="4328795"/>
                  </a:lnTo>
                  <a:lnTo>
                    <a:pt x="4101" y="4298267"/>
                  </a:lnTo>
                  <a:lnTo>
                    <a:pt x="2779" y="4259065"/>
                  </a:lnTo>
                  <a:lnTo>
                    <a:pt x="1809" y="4212524"/>
                  </a:lnTo>
                  <a:lnTo>
                    <a:pt x="1162" y="4159982"/>
                  </a:lnTo>
                  <a:lnTo>
                    <a:pt x="806" y="4102773"/>
                  </a:lnTo>
                  <a:lnTo>
                    <a:pt x="713" y="4042235"/>
                  </a:lnTo>
                  <a:lnTo>
                    <a:pt x="852" y="3979703"/>
                  </a:lnTo>
                  <a:lnTo>
                    <a:pt x="1193" y="3916515"/>
                  </a:lnTo>
                  <a:lnTo>
                    <a:pt x="1706" y="3854005"/>
                  </a:lnTo>
                  <a:lnTo>
                    <a:pt x="2361" y="3793512"/>
                  </a:lnTo>
                  <a:lnTo>
                    <a:pt x="3129" y="3736370"/>
                  </a:lnTo>
                  <a:lnTo>
                    <a:pt x="3979" y="3683916"/>
                  </a:lnTo>
                  <a:lnTo>
                    <a:pt x="4880" y="3637486"/>
                  </a:lnTo>
                  <a:lnTo>
                    <a:pt x="5805" y="3598418"/>
                  </a:lnTo>
                  <a:lnTo>
                    <a:pt x="6412" y="3554489"/>
                  </a:lnTo>
                  <a:lnTo>
                    <a:pt x="6119" y="3511228"/>
                  </a:lnTo>
                  <a:lnTo>
                    <a:pt x="5186" y="3467898"/>
                  </a:lnTo>
                  <a:lnTo>
                    <a:pt x="3873" y="3423762"/>
                  </a:lnTo>
                  <a:lnTo>
                    <a:pt x="2438" y="3378083"/>
                  </a:lnTo>
                  <a:lnTo>
                    <a:pt x="1142" y="3330124"/>
                  </a:lnTo>
                  <a:lnTo>
                    <a:pt x="242" y="3279149"/>
                  </a:lnTo>
                  <a:lnTo>
                    <a:pt x="0" y="3224420"/>
                  </a:lnTo>
                  <a:lnTo>
                    <a:pt x="673" y="3165202"/>
                  </a:lnTo>
                  <a:lnTo>
                    <a:pt x="2521" y="3100756"/>
                  </a:lnTo>
                  <a:lnTo>
                    <a:pt x="5805" y="3030347"/>
                  </a:lnTo>
                  <a:lnTo>
                    <a:pt x="8420" y="2974632"/>
                  </a:lnTo>
                  <a:lnTo>
                    <a:pt x="10003" y="2922715"/>
                  </a:lnTo>
                  <a:lnTo>
                    <a:pt x="10712" y="2873782"/>
                  </a:lnTo>
                  <a:lnTo>
                    <a:pt x="10703" y="2827021"/>
                  </a:lnTo>
                  <a:lnTo>
                    <a:pt x="10135" y="2781619"/>
                  </a:lnTo>
                  <a:lnTo>
                    <a:pt x="9164" y="2736762"/>
                  </a:lnTo>
                  <a:lnTo>
                    <a:pt x="7948" y="2691638"/>
                  </a:lnTo>
                  <a:lnTo>
                    <a:pt x="6644" y="2645432"/>
                  </a:lnTo>
                  <a:lnTo>
                    <a:pt x="5411" y="2597333"/>
                  </a:lnTo>
                  <a:lnTo>
                    <a:pt x="4405" y="2546526"/>
                  </a:lnTo>
                  <a:lnTo>
                    <a:pt x="3784" y="2492200"/>
                  </a:lnTo>
                  <a:lnTo>
                    <a:pt x="3705" y="2433541"/>
                  </a:lnTo>
                  <a:lnTo>
                    <a:pt x="4326" y="2369735"/>
                  </a:lnTo>
                  <a:lnTo>
                    <a:pt x="5805" y="2299970"/>
                  </a:lnTo>
                  <a:lnTo>
                    <a:pt x="7241" y="2234150"/>
                  </a:lnTo>
                  <a:lnTo>
                    <a:pt x="8015" y="2172669"/>
                  </a:lnTo>
                  <a:lnTo>
                    <a:pt x="8231" y="2114971"/>
                  </a:lnTo>
                  <a:lnTo>
                    <a:pt x="7995" y="2060501"/>
                  </a:lnTo>
                  <a:lnTo>
                    <a:pt x="7413" y="2008702"/>
                  </a:lnTo>
                  <a:lnTo>
                    <a:pt x="6591" y="1959020"/>
                  </a:lnTo>
                  <a:lnTo>
                    <a:pt x="5634" y="1910900"/>
                  </a:lnTo>
                  <a:lnTo>
                    <a:pt x="4648" y="1863785"/>
                  </a:lnTo>
                  <a:lnTo>
                    <a:pt x="3738" y="1817121"/>
                  </a:lnTo>
                  <a:lnTo>
                    <a:pt x="3011" y="1770351"/>
                  </a:lnTo>
                  <a:lnTo>
                    <a:pt x="2571" y="1722922"/>
                  </a:lnTo>
                  <a:lnTo>
                    <a:pt x="2525" y="1674276"/>
                  </a:lnTo>
                  <a:lnTo>
                    <a:pt x="2978" y="1623859"/>
                  </a:lnTo>
                  <a:lnTo>
                    <a:pt x="4036" y="1571116"/>
                  </a:lnTo>
                  <a:lnTo>
                    <a:pt x="5805" y="1515491"/>
                  </a:lnTo>
                  <a:lnTo>
                    <a:pt x="8494" y="1446350"/>
                  </a:lnTo>
                  <a:lnTo>
                    <a:pt x="11140" y="1381827"/>
                  </a:lnTo>
                  <a:lnTo>
                    <a:pt x="13609" y="1321478"/>
                  </a:lnTo>
                  <a:lnTo>
                    <a:pt x="15767" y="1264863"/>
                  </a:lnTo>
                  <a:lnTo>
                    <a:pt x="17481" y="1211539"/>
                  </a:lnTo>
                  <a:lnTo>
                    <a:pt x="18616" y="1161065"/>
                  </a:lnTo>
                  <a:lnTo>
                    <a:pt x="19039" y="1112999"/>
                  </a:lnTo>
                  <a:lnTo>
                    <a:pt x="18618" y="1066898"/>
                  </a:lnTo>
                  <a:lnTo>
                    <a:pt x="17217" y="1022322"/>
                  </a:lnTo>
                  <a:lnTo>
                    <a:pt x="14703" y="978827"/>
                  </a:lnTo>
                  <a:lnTo>
                    <a:pt x="10944" y="935973"/>
                  </a:lnTo>
                  <a:lnTo>
                    <a:pt x="5805" y="893318"/>
                  </a:lnTo>
                  <a:lnTo>
                    <a:pt x="2635" y="861580"/>
                  </a:lnTo>
                  <a:lnTo>
                    <a:pt x="871" y="823837"/>
                  </a:lnTo>
                  <a:lnTo>
                    <a:pt x="319" y="780820"/>
                  </a:lnTo>
                  <a:lnTo>
                    <a:pt x="785" y="733262"/>
                  </a:lnTo>
                  <a:lnTo>
                    <a:pt x="2076" y="681895"/>
                  </a:lnTo>
                  <a:lnTo>
                    <a:pt x="3998" y="627450"/>
                  </a:lnTo>
                  <a:lnTo>
                    <a:pt x="6358" y="570661"/>
                  </a:lnTo>
                  <a:lnTo>
                    <a:pt x="8961" y="512259"/>
                  </a:lnTo>
                  <a:lnTo>
                    <a:pt x="11615" y="452977"/>
                  </a:lnTo>
                  <a:lnTo>
                    <a:pt x="14125" y="393546"/>
                  </a:lnTo>
                  <a:lnTo>
                    <a:pt x="16298" y="334700"/>
                  </a:lnTo>
                  <a:lnTo>
                    <a:pt x="17940" y="277170"/>
                  </a:lnTo>
                  <a:lnTo>
                    <a:pt x="18858" y="221688"/>
                  </a:lnTo>
                  <a:lnTo>
                    <a:pt x="18858" y="168987"/>
                  </a:lnTo>
                  <a:lnTo>
                    <a:pt x="17746" y="119799"/>
                  </a:lnTo>
                  <a:lnTo>
                    <a:pt x="15329" y="74856"/>
                  </a:lnTo>
                  <a:lnTo>
                    <a:pt x="11413" y="34891"/>
                  </a:lnTo>
                  <a:lnTo>
                    <a:pt x="5805" y="635"/>
                  </a:lnTo>
                  <a:lnTo>
                    <a:pt x="14822" y="0"/>
                  </a:lnTo>
                  <a:lnTo>
                    <a:pt x="18886" y="762"/>
                  </a:lnTo>
                  <a:lnTo>
                    <a:pt x="24093" y="635"/>
                  </a:lnTo>
                  <a:close/>
                </a:path>
              </a:pathLst>
            </a:custGeom>
            <a:ln w="41275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4648072" y="643508"/>
            <a:ext cx="6900545" cy="0"/>
          </a:xfrm>
          <a:custGeom>
            <a:avLst/>
            <a:gdLst/>
            <a:ahLst/>
            <a:cxnLst/>
            <a:rect l="l" t="t" r="r" b="b"/>
            <a:pathLst>
              <a:path w="6900545" h="0">
                <a:moveTo>
                  <a:pt x="0" y="0"/>
                </a:moveTo>
                <a:lnTo>
                  <a:pt x="6900418" y="0"/>
                </a:lnTo>
              </a:path>
            </a:pathLst>
          </a:custGeom>
          <a:ln w="19050">
            <a:solidFill>
              <a:srgbClr val="E970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776978" y="689863"/>
            <a:ext cx="6379845" cy="1105535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 marR="5080">
              <a:lnSpc>
                <a:spcPts val="4070"/>
              </a:lnSpc>
              <a:spcBef>
                <a:spcPts val="540"/>
              </a:spcBef>
            </a:pPr>
            <a:r>
              <a:rPr dirty="0" sz="3700">
                <a:latin typeface="Trebuchet MS"/>
                <a:cs typeface="Trebuchet MS"/>
              </a:rPr>
              <a:t>Analysis</a:t>
            </a:r>
            <a:r>
              <a:rPr dirty="0" sz="3700" spc="-330">
                <a:latin typeface="Trebuchet MS"/>
                <a:cs typeface="Trebuchet MS"/>
              </a:rPr>
              <a:t> </a:t>
            </a:r>
            <a:r>
              <a:rPr dirty="0" sz="3700" spc="-110">
                <a:latin typeface="Trebuchet MS"/>
                <a:cs typeface="Trebuchet MS"/>
              </a:rPr>
              <a:t>of</a:t>
            </a:r>
            <a:r>
              <a:rPr dirty="0" sz="3700" spc="-335">
                <a:latin typeface="Trebuchet MS"/>
                <a:cs typeface="Trebuchet MS"/>
              </a:rPr>
              <a:t> </a:t>
            </a:r>
            <a:r>
              <a:rPr dirty="0" sz="3700" spc="-165">
                <a:latin typeface="Trebuchet MS"/>
                <a:cs typeface="Trebuchet MS"/>
              </a:rPr>
              <a:t>The</a:t>
            </a:r>
            <a:r>
              <a:rPr dirty="0" sz="3700" spc="-330">
                <a:latin typeface="Trebuchet MS"/>
                <a:cs typeface="Trebuchet MS"/>
              </a:rPr>
              <a:t> </a:t>
            </a:r>
            <a:r>
              <a:rPr dirty="0" sz="3700" spc="-30">
                <a:latin typeface="Trebuchet MS"/>
                <a:cs typeface="Trebuchet MS"/>
              </a:rPr>
              <a:t>Movie</a:t>
            </a:r>
            <a:r>
              <a:rPr dirty="0" sz="3700" spc="-320">
                <a:latin typeface="Trebuchet MS"/>
                <a:cs typeface="Trebuchet MS"/>
              </a:rPr>
              <a:t> </a:t>
            </a:r>
            <a:r>
              <a:rPr dirty="0" sz="3700" spc="-10">
                <a:latin typeface="Trebuchet MS"/>
                <a:cs typeface="Trebuchet MS"/>
              </a:rPr>
              <a:t>Database </a:t>
            </a:r>
            <a:r>
              <a:rPr dirty="0" sz="3700" spc="-65">
                <a:latin typeface="Trebuchet MS"/>
                <a:cs typeface="Trebuchet MS"/>
              </a:rPr>
              <a:t>(TMDB)</a:t>
            </a:r>
            <a:r>
              <a:rPr dirty="0" sz="3700" spc="-300">
                <a:latin typeface="Trebuchet MS"/>
                <a:cs typeface="Trebuchet MS"/>
              </a:rPr>
              <a:t> </a:t>
            </a:r>
            <a:r>
              <a:rPr dirty="0" sz="3700" spc="-10">
                <a:latin typeface="Trebuchet MS"/>
                <a:cs typeface="Trebuchet MS"/>
              </a:rPr>
              <a:t>dataset</a:t>
            </a:r>
            <a:endParaRPr sz="37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4648072" y="2487041"/>
            <a:ext cx="6900545" cy="0"/>
          </a:xfrm>
          <a:custGeom>
            <a:avLst/>
            <a:gdLst/>
            <a:ahLst/>
            <a:cxnLst/>
            <a:rect l="l" t="t" r="r" b="b"/>
            <a:pathLst>
              <a:path w="6900545" h="0">
                <a:moveTo>
                  <a:pt x="0" y="0"/>
                </a:moveTo>
                <a:lnTo>
                  <a:pt x="6900418" y="0"/>
                </a:lnTo>
              </a:path>
            </a:pathLst>
          </a:custGeom>
          <a:ln w="19050">
            <a:solidFill>
              <a:srgbClr val="186B2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9690" rIns="0" bIns="0" rtlCol="0" vert="horz">
            <a:spAutoFit/>
          </a:bodyPr>
          <a:lstStyle/>
          <a:p>
            <a:pPr marL="12700" marR="5080">
              <a:lnSpc>
                <a:spcPct val="91600"/>
              </a:lnSpc>
              <a:spcBef>
                <a:spcPts val="470"/>
              </a:spcBef>
            </a:pPr>
            <a:r>
              <a:rPr dirty="0" spc="-10"/>
              <a:t>Comprehensive</a:t>
            </a:r>
            <a:r>
              <a:rPr dirty="0" spc="-360"/>
              <a:t> </a:t>
            </a:r>
            <a:r>
              <a:rPr dirty="0" spc="-85"/>
              <a:t>examination</a:t>
            </a:r>
            <a:r>
              <a:rPr dirty="0" spc="-355"/>
              <a:t> </a:t>
            </a:r>
            <a:r>
              <a:rPr dirty="0" spc="-25"/>
              <a:t>of </a:t>
            </a:r>
            <a:r>
              <a:rPr dirty="0" spc="-70"/>
              <a:t>movie</a:t>
            </a:r>
            <a:r>
              <a:rPr dirty="0" spc="-330"/>
              <a:t> </a:t>
            </a:r>
            <a:r>
              <a:rPr dirty="0" spc="-65"/>
              <a:t>industry</a:t>
            </a:r>
            <a:r>
              <a:rPr dirty="0" spc="-325"/>
              <a:t> </a:t>
            </a:r>
            <a:r>
              <a:rPr dirty="0" spc="-60"/>
              <a:t>trends</a:t>
            </a:r>
            <a:r>
              <a:rPr dirty="0" spc="-325"/>
              <a:t> </a:t>
            </a:r>
            <a:r>
              <a:rPr dirty="0" spc="-25"/>
              <a:t>and </a:t>
            </a:r>
            <a:r>
              <a:rPr dirty="0" spc="-10"/>
              <a:t>patterns</a:t>
            </a:r>
          </a:p>
        </p:txBody>
      </p:sp>
      <p:sp>
        <p:nvSpPr>
          <p:cNvPr id="10" name="object 10" descr=""/>
          <p:cNvSpPr/>
          <p:nvPr/>
        </p:nvSpPr>
        <p:spPr>
          <a:xfrm>
            <a:off x="4648072" y="4330700"/>
            <a:ext cx="6900545" cy="0"/>
          </a:xfrm>
          <a:custGeom>
            <a:avLst/>
            <a:gdLst/>
            <a:ahLst/>
            <a:cxnLst/>
            <a:rect l="l" t="t" r="r" b="b"/>
            <a:pathLst>
              <a:path w="6900545" h="0">
                <a:moveTo>
                  <a:pt x="0" y="0"/>
                </a:moveTo>
                <a:lnTo>
                  <a:pt x="6900418" y="0"/>
                </a:lnTo>
              </a:path>
            </a:pathLst>
          </a:custGeom>
          <a:ln w="19050">
            <a:solidFill>
              <a:srgbClr val="0E9E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4776978" y="4377690"/>
            <a:ext cx="6559550" cy="1622425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12700" marR="5080">
              <a:lnSpc>
                <a:spcPct val="91600"/>
              </a:lnSpc>
              <a:spcBef>
                <a:spcPts val="465"/>
              </a:spcBef>
            </a:pPr>
            <a:r>
              <a:rPr dirty="0" sz="3700" spc="75">
                <a:latin typeface="Trebuchet MS"/>
                <a:cs typeface="Trebuchet MS"/>
              </a:rPr>
              <a:t>Focus</a:t>
            </a:r>
            <a:r>
              <a:rPr dirty="0" sz="3700" spc="-330">
                <a:latin typeface="Trebuchet MS"/>
                <a:cs typeface="Trebuchet MS"/>
              </a:rPr>
              <a:t> </a:t>
            </a:r>
            <a:r>
              <a:rPr dirty="0" sz="3700">
                <a:latin typeface="Trebuchet MS"/>
                <a:cs typeface="Trebuchet MS"/>
              </a:rPr>
              <a:t>on</a:t>
            </a:r>
            <a:r>
              <a:rPr dirty="0" sz="3700" spc="-335">
                <a:latin typeface="Trebuchet MS"/>
                <a:cs typeface="Trebuchet MS"/>
              </a:rPr>
              <a:t> </a:t>
            </a:r>
            <a:r>
              <a:rPr dirty="0" sz="3700" spc="-75">
                <a:latin typeface="Trebuchet MS"/>
                <a:cs typeface="Trebuchet MS"/>
              </a:rPr>
              <a:t>financial</a:t>
            </a:r>
            <a:r>
              <a:rPr dirty="0" sz="3700" spc="-350">
                <a:latin typeface="Trebuchet MS"/>
                <a:cs typeface="Trebuchet MS"/>
              </a:rPr>
              <a:t> </a:t>
            </a:r>
            <a:r>
              <a:rPr dirty="0" sz="3700" spc="-75">
                <a:latin typeface="Trebuchet MS"/>
                <a:cs typeface="Trebuchet MS"/>
              </a:rPr>
              <a:t>performance, </a:t>
            </a:r>
            <a:r>
              <a:rPr dirty="0" sz="3700" spc="-25">
                <a:latin typeface="Trebuchet MS"/>
                <a:cs typeface="Trebuchet MS"/>
              </a:rPr>
              <a:t>audience</a:t>
            </a:r>
            <a:r>
              <a:rPr dirty="0" sz="3700" spc="-310">
                <a:latin typeface="Trebuchet MS"/>
                <a:cs typeface="Trebuchet MS"/>
              </a:rPr>
              <a:t> </a:t>
            </a:r>
            <a:r>
              <a:rPr dirty="0" sz="3700" spc="-110">
                <a:latin typeface="Trebuchet MS"/>
                <a:cs typeface="Trebuchet MS"/>
              </a:rPr>
              <a:t>reception,</a:t>
            </a:r>
            <a:r>
              <a:rPr dirty="0" sz="3700" spc="-310">
                <a:latin typeface="Trebuchet MS"/>
                <a:cs typeface="Trebuchet MS"/>
              </a:rPr>
              <a:t> </a:t>
            </a:r>
            <a:r>
              <a:rPr dirty="0" sz="3700" spc="-25">
                <a:latin typeface="Trebuchet MS"/>
                <a:cs typeface="Trebuchet MS"/>
              </a:rPr>
              <a:t>and </a:t>
            </a:r>
            <a:r>
              <a:rPr dirty="0" sz="3700" spc="-60">
                <a:latin typeface="Trebuchet MS"/>
                <a:cs typeface="Trebuchet MS"/>
              </a:rPr>
              <a:t>production</a:t>
            </a:r>
            <a:r>
              <a:rPr dirty="0" sz="3700" spc="-305">
                <a:latin typeface="Trebuchet MS"/>
                <a:cs typeface="Trebuchet MS"/>
              </a:rPr>
              <a:t> </a:t>
            </a:r>
            <a:r>
              <a:rPr dirty="0" sz="3700" spc="-10">
                <a:latin typeface="Trebuchet MS"/>
                <a:cs typeface="Trebuchet MS"/>
              </a:rPr>
              <a:t>characteristics</a:t>
            </a:r>
            <a:endParaRPr sz="3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13943" y="2176983"/>
            <a:ext cx="3186430" cy="159004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12700" marR="5080">
              <a:lnSpc>
                <a:spcPts val="5830"/>
              </a:lnSpc>
              <a:spcBef>
                <a:spcPts val="835"/>
              </a:spcBef>
            </a:pPr>
            <a:r>
              <a:rPr dirty="0" sz="5400" spc="-415" b="1">
                <a:latin typeface="Trebuchet MS"/>
                <a:cs typeface="Trebuchet MS"/>
              </a:rPr>
              <a:t>2.</a:t>
            </a:r>
            <a:r>
              <a:rPr dirty="0" sz="5400" spc="-590" b="1">
                <a:latin typeface="Trebuchet MS"/>
                <a:cs typeface="Trebuchet MS"/>
              </a:rPr>
              <a:t> </a:t>
            </a:r>
            <a:r>
              <a:rPr dirty="0" sz="5400" spc="-225" b="1">
                <a:latin typeface="Trebuchet MS"/>
                <a:cs typeface="Trebuchet MS"/>
              </a:rPr>
              <a:t>Problem </a:t>
            </a:r>
            <a:r>
              <a:rPr dirty="0" sz="5400" spc="-290" b="1">
                <a:latin typeface="Trebuchet MS"/>
                <a:cs typeface="Trebuchet MS"/>
              </a:rPr>
              <a:t>Definition</a:t>
            </a:r>
            <a:endParaRPr sz="5400">
              <a:latin typeface="Trebuchet MS"/>
              <a:cs typeface="Trebuchet MS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297018" y="745553"/>
            <a:ext cx="81915" cy="5453380"/>
            <a:chOff x="4297018" y="745553"/>
            <a:chExt cx="81915" cy="5453380"/>
          </a:xfrm>
        </p:grpSpPr>
        <p:sp>
          <p:nvSpPr>
            <p:cNvPr id="4" name="object 4" descr=""/>
            <p:cNvSpPr/>
            <p:nvPr/>
          </p:nvSpPr>
          <p:spPr>
            <a:xfrm>
              <a:off x="4311084" y="766064"/>
              <a:ext cx="46355" cy="5411470"/>
            </a:xfrm>
            <a:custGeom>
              <a:avLst/>
              <a:gdLst/>
              <a:ahLst/>
              <a:cxnLst/>
              <a:rect l="l" t="t" r="r" b="b"/>
              <a:pathLst>
                <a:path w="46354" h="5411470">
                  <a:moveTo>
                    <a:pt x="22917" y="0"/>
                  </a:moveTo>
                  <a:lnTo>
                    <a:pt x="19488" y="381"/>
                  </a:lnTo>
                  <a:lnTo>
                    <a:pt x="12376" y="762"/>
                  </a:lnTo>
                  <a:lnTo>
                    <a:pt x="15562" y="70816"/>
                  </a:lnTo>
                  <a:lnTo>
                    <a:pt x="17375" y="136985"/>
                  </a:lnTo>
                  <a:lnTo>
                    <a:pt x="18035" y="199554"/>
                  </a:lnTo>
                  <a:lnTo>
                    <a:pt x="17763" y="258804"/>
                  </a:lnTo>
                  <a:lnTo>
                    <a:pt x="16781" y="315020"/>
                  </a:lnTo>
                  <a:lnTo>
                    <a:pt x="15309" y="368484"/>
                  </a:lnTo>
                  <a:lnTo>
                    <a:pt x="10158" y="515201"/>
                  </a:lnTo>
                  <a:lnTo>
                    <a:pt x="8933" y="560493"/>
                  </a:lnTo>
                  <a:lnTo>
                    <a:pt x="8321" y="604449"/>
                  </a:lnTo>
                  <a:lnTo>
                    <a:pt x="8544" y="647353"/>
                  </a:lnTo>
                  <a:lnTo>
                    <a:pt x="9822" y="689488"/>
                  </a:lnTo>
                  <a:lnTo>
                    <a:pt x="12376" y="731138"/>
                  </a:lnTo>
                  <a:lnTo>
                    <a:pt x="15564" y="777379"/>
                  </a:lnTo>
                  <a:lnTo>
                    <a:pt x="18164" y="826433"/>
                  </a:lnTo>
                  <a:lnTo>
                    <a:pt x="20190" y="877796"/>
                  </a:lnTo>
                  <a:lnTo>
                    <a:pt x="21659" y="930964"/>
                  </a:lnTo>
                  <a:lnTo>
                    <a:pt x="22587" y="985431"/>
                  </a:lnTo>
                  <a:lnTo>
                    <a:pt x="22988" y="1040694"/>
                  </a:lnTo>
                  <a:lnTo>
                    <a:pt x="22879" y="1096248"/>
                  </a:lnTo>
                  <a:lnTo>
                    <a:pt x="22275" y="1151588"/>
                  </a:lnTo>
                  <a:lnTo>
                    <a:pt x="21191" y="1206209"/>
                  </a:lnTo>
                  <a:lnTo>
                    <a:pt x="19644" y="1259606"/>
                  </a:lnTo>
                  <a:lnTo>
                    <a:pt x="17649" y="1311276"/>
                  </a:lnTo>
                  <a:lnTo>
                    <a:pt x="15221" y="1360714"/>
                  </a:lnTo>
                  <a:lnTo>
                    <a:pt x="9061" y="1459554"/>
                  </a:lnTo>
                  <a:lnTo>
                    <a:pt x="6337" y="1509715"/>
                  </a:lnTo>
                  <a:lnTo>
                    <a:pt x="4228" y="1558522"/>
                  </a:lnTo>
                  <a:lnTo>
                    <a:pt x="2758" y="1606603"/>
                  </a:lnTo>
                  <a:lnTo>
                    <a:pt x="1951" y="1654584"/>
                  </a:lnTo>
                  <a:lnTo>
                    <a:pt x="1831" y="1703092"/>
                  </a:lnTo>
                  <a:lnTo>
                    <a:pt x="2421" y="1752755"/>
                  </a:lnTo>
                  <a:lnTo>
                    <a:pt x="3747" y="1804199"/>
                  </a:lnTo>
                  <a:lnTo>
                    <a:pt x="5832" y="1858050"/>
                  </a:lnTo>
                  <a:lnTo>
                    <a:pt x="8701" y="1914936"/>
                  </a:lnTo>
                  <a:lnTo>
                    <a:pt x="12376" y="1975485"/>
                  </a:lnTo>
                  <a:lnTo>
                    <a:pt x="14448" y="2018635"/>
                  </a:lnTo>
                  <a:lnTo>
                    <a:pt x="15236" y="2062137"/>
                  </a:lnTo>
                  <a:lnTo>
                    <a:pt x="14955" y="2106083"/>
                  </a:lnTo>
                  <a:lnTo>
                    <a:pt x="13823" y="2150566"/>
                  </a:lnTo>
                  <a:lnTo>
                    <a:pt x="12054" y="2195679"/>
                  </a:lnTo>
                  <a:lnTo>
                    <a:pt x="5089" y="2335720"/>
                  </a:lnTo>
                  <a:lnTo>
                    <a:pt x="2935" y="2384277"/>
                  </a:lnTo>
                  <a:lnTo>
                    <a:pt x="1225" y="2433927"/>
                  </a:lnTo>
                  <a:lnTo>
                    <a:pt x="174" y="2484763"/>
                  </a:lnTo>
                  <a:lnTo>
                    <a:pt x="0" y="2536876"/>
                  </a:lnTo>
                  <a:lnTo>
                    <a:pt x="916" y="2590360"/>
                  </a:lnTo>
                  <a:lnTo>
                    <a:pt x="3141" y="2645308"/>
                  </a:lnTo>
                  <a:lnTo>
                    <a:pt x="6888" y="2701811"/>
                  </a:lnTo>
                  <a:lnTo>
                    <a:pt x="17709" y="2817698"/>
                  </a:lnTo>
                  <a:lnTo>
                    <a:pt x="21075" y="2873103"/>
                  </a:lnTo>
                  <a:lnTo>
                    <a:pt x="22744" y="2926428"/>
                  </a:lnTo>
                  <a:lnTo>
                    <a:pt x="22985" y="2977923"/>
                  </a:lnTo>
                  <a:lnTo>
                    <a:pt x="22066" y="3027840"/>
                  </a:lnTo>
                  <a:lnTo>
                    <a:pt x="20256" y="3076427"/>
                  </a:lnTo>
                  <a:lnTo>
                    <a:pt x="17826" y="3123937"/>
                  </a:lnTo>
                  <a:lnTo>
                    <a:pt x="9496" y="3262499"/>
                  </a:lnTo>
                  <a:lnTo>
                    <a:pt x="7270" y="3308199"/>
                  </a:lnTo>
                  <a:lnTo>
                    <a:pt x="5768" y="3354073"/>
                  </a:lnTo>
                  <a:lnTo>
                    <a:pt x="5259" y="3400372"/>
                  </a:lnTo>
                  <a:lnTo>
                    <a:pt x="6011" y="3447345"/>
                  </a:lnTo>
                  <a:lnTo>
                    <a:pt x="8294" y="3495242"/>
                  </a:lnTo>
                  <a:lnTo>
                    <a:pt x="17360" y="3602603"/>
                  </a:lnTo>
                  <a:lnTo>
                    <a:pt x="20136" y="3655605"/>
                  </a:lnTo>
                  <a:lnTo>
                    <a:pt x="21080" y="3704289"/>
                  </a:lnTo>
                  <a:lnTo>
                    <a:pt x="20567" y="3749623"/>
                  </a:lnTo>
                  <a:lnTo>
                    <a:pt x="18973" y="3792575"/>
                  </a:lnTo>
                  <a:lnTo>
                    <a:pt x="16673" y="3834114"/>
                  </a:lnTo>
                  <a:lnTo>
                    <a:pt x="11460" y="3916823"/>
                  </a:lnTo>
                  <a:lnTo>
                    <a:pt x="9298" y="3959928"/>
                  </a:lnTo>
                  <a:lnTo>
                    <a:pt x="7933" y="4005493"/>
                  </a:lnTo>
                  <a:lnTo>
                    <a:pt x="7741" y="4054483"/>
                  </a:lnTo>
                  <a:lnTo>
                    <a:pt x="9096" y="4107868"/>
                  </a:lnTo>
                  <a:lnTo>
                    <a:pt x="15947" y="4227866"/>
                  </a:lnTo>
                  <a:lnTo>
                    <a:pt x="18129" y="4288082"/>
                  </a:lnTo>
                  <a:lnTo>
                    <a:pt x="19139" y="4347125"/>
                  </a:lnTo>
                  <a:lnTo>
                    <a:pt x="19193" y="4404858"/>
                  </a:lnTo>
                  <a:lnTo>
                    <a:pt x="18508" y="4461145"/>
                  </a:lnTo>
                  <a:lnTo>
                    <a:pt x="17300" y="4515846"/>
                  </a:lnTo>
                  <a:lnTo>
                    <a:pt x="12701" y="4669065"/>
                  </a:lnTo>
                  <a:lnTo>
                    <a:pt x="11564" y="4716052"/>
                  </a:lnTo>
                  <a:lnTo>
                    <a:pt x="10987" y="4760766"/>
                  </a:lnTo>
                  <a:lnTo>
                    <a:pt x="11186" y="4803070"/>
                  </a:lnTo>
                  <a:lnTo>
                    <a:pt x="13541" y="4888049"/>
                  </a:lnTo>
                  <a:lnTo>
                    <a:pt x="13226" y="4933145"/>
                  </a:lnTo>
                  <a:lnTo>
                    <a:pt x="11847" y="4978583"/>
                  </a:lnTo>
                  <a:lnTo>
                    <a:pt x="7558" y="5072372"/>
                  </a:lnTo>
                  <a:lnTo>
                    <a:pt x="5480" y="5121662"/>
                  </a:lnTo>
                  <a:lnTo>
                    <a:pt x="4000" y="5173178"/>
                  </a:lnTo>
                  <a:lnTo>
                    <a:pt x="3534" y="5227389"/>
                  </a:lnTo>
                  <a:lnTo>
                    <a:pt x="4498" y="5284766"/>
                  </a:lnTo>
                  <a:lnTo>
                    <a:pt x="7307" y="5345778"/>
                  </a:lnTo>
                  <a:lnTo>
                    <a:pt x="12376" y="5410898"/>
                  </a:lnTo>
                  <a:lnTo>
                    <a:pt x="18091" y="5410174"/>
                  </a:lnTo>
                  <a:lnTo>
                    <a:pt x="25203" y="5410212"/>
                  </a:lnTo>
                  <a:lnTo>
                    <a:pt x="30664" y="5410898"/>
                  </a:lnTo>
                  <a:lnTo>
                    <a:pt x="29453" y="5366203"/>
                  </a:lnTo>
                  <a:lnTo>
                    <a:pt x="28703" y="5319206"/>
                  </a:lnTo>
                  <a:lnTo>
                    <a:pt x="28353" y="5270231"/>
                  </a:lnTo>
                  <a:lnTo>
                    <a:pt x="28345" y="5219601"/>
                  </a:lnTo>
                  <a:lnTo>
                    <a:pt x="29112" y="5114670"/>
                  </a:lnTo>
                  <a:lnTo>
                    <a:pt x="33402" y="4793797"/>
                  </a:lnTo>
                  <a:lnTo>
                    <a:pt x="33905" y="4693440"/>
                  </a:lnTo>
                  <a:lnTo>
                    <a:pt x="33716" y="4645954"/>
                  </a:lnTo>
                  <a:lnTo>
                    <a:pt x="33152" y="4600695"/>
                  </a:lnTo>
                  <a:lnTo>
                    <a:pt x="32154" y="4557987"/>
                  </a:lnTo>
                  <a:lnTo>
                    <a:pt x="30664" y="4518152"/>
                  </a:lnTo>
                  <a:lnTo>
                    <a:pt x="28521" y="4469686"/>
                  </a:lnTo>
                  <a:lnTo>
                    <a:pt x="26971" y="4428998"/>
                  </a:lnTo>
                  <a:lnTo>
                    <a:pt x="25951" y="4394182"/>
                  </a:lnTo>
                  <a:lnTo>
                    <a:pt x="25395" y="4363336"/>
                  </a:lnTo>
                  <a:lnTo>
                    <a:pt x="25240" y="4334555"/>
                  </a:lnTo>
                  <a:lnTo>
                    <a:pt x="25420" y="4305935"/>
                  </a:lnTo>
                  <a:lnTo>
                    <a:pt x="28208" y="4154999"/>
                  </a:lnTo>
                  <a:lnTo>
                    <a:pt x="29940" y="4031001"/>
                  </a:lnTo>
                  <a:lnTo>
                    <a:pt x="30664" y="3950208"/>
                  </a:lnTo>
                  <a:lnTo>
                    <a:pt x="30859" y="3881803"/>
                  </a:lnTo>
                  <a:lnTo>
                    <a:pt x="30518" y="3819196"/>
                  </a:lnTo>
                  <a:lnTo>
                    <a:pt x="29750" y="3761697"/>
                  </a:lnTo>
                  <a:lnTo>
                    <a:pt x="28664" y="3708618"/>
                  </a:lnTo>
                  <a:lnTo>
                    <a:pt x="22296" y="3485416"/>
                  </a:lnTo>
                  <a:lnTo>
                    <a:pt x="21600" y="3444393"/>
                  </a:lnTo>
                  <a:lnTo>
                    <a:pt x="21353" y="3402969"/>
                  </a:lnTo>
                  <a:lnTo>
                    <a:pt x="21663" y="3360455"/>
                  </a:lnTo>
                  <a:lnTo>
                    <a:pt x="22640" y="3316163"/>
                  </a:lnTo>
                  <a:lnTo>
                    <a:pt x="24392" y="3269404"/>
                  </a:lnTo>
                  <a:lnTo>
                    <a:pt x="27031" y="3219488"/>
                  </a:lnTo>
                  <a:lnTo>
                    <a:pt x="35704" y="3094170"/>
                  </a:lnTo>
                  <a:lnTo>
                    <a:pt x="39730" y="3028246"/>
                  </a:lnTo>
                  <a:lnTo>
                    <a:pt x="42773" y="2967341"/>
                  </a:lnTo>
                  <a:lnTo>
                    <a:pt x="44860" y="2910839"/>
                  </a:lnTo>
                  <a:lnTo>
                    <a:pt x="46021" y="2858127"/>
                  </a:lnTo>
                  <a:lnTo>
                    <a:pt x="46285" y="2808589"/>
                  </a:lnTo>
                  <a:lnTo>
                    <a:pt x="45681" y="2761609"/>
                  </a:lnTo>
                  <a:lnTo>
                    <a:pt x="44239" y="2716572"/>
                  </a:lnTo>
                  <a:lnTo>
                    <a:pt x="41987" y="2672863"/>
                  </a:lnTo>
                  <a:lnTo>
                    <a:pt x="38954" y="2629868"/>
                  </a:lnTo>
                  <a:lnTo>
                    <a:pt x="35170" y="2586970"/>
                  </a:lnTo>
                  <a:lnTo>
                    <a:pt x="30664" y="2543556"/>
                  </a:lnTo>
                  <a:lnTo>
                    <a:pt x="26742" y="2501266"/>
                  </a:lnTo>
                  <a:lnTo>
                    <a:pt x="24552" y="2461388"/>
                  </a:lnTo>
                  <a:lnTo>
                    <a:pt x="23788" y="2422677"/>
                  </a:lnTo>
                  <a:lnTo>
                    <a:pt x="24145" y="2383888"/>
                  </a:lnTo>
                  <a:lnTo>
                    <a:pt x="25316" y="2343776"/>
                  </a:lnTo>
                  <a:lnTo>
                    <a:pt x="28881" y="2254604"/>
                  </a:lnTo>
                  <a:lnTo>
                    <a:pt x="30664" y="2203054"/>
                  </a:lnTo>
                  <a:lnTo>
                    <a:pt x="32039" y="2145202"/>
                  </a:lnTo>
                  <a:lnTo>
                    <a:pt x="32701" y="2079803"/>
                  </a:lnTo>
                  <a:lnTo>
                    <a:pt x="32345" y="2005611"/>
                  </a:lnTo>
                  <a:lnTo>
                    <a:pt x="29027" y="1850183"/>
                  </a:lnTo>
                  <a:lnTo>
                    <a:pt x="28017" y="1780308"/>
                  </a:lnTo>
                  <a:lnTo>
                    <a:pt x="27543" y="1712073"/>
                  </a:lnTo>
                  <a:lnTo>
                    <a:pt x="27515" y="1645798"/>
                  </a:lnTo>
                  <a:lnTo>
                    <a:pt x="27842" y="1581799"/>
                  </a:lnTo>
                  <a:lnTo>
                    <a:pt x="28433" y="1520394"/>
                  </a:lnTo>
                  <a:lnTo>
                    <a:pt x="31624" y="1307069"/>
                  </a:lnTo>
                  <a:lnTo>
                    <a:pt x="32444" y="1224232"/>
                  </a:lnTo>
                  <a:lnTo>
                    <a:pt x="32343" y="1189881"/>
                  </a:lnTo>
                  <a:lnTo>
                    <a:pt x="31780" y="1160666"/>
                  </a:lnTo>
                  <a:lnTo>
                    <a:pt x="30664" y="1136903"/>
                  </a:lnTo>
                  <a:lnTo>
                    <a:pt x="29505" y="1103684"/>
                  </a:lnTo>
                  <a:lnTo>
                    <a:pt x="30018" y="1066796"/>
                  </a:lnTo>
                  <a:lnTo>
                    <a:pt x="31672" y="1026102"/>
                  </a:lnTo>
                  <a:lnTo>
                    <a:pt x="36284" y="932735"/>
                  </a:lnTo>
                  <a:lnTo>
                    <a:pt x="38180" y="879783"/>
                  </a:lnTo>
                  <a:lnTo>
                    <a:pt x="39097" y="822467"/>
                  </a:lnTo>
                  <a:lnTo>
                    <a:pt x="38504" y="760646"/>
                  </a:lnTo>
                  <a:lnTo>
                    <a:pt x="35869" y="694182"/>
                  </a:lnTo>
                  <a:lnTo>
                    <a:pt x="30664" y="622935"/>
                  </a:lnTo>
                  <a:lnTo>
                    <a:pt x="26061" y="564512"/>
                  </a:lnTo>
                  <a:lnTo>
                    <a:pt x="23238" y="511310"/>
                  </a:lnTo>
                  <a:lnTo>
                    <a:pt x="21913" y="462123"/>
                  </a:lnTo>
                  <a:lnTo>
                    <a:pt x="21802" y="415741"/>
                  </a:lnTo>
                  <a:lnTo>
                    <a:pt x="22623" y="370957"/>
                  </a:lnTo>
                  <a:lnTo>
                    <a:pt x="24092" y="326564"/>
                  </a:lnTo>
                  <a:lnTo>
                    <a:pt x="27842" y="234117"/>
                  </a:lnTo>
                  <a:lnTo>
                    <a:pt x="29557" y="183647"/>
                  </a:lnTo>
                  <a:lnTo>
                    <a:pt x="30788" y="128737"/>
                  </a:lnTo>
                  <a:lnTo>
                    <a:pt x="31251" y="68178"/>
                  </a:lnTo>
                  <a:lnTo>
                    <a:pt x="30664" y="762"/>
                  </a:lnTo>
                  <a:lnTo>
                    <a:pt x="22917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317655" y="766191"/>
              <a:ext cx="40640" cy="5412105"/>
            </a:xfrm>
            <a:custGeom>
              <a:avLst/>
              <a:gdLst/>
              <a:ahLst/>
              <a:cxnLst/>
              <a:rect l="l" t="t" r="r" b="b"/>
              <a:pathLst>
                <a:path w="40639" h="5412105">
                  <a:moveTo>
                    <a:pt x="24093" y="635"/>
                  </a:moveTo>
                  <a:lnTo>
                    <a:pt x="28667" y="44984"/>
                  </a:lnTo>
                  <a:lnTo>
                    <a:pt x="32228" y="89452"/>
                  </a:lnTo>
                  <a:lnTo>
                    <a:pt x="34810" y="134486"/>
                  </a:lnTo>
                  <a:lnTo>
                    <a:pt x="36444" y="180532"/>
                  </a:lnTo>
                  <a:lnTo>
                    <a:pt x="37163" y="228037"/>
                  </a:lnTo>
                  <a:lnTo>
                    <a:pt x="37000" y="277447"/>
                  </a:lnTo>
                  <a:lnTo>
                    <a:pt x="35987" y="329208"/>
                  </a:lnTo>
                  <a:lnTo>
                    <a:pt x="34157" y="383769"/>
                  </a:lnTo>
                  <a:lnTo>
                    <a:pt x="31543" y="441574"/>
                  </a:lnTo>
                  <a:lnTo>
                    <a:pt x="28177" y="503071"/>
                  </a:lnTo>
                  <a:lnTo>
                    <a:pt x="24093" y="568706"/>
                  </a:lnTo>
                  <a:lnTo>
                    <a:pt x="21169" y="621244"/>
                  </a:lnTo>
                  <a:lnTo>
                    <a:pt x="19314" y="672492"/>
                  </a:lnTo>
                  <a:lnTo>
                    <a:pt x="18374" y="722759"/>
                  </a:lnTo>
                  <a:lnTo>
                    <a:pt x="18194" y="772353"/>
                  </a:lnTo>
                  <a:lnTo>
                    <a:pt x="18619" y="821582"/>
                  </a:lnTo>
                  <a:lnTo>
                    <a:pt x="19494" y="870754"/>
                  </a:lnTo>
                  <a:lnTo>
                    <a:pt x="20664" y="920178"/>
                  </a:lnTo>
                  <a:lnTo>
                    <a:pt x="21973" y="970162"/>
                  </a:lnTo>
                  <a:lnTo>
                    <a:pt x="23268" y="1021014"/>
                  </a:lnTo>
                  <a:lnTo>
                    <a:pt x="24393" y="1073042"/>
                  </a:lnTo>
                  <a:lnTo>
                    <a:pt x="25192" y="1126554"/>
                  </a:lnTo>
                  <a:lnTo>
                    <a:pt x="25512" y="1181860"/>
                  </a:lnTo>
                  <a:lnTo>
                    <a:pt x="25197" y="1239267"/>
                  </a:lnTo>
                  <a:lnTo>
                    <a:pt x="24093" y="1299083"/>
                  </a:lnTo>
                  <a:lnTo>
                    <a:pt x="22608" y="1365701"/>
                  </a:lnTo>
                  <a:lnTo>
                    <a:pt x="21764" y="1424103"/>
                  </a:lnTo>
                  <a:lnTo>
                    <a:pt x="21449" y="1475950"/>
                  </a:lnTo>
                  <a:lnTo>
                    <a:pt x="21553" y="1522899"/>
                  </a:lnTo>
                  <a:lnTo>
                    <a:pt x="21963" y="1566609"/>
                  </a:lnTo>
                  <a:lnTo>
                    <a:pt x="22569" y="1608740"/>
                  </a:lnTo>
                  <a:lnTo>
                    <a:pt x="23259" y="1650951"/>
                  </a:lnTo>
                  <a:lnTo>
                    <a:pt x="23923" y="1694899"/>
                  </a:lnTo>
                  <a:lnTo>
                    <a:pt x="24450" y="1742245"/>
                  </a:lnTo>
                  <a:lnTo>
                    <a:pt x="24728" y="1794647"/>
                  </a:lnTo>
                  <a:lnTo>
                    <a:pt x="24646" y="1853764"/>
                  </a:lnTo>
                  <a:lnTo>
                    <a:pt x="24093" y="1921256"/>
                  </a:lnTo>
                  <a:lnTo>
                    <a:pt x="23752" y="1996777"/>
                  </a:lnTo>
                  <a:lnTo>
                    <a:pt x="24397" y="2066127"/>
                  </a:lnTo>
                  <a:lnTo>
                    <a:pt x="25721" y="2129770"/>
                  </a:lnTo>
                  <a:lnTo>
                    <a:pt x="27419" y="2188172"/>
                  </a:lnTo>
                  <a:lnTo>
                    <a:pt x="29185" y="2241798"/>
                  </a:lnTo>
                  <a:lnTo>
                    <a:pt x="30714" y="2291113"/>
                  </a:lnTo>
                  <a:lnTo>
                    <a:pt x="31699" y="2336584"/>
                  </a:lnTo>
                  <a:lnTo>
                    <a:pt x="31835" y="2378675"/>
                  </a:lnTo>
                  <a:lnTo>
                    <a:pt x="30817" y="2417853"/>
                  </a:lnTo>
                  <a:lnTo>
                    <a:pt x="28338" y="2454581"/>
                  </a:lnTo>
                  <a:lnTo>
                    <a:pt x="24093" y="2489327"/>
                  </a:lnTo>
                  <a:lnTo>
                    <a:pt x="21181" y="2517834"/>
                  </a:lnTo>
                  <a:lnTo>
                    <a:pt x="19928" y="2553083"/>
                  </a:lnTo>
                  <a:lnTo>
                    <a:pt x="20045" y="2594181"/>
                  </a:lnTo>
                  <a:lnTo>
                    <a:pt x="21247" y="2640239"/>
                  </a:lnTo>
                  <a:lnTo>
                    <a:pt x="23246" y="2690368"/>
                  </a:lnTo>
                  <a:lnTo>
                    <a:pt x="25757" y="2743676"/>
                  </a:lnTo>
                  <a:lnTo>
                    <a:pt x="28493" y="2799275"/>
                  </a:lnTo>
                  <a:lnTo>
                    <a:pt x="31167" y="2856273"/>
                  </a:lnTo>
                  <a:lnTo>
                    <a:pt x="33493" y="2913782"/>
                  </a:lnTo>
                  <a:lnTo>
                    <a:pt x="35184" y="2970911"/>
                  </a:lnTo>
                  <a:lnTo>
                    <a:pt x="35954" y="3026769"/>
                  </a:lnTo>
                  <a:lnTo>
                    <a:pt x="35517" y="3080468"/>
                  </a:lnTo>
                  <a:lnTo>
                    <a:pt x="33585" y="3131116"/>
                  </a:lnTo>
                  <a:lnTo>
                    <a:pt x="29872" y="3177825"/>
                  </a:lnTo>
                  <a:lnTo>
                    <a:pt x="24093" y="3219704"/>
                  </a:lnTo>
                  <a:lnTo>
                    <a:pt x="16880" y="3265665"/>
                  </a:lnTo>
                  <a:lnTo>
                    <a:pt x="11186" y="3313131"/>
                  </a:lnTo>
                  <a:lnTo>
                    <a:pt x="6924" y="3361968"/>
                  </a:lnTo>
                  <a:lnTo>
                    <a:pt x="4009" y="3412039"/>
                  </a:lnTo>
                  <a:lnTo>
                    <a:pt x="2353" y="3463209"/>
                  </a:lnTo>
                  <a:lnTo>
                    <a:pt x="1871" y="3515343"/>
                  </a:lnTo>
                  <a:lnTo>
                    <a:pt x="2475" y="3568303"/>
                  </a:lnTo>
                  <a:lnTo>
                    <a:pt x="4080" y="3621956"/>
                  </a:lnTo>
                  <a:lnTo>
                    <a:pt x="6600" y="3676165"/>
                  </a:lnTo>
                  <a:lnTo>
                    <a:pt x="9947" y="3730794"/>
                  </a:lnTo>
                  <a:lnTo>
                    <a:pt x="14036" y="3785709"/>
                  </a:lnTo>
                  <a:lnTo>
                    <a:pt x="18780" y="3840773"/>
                  </a:lnTo>
                  <a:lnTo>
                    <a:pt x="24093" y="3895852"/>
                  </a:lnTo>
                  <a:lnTo>
                    <a:pt x="29133" y="3951254"/>
                  </a:lnTo>
                  <a:lnTo>
                    <a:pt x="33200" y="4007136"/>
                  </a:lnTo>
                  <a:lnTo>
                    <a:pt x="36329" y="4063211"/>
                  </a:lnTo>
                  <a:lnTo>
                    <a:pt x="38558" y="4119198"/>
                  </a:lnTo>
                  <a:lnTo>
                    <a:pt x="39922" y="4174812"/>
                  </a:lnTo>
                  <a:lnTo>
                    <a:pt x="40459" y="4229769"/>
                  </a:lnTo>
                  <a:lnTo>
                    <a:pt x="40204" y="4283786"/>
                  </a:lnTo>
                  <a:lnTo>
                    <a:pt x="39194" y="4336579"/>
                  </a:lnTo>
                  <a:lnTo>
                    <a:pt x="37465" y="4387864"/>
                  </a:lnTo>
                  <a:lnTo>
                    <a:pt x="35054" y="4437358"/>
                  </a:lnTo>
                  <a:lnTo>
                    <a:pt x="31998" y="4484776"/>
                  </a:lnTo>
                  <a:lnTo>
                    <a:pt x="28332" y="4529836"/>
                  </a:lnTo>
                  <a:lnTo>
                    <a:pt x="24093" y="4572254"/>
                  </a:lnTo>
                  <a:lnTo>
                    <a:pt x="21076" y="4606121"/>
                  </a:lnTo>
                  <a:lnTo>
                    <a:pt x="18912" y="4644690"/>
                  </a:lnTo>
                  <a:lnTo>
                    <a:pt x="17504" y="4687406"/>
                  </a:lnTo>
                  <a:lnTo>
                    <a:pt x="16757" y="4733717"/>
                  </a:lnTo>
                  <a:lnTo>
                    <a:pt x="16578" y="4783068"/>
                  </a:lnTo>
                  <a:lnTo>
                    <a:pt x="16871" y="4834905"/>
                  </a:lnTo>
                  <a:lnTo>
                    <a:pt x="17541" y="4888674"/>
                  </a:lnTo>
                  <a:lnTo>
                    <a:pt x="18492" y="4943821"/>
                  </a:lnTo>
                  <a:lnTo>
                    <a:pt x="19631" y="4999793"/>
                  </a:lnTo>
                  <a:lnTo>
                    <a:pt x="20863" y="5056035"/>
                  </a:lnTo>
                  <a:lnTo>
                    <a:pt x="22091" y="5111993"/>
                  </a:lnTo>
                  <a:lnTo>
                    <a:pt x="23223" y="5167114"/>
                  </a:lnTo>
                  <a:lnTo>
                    <a:pt x="24161" y="5220844"/>
                  </a:lnTo>
                  <a:lnTo>
                    <a:pt x="24812" y="5272628"/>
                  </a:lnTo>
                  <a:lnTo>
                    <a:pt x="25081" y="5321914"/>
                  </a:lnTo>
                  <a:lnTo>
                    <a:pt x="24873" y="5368146"/>
                  </a:lnTo>
                  <a:lnTo>
                    <a:pt x="24093" y="5410771"/>
                  </a:lnTo>
                  <a:lnTo>
                    <a:pt x="17108" y="5411304"/>
                  </a:lnTo>
                  <a:lnTo>
                    <a:pt x="11139" y="5411508"/>
                  </a:lnTo>
                  <a:lnTo>
                    <a:pt x="5805" y="5410771"/>
                  </a:lnTo>
                  <a:lnTo>
                    <a:pt x="8092" y="5342725"/>
                  </a:lnTo>
                  <a:lnTo>
                    <a:pt x="8937" y="5284933"/>
                  </a:lnTo>
                  <a:lnTo>
                    <a:pt x="8669" y="5235071"/>
                  </a:lnTo>
                  <a:lnTo>
                    <a:pt x="7616" y="5190815"/>
                  </a:lnTo>
                  <a:lnTo>
                    <a:pt x="6105" y="5149839"/>
                  </a:lnTo>
                  <a:lnTo>
                    <a:pt x="4465" y="5109819"/>
                  </a:lnTo>
                  <a:lnTo>
                    <a:pt x="3023" y="5068431"/>
                  </a:lnTo>
                  <a:lnTo>
                    <a:pt x="2109" y="5023350"/>
                  </a:lnTo>
                  <a:lnTo>
                    <a:pt x="2048" y="4972251"/>
                  </a:lnTo>
                  <a:lnTo>
                    <a:pt x="3171" y="4912809"/>
                  </a:lnTo>
                  <a:lnTo>
                    <a:pt x="5805" y="4842700"/>
                  </a:lnTo>
                  <a:lnTo>
                    <a:pt x="9127" y="4763641"/>
                  </a:lnTo>
                  <a:lnTo>
                    <a:pt x="11523" y="4693461"/>
                  </a:lnTo>
                  <a:lnTo>
                    <a:pt x="13062" y="4631136"/>
                  </a:lnTo>
                  <a:lnTo>
                    <a:pt x="13815" y="4575641"/>
                  </a:lnTo>
                  <a:lnTo>
                    <a:pt x="13853" y="4525954"/>
                  </a:lnTo>
                  <a:lnTo>
                    <a:pt x="13248" y="4481050"/>
                  </a:lnTo>
                  <a:lnTo>
                    <a:pt x="12069" y="4439906"/>
                  </a:lnTo>
                  <a:lnTo>
                    <a:pt x="10389" y="4401498"/>
                  </a:lnTo>
                  <a:lnTo>
                    <a:pt x="8277" y="4364802"/>
                  </a:lnTo>
                  <a:lnTo>
                    <a:pt x="5805" y="4328795"/>
                  </a:lnTo>
                  <a:lnTo>
                    <a:pt x="4101" y="4298267"/>
                  </a:lnTo>
                  <a:lnTo>
                    <a:pt x="2779" y="4259065"/>
                  </a:lnTo>
                  <a:lnTo>
                    <a:pt x="1809" y="4212524"/>
                  </a:lnTo>
                  <a:lnTo>
                    <a:pt x="1162" y="4159982"/>
                  </a:lnTo>
                  <a:lnTo>
                    <a:pt x="806" y="4102773"/>
                  </a:lnTo>
                  <a:lnTo>
                    <a:pt x="713" y="4042235"/>
                  </a:lnTo>
                  <a:lnTo>
                    <a:pt x="852" y="3979703"/>
                  </a:lnTo>
                  <a:lnTo>
                    <a:pt x="1193" y="3916515"/>
                  </a:lnTo>
                  <a:lnTo>
                    <a:pt x="1706" y="3854005"/>
                  </a:lnTo>
                  <a:lnTo>
                    <a:pt x="2361" y="3793512"/>
                  </a:lnTo>
                  <a:lnTo>
                    <a:pt x="3129" y="3736370"/>
                  </a:lnTo>
                  <a:lnTo>
                    <a:pt x="3979" y="3683916"/>
                  </a:lnTo>
                  <a:lnTo>
                    <a:pt x="4880" y="3637486"/>
                  </a:lnTo>
                  <a:lnTo>
                    <a:pt x="5805" y="3598418"/>
                  </a:lnTo>
                  <a:lnTo>
                    <a:pt x="6412" y="3554489"/>
                  </a:lnTo>
                  <a:lnTo>
                    <a:pt x="6119" y="3511228"/>
                  </a:lnTo>
                  <a:lnTo>
                    <a:pt x="5186" y="3467898"/>
                  </a:lnTo>
                  <a:lnTo>
                    <a:pt x="3873" y="3423762"/>
                  </a:lnTo>
                  <a:lnTo>
                    <a:pt x="2438" y="3378083"/>
                  </a:lnTo>
                  <a:lnTo>
                    <a:pt x="1142" y="3330124"/>
                  </a:lnTo>
                  <a:lnTo>
                    <a:pt x="242" y="3279149"/>
                  </a:lnTo>
                  <a:lnTo>
                    <a:pt x="0" y="3224420"/>
                  </a:lnTo>
                  <a:lnTo>
                    <a:pt x="673" y="3165202"/>
                  </a:lnTo>
                  <a:lnTo>
                    <a:pt x="2521" y="3100756"/>
                  </a:lnTo>
                  <a:lnTo>
                    <a:pt x="5805" y="3030347"/>
                  </a:lnTo>
                  <a:lnTo>
                    <a:pt x="8420" y="2974632"/>
                  </a:lnTo>
                  <a:lnTo>
                    <a:pt x="10003" y="2922715"/>
                  </a:lnTo>
                  <a:lnTo>
                    <a:pt x="10712" y="2873782"/>
                  </a:lnTo>
                  <a:lnTo>
                    <a:pt x="10703" y="2827021"/>
                  </a:lnTo>
                  <a:lnTo>
                    <a:pt x="10135" y="2781619"/>
                  </a:lnTo>
                  <a:lnTo>
                    <a:pt x="9164" y="2736762"/>
                  </a:lnTo>
                  <a:lnTo>
                    <a:pt x="7948" y="2691638"/>
                  </a:lnTo>
                  <a:lnTo>
                    <a:pt x="6644" y="2645432"/>
                  </a:lnTo>
                  <a:lnTo>
                    <a:pt x="5411" y="2597333"/>
                  </a:lnTo>
                  <a:lnTo>
                    <a:pt x="4405" y="2546526"/>
                  </a:lnTo>
                  <a:lnTo>
                    <a:pt x="3784" y="2492200"/>
                  </a:lnTo>
                  <a:lnTo>
                    <a:pt x="3705" y="2433541"/>
                  </a:lnTo>
                  <a:lnTo>
                    <a:pt x="4326" y="2369735"/>
                  </a:lnTo>
                  <a:lnTo>
                    <a:pt x="5805" y="2299970"/>
                  </a:lnTo>
                  <a:lnTo>
                    <a:pt x="7241" y="2234150"/>
                  </a:lnTo>
                  <a:lnTo>
                    <a:pt x="8015" y="2172669"/>
                  </a:lnTo>
                  <a:lnTo>
                    <a:pt x="8231" y="2114971"/>
                  </a:lnTo>
                  <a:lnTo>
                    <a:pt x="7995" y="2060501"/>
                  </a:lnTo>
                  <a:lnTo>
                    <a:pt x="7413" y="2008702"/>
                  </a:lnTo>
                  <a:lnTo>
                    <a:pt x="6591" y="1959020"/>
                  </a:lnTo>
                  <a:lnTo>
                    <a:pt x="5634" y="1910900"/>
                  </a:lnTo>
                  <a:lnTo>
                    <a:pt x="4648" y="1863785"/>
                  </a:lnTo>
                  <a:lnTo>
                    <a:pt x="3738" y="1817121"/>
                  </a:lnTo>
                  <a:lnTo>
                    <a:pt x="3011" y="1770351"/>
                  </a:lnTo>
                  <a:lnTo>
                    <a:pt x="2571" y="1722922"/>
                  </a:lnTo>
                  <a:lnTo>
                    <a:pt x="2525" y="1674276"/>
                  </a:lnTo>
                  <a:lnTo>
                    <a:pt x="2978" y="1623859"/>
                  </a:lnTo>
                  <a:lnTo>
                    <a:pt x="4036" y="1571116"/>
                  </a:lnTo>
                  <a:lnTo>
                    <a:pt x="5805" y="1515491"/>
                  </a:lnTo>
                  <a:lnTo>
                    <a:pt x="8494" y="1446350"/>
                  </a:lnTo>
                  <a:lnTo>
                    <a:pt x="11140" y="1381827"/>
                  </a:lnTo>
                  <a:lnTo>
                    <a:pt x="13609" y="1321478"/>
                  </a:lnTo>
                  <a:lnTo>
                    <a:pt x="15767" y="1264863"/>
                  </a:lnTo>
                  <a:lnTo>
                    <a:pt x="17481" y="1211539"/>
                  </a:lnTo>
                  <a:lnTo>
                    <a:pt x="18616" y="1161065"/>
                  </a:lnTo>
                  <a:lnTo>
                    <a:pt x="19039" y="1112999"/>
                  </a:lnTo>
                  <a:lnTo>
                    <a:pt x="18618" y="1066898"/>
                  </a:lnTo>
                  <a:lnTo>
                    <a:pt x="17217" y="1022322"/>
                  </a:lnTo>
                  <a:lnTo>
                    <a:pt x="14703" y="978827"/>
                  </a:lnTo>
                  <a:lnTo>
                    <a:pt x="10944" y="935973"/>
                  </a:lnTo>
                  <a:lnTo>
                    <a:pt x="5805" y="893318"/>
                  </a:lnTo>
                  <a:lnTo>
                    <a:pt x="2635" y="861580"/>
                  </a:lnTo>
                  <a:lnTo>
                    <a:pt x="871" y="823837"/>
                  </a:lnTo>
                  <a:lnTo>
                    <a:pt x="319" y="780820"/>
                  </a:lnTo>
                  <a:lnTo>
                    <a:pt x="785" y="733262"/>
                  </a:lnTo>
                  <a:lnTo>
                    <a:pt x="2076" y="681895"/>
                  </a:lnTo>
                  <a:lnTo>
                    <a:pt x="3998" y="627450"/>
                  </a:lnTo>
                  <a:lnTo>
                    <a:pt x="6358" y="570661"/>
                  </a:lnTo>
                  <a:lnTo>
                    <a:pt x="8961" y="512259"/>
                  </a:lnTo>
                  <a:lnTo>
                    <a:pt x="11615" y="452977"/>
                  </a:lnTo>
                  <a:lnTo>
                    <a:pt x="14125" y="393546"/>
                  </a:lnTo>
                  <a:lnTo>
                    <a:pt x="16298" y="334700"/>
                  </a:lnTo>
                  <a:lnTo>
                    <a:pt x="17940" y="277170"/>
                  </a:lnTo>
                  <a:lnTo>
                    <a:pt x="18858" y="221688"/>
                  </a:lnTo>
                  <a:lnTo>
                    <a:pt x="18858" y="168987"/>
                  </a:lnTo>
                  <a:lnTo>
                    <a:pt x="17746" y="119799"/>
                  </a:lnTo>
                  <a:lnTo>
                    <a:pt x="15329" y="74856"/>
                  </a:lnTo>
                  <a:lnTo>
                    <a:pt x="11413" y="34891"/>
                  </a:lnTo>
                  <a:lnTo>
                    <a:pt x="5805" y="635"/>
                  </a:lnTo>
                  <a:lnTo>
                    <a:pt x="14822" y="0"/>
                  </a:lnTo>
                  <a:lnTo>
                    <a:pt x="18886" y="762"/>
                  </a:lnTo>
                  <a:lnTo>
                    <a:pt x="24093" y="635"/>
                  </a:lnTo>
                  <a:close/>
                </a:path>
              </a:pathLst>
            </a:custGeom>
            <a:ln w="41275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4648072" y="641476"/>
            <a:ext cx="6900545" cy="0"/>
          </a:xfrm>
          <a:custGeom>
            <a:avLst/>
            <a:gdLst/>
            <a:ahLst/>
            <a:cxnLst/>
            <a:rect l="l" t="t" r="r" b="b"/>
            <a:pathLst>
              <a:path w="6900545" h="0">
                <a:moveTo>
                  <a:pt x="0" y="0"/>
                </a:moveTo>
                <a:lnTo>
                  <a:pt x="6900418" y="0"/>
                </a:lnTo>
              </a:path>
            </a:pathLst>
          </a:custGeom>
          <a:ln w="19050">
            <a:solidFill>
              <a:srgbClr val="0E9E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742434" y="672795"/>
            <a:ext cx="3291204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Research</a:t>
            </a:r>
            <a:r>
              <a:rPr dirty="0" sz="2800" spc="-229"/>
              <a:t> </a:t>
            </a:r>
            <a:r>
              <a:rPr dirty="0" sz="2800" spc="-10"/>
              <a:t>Questions</a:t>
            </a:r>
            <a:endParaRPr sz="2800"/>
          </a:p>
        </p:txBody>
      </p:sp>
      <p:sp>
        <p:nvSpPr>
          <p:cNvPr id="8" name="object 8" descr=""/>
          <p:cNvSpPr/>
          <p:nvPr/>
        </p:nvSpPr>
        <p:spPr>
          <a:xfrm>
            <a:off x="4648072" y="1748408"/>
            <a:ext cx="6900545" cy="0"/>
          </a:xfrm>
          <a:custGeom>
            <a:avLst/>
            <a:gdLst/>
            <a:ahLst/>
            <a:cxnLst/>
            <a:rect l="l" t="t" r="r" b="b"/>
            <a:pathLst>
              <a:path w="6900545" h="0">
                <a:moveTo>
                  <a:pt x="0" y="0"/>
                </a:moveTo>
                <a:lnTo>
                  <a:pt x="6900418" y="0"/>
                </a:lnTo>
              </a:path>
            </a:pathLst>
          </a:custGeom>
          <a:ln w="19050">
            <a:solidFill>
              <a:srgbClr val="0E9E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4742434" y="1780412"/>
            <a:ext cx="5542280" cy="84328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 marR="5080">
              <a:lnSpc>
                <a:spcPts val="3080"/>
              </a:lnSpc>
              <a:spcBef>
                <a:spcPts val="430"/>
              </a:spcBef>
            </a:pPr>
            <a:r>
              <a:rPr dirty="0" sz="2800" spc="-40">
                <a:latin typeface="Trebuchet MS"/>
                <a:cs typeface="Trebuchet MS"/>
              </a:rPr>
              <a:t>What</a:t>
            </a:r>
            <a:r>
              <a:rPr dirty="0" sz="2800" spc="-229">
                <a:latin typeface="Trebuchet MS"/>
                <a:cs typeface="Trebuchet MS"/>
              </a:rPr>
              <a:t> </a:t>
            </a:r>
            <a:r>
              <a:rPr dirty="0" sz="2800" spc="-55">
                <a:latin typeface="Trebuchet MS"/>
                <a:cs typeface="Trebuchet MS"/>
              </a:rPr>
              <a:t>factors</a:t>
            </a:r>
            <a:r>
              <a:rPr dirty="0" sz="2800" spc="-250">
                <a:latin typeface="Trebuchet MS"/>
                <a:cs typeface="Trebuchet MS"/>
              </a:rPr>
              <a:t> </a:t>
            </a:r>
            <a:r>
              <a:rPr dirty="0" sz="2800" spc="-65">
                <a:latin typeface="Trebuchet MS"/>
                <a:cs typeface="Trebuchet MS"/>
              </a:rPr>
              <a:t>contribute</a:t>
            </a:r>
            <a:r>
              <a:rPr dirty="0" sz="2800" spc="-225">
                <a:latin typeface="Trebuchet MS"/>
                <a:cs typeface="Trebuchet MS"/>
              </a:rPr>
              <a:t> </a:t>
            </a:r>
            <a:r>
              <a:rPr dirty="0" sz="2800" spc="-105">
                <a:latin typeface="Trebuchet MS"/>
                <a:cs typeface="Trebuchet MS"/>
              </a:rPr>
              <a:t>to</a:t>
            </a:r>
            <a:r>
              <a:rPr dirty="0" sz="2800" spc="-23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a</a:t>
            </a:r>
            <a:r>
              <a:rPr dirty="0" sz="2800" spc="-24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movie's </a:t>
            </a:r>
            <a:r>
              <a:rPr dirty="0" sz="2800" spc="-70">
                <a:latin typeface="Trebuchet MS"/>
                <a:cs typeface="Trebuchet MS"/>
              </a:rPr>
              <a:t>financial</a:t>
            </a:r>
            <a:r>
              <a:rPr dirty="0" sz="2800" spc="-180">
                <a:latin typeface="Trebuchet MS"/>
                <a:cs typeface="Trebuchet MS"/>
              </a:rPr>
              <a:t> </a:t>
            </a:r>
            <a:r>
              <a:rPr dirty="0" sz="2800" spc="120">
                <a:latin typeface="Trebuchet MS"/>
                <a:cs typeface="Trebuchet MS"/>
              </a:rPr>
              <a:t>success?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4648072" y="2855467"/>
            <a:ext cx="6900545" cy="0"/>
          </a:xfrm>
          <a:custGeom>
            <a:avLst/>
            <a:gdLst/>
            <a:ahLst/>
            <a:cxnLst/>
            <a:rect l="l" t="t" r="r" b="b"/>
            <a:pathLst>
              <a:path w="6900545" h="0">
                <a:moveTo>
                  <a:pt x="0" y="0"/>
                </a:moveTo>
                <a:lnTo>
                  <a:pt x="6900418" y="0"/>
                </a:lnTo>
              </a:path>
            </a:pathLst>
          </a:custGeom>
          <a:ln w="19050">
            <a:solidFill>
              <a:srgbClr val="0E9E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4742434" y="2887167"/>
            <a:ext cx="5779135" cy="84391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 marR="5080">
              <a:lnSpc>
                <a:spcPts val="3090"/>
              </a:lnSpc>
              <a:spcBef>
                <a:spcPts val="425"/>
              </a:spcBef>
            </a:pPr>
            <a:r>
              <a:rPr dirty="0" sz="2800">
                <a:latin typeface="Trebuchet MS"/>
                <a:cs typeface="Trebuchet MS"/>
              </a:rPr>
              <a:t>How</a:t>
            </a:r>
            <a:r>
              <a:rPr dirty="0" sz="2800" spc="-22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do</a:t>
            </a:r>
            <a:r>
              <a:rPr dirty="0" sz="2800" spc="-220">
                <a:latin typeface="Trebuchet MS"/>
                <a:cs typeface="Trebuchet MS"/>
              </a:rPr>
              <a:t> </a:t>
            </a:r>
            <a:r>
              <a:rPr dirty="0" sz="2800" spc="-50">
                <a:latin typeface="Trebuchet MS"/>
                <a:cs typeface="Trebuchet MS"/>
              </a:rPr>
              <a:t>production</a:t>
            </a:r>
            <a:r>
              <a:rPr dirty="0" sz="2800" spc="-220">
                <a:latin typeface="Trebuchet MS"/>
                <a:cs typeface="Trebuchet MS"/>
              </a:rPr>
              <a:t> </a:t>
            </a:r>
            <a:r>
              <a:rPr dirty="0" sz="2800" spc="-20">
                <a:latin typeface="Trebuchet MS"/>
                <a:cs typeface="Trebuchet MS"/>
              </a:rPr>
              <a:t>budgets</a:t>
            </a:r>
            <a:r>
              <a:rPr dirty="0" sz="2800" spc="-204">
                <a:latin typeface="Trebuchet MS"/>
                <a:cs typeface="Trebuchet MS"/>
              </a:rPr>
              <a:t> </a:t>
            </a:r>
            <a:r>
              <a:rPr dirty="0" sz="2800" spc="-20">
                <a:latin typeface="Trebuchet MS"/>
                <a:cs typeface="Trebuchet MS"/>
              </a:rPr>
              <a:t>influence </a:t>
            </a:r>
            <a:r>
              <a:rPr dirty="0" sz="2800" spc="-75">
                <a:latin typeface="Trebuchet MS"/>
                <a:cs typeface="Trebuchet MS"/>
              </a:rPr>
              <a:t>revenue</a:t>
            </a:r>
            <a:r>
              <a:rPr dirty="0" sz="2800" spc="-23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and</a:t>
            </a:r>
            <a:r>
              <a:rPr dirty="0" sz="2800" spc="-229">
                <a:latin typeface="Trebuchet MS"/>
                <a:cs typeface="Trebuchet MS"/>
              </a:rPr>
              <a:t> </a:t>
            </a:r>
            <a:r>
              <a:rPr dirty="0" sz="2800" spc="105">
                <a:latin typeface="Trebuchet MS"/>
                <a:cs typeface="Trebuchet MS"/>
              </a:rPr>
              <a:t>ROI?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4648072" y="3962400"/>
            <a:ext cx="6900545" cy="0"/>
          </a:xfrm>
          <a:custGeom>
            <a:avLst/>
            <a:gdLst/>
            <a:ahLst/>
            <a:cxnLst/>
            <a:rect l="l" t="t" r="r" b="b"/>
            <a:pathLst>
              <a:path w="6900545" h="0">
                <a:moveTo>
                  <a:pt x="0" y="0"/>
                </a:moveTo>
                <a:lnTo>
                  <a:pt x="6900418" y="0"/>
                </a:lnTo>
              </a:path>
            </a:pathLst>
          </a:custGeom>
          <a:ln w="19050">
            <a:solidFill>
              <a:srgbClr val="0E9E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4648072" y="5069332"/>
            <a:ext cx="6900545" cy="0"/>
          </a:xfrm>
          <a:custGeom>
            <a:avLst/>
            <a:gdLst/>
            <a:ahLst/>
            <a:cxnLst/>
            <a:rect l="l" t="t" r="r" b="b"/>
            <a:pathLst>
              <a:path w="6900545" h="0">
                <a:moveTo>
                  <a:pt x="0" y="0"/>
                </a:moveTo>
                <a:lnTo>
                  <a:pt x="6900418" y="0"/>
                </a:lnTo>
              </a:path>
            </a:pathLst>
          </a:custGeom>
          <a:ln w="19050">
            <a:solidFill>
              <a:srgbClr val="0E9E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4742434" y="3994784"/>
            <a:ext cx="6597650" cy="195072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 marR="5080">
              <a:lnSpc>
                <a:spcPts val="3080"/>
              </a:lnSpc>
              <a:spcBef>
                <a:spcPts val="430"/>
              </a:spcBef>
            </a:pPr>
            <a:r>
              <a:rPr dirty="0" sz="2800" spc="-40">
                <a:latin typeface="Trebuchet MS"/>
                <a:cs typeface="Trebuchet MS"/>
              </a:rPr>
              <a:t>What</a:t>
            </a:r>
            <a:r>
              <a:rPr dirty="0" sz="2800" spc="-229">
                <a:latin typeface="Trebuchet MS"/>
                <a:cs typeface="Trebuchet MS"/>
              </a:rPr>
              <a:t> </a:t>
            </a:r>
            <a:r>
              <a:rPr dirty="0" sz="2800" spc="-35">
                <a:latin typeface="Trebuchet MS"/>
                <a:cs typeface="Trebuchet MS"/>
              </a:rPr>
              <a:t>relationships</a:t>
            </a:r>
            <a:r>
              <a:rPr dirty="0" sz="2800" spc="-229">
                <a:latin typeface="Trebuchet MS"/>
                <a:cs typeface="Trebuchet MS"/>
              </a:rPr>
              <a:t> </a:t>
            </a:r>
            <a:r>
              <a:rPr dirty="0" sz="2800" spc="-90">
                <a:latin typeface="Trebuchet MS"/>
                <a:cs typeface="Trebuchet MS"/>
              </a:rPr>
              <a:t>exist</a:t>
            </a:r>
            <a:r>
              <a:rPr dirty="0" sz="2800" spc="-250">
                <a:latin typeface="Trebuchet MS"/>
                <a:cs typeface="Trebuchet MS"/>
              </a:rPr>
              <a:t> </a:t>
            </a:r>
            <a:r>
              <a:rPr dirty="0" sz="2800" spc="-70">
                <a:latin typeface="Trebuchet MS"/>
                <a:cs typeface="Trebuchet MS"/>
              </a:rPr>
              <a:t>between</a:t>
            </a:r>
            <a:r>
              <a:rPr dirty="0" sz="2800" spc="-24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audience </a:t>
            </a:r>
            <a:r>
              <a:rPr dirty="0" sz="2800" spc="-70">
                <a:latin typeface="Trebuchet MS"/>
                <a:cs typeface="Trebuchet MS"/>
              </a:rPr>
              <a:t>ratings</a:t>
            </a:r>
            <a:r>
              <a:rPr dirty="0" sz="2800" spc="-229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and</a:t>
            </a:r>
            <a:r>
              <a:rPr dirty="0" sz="2800" spc="-240">
                <a:latin typeface="Trebuchet MS"/>
                <a:cs typeface="Trebuchet MS"/>
              </a:rPr>
              <a:t> </a:t>
            </a:r>
            <a:r>
              <a:rPr dirty="0" sz="2800" spc="-55">
                <a:latin typeface="Trebuchet MS"/>
                <a:cs typeface="Trebuchet MS"/>
              </a:rPr>
              <a:t>financial</a:t>
            </a:r>
            <a:r>
              <a:rPr dirty="0" sz="2800" spc="-21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performance?</a:t>
            </a:r>
            <a:endParaRPr sz="2800">
              <a:latin typeface="Trebuchet MS"/>
              <a:cs typeface="Trebuchet MS"/>
            </a:endParaRPr>
          </a:p>
          <a:p>
            <a:pPr marL="12700" marR="454025">
              <a:lnSpc>
                <a:spcPts val="3080"/>
              </a:lnSpc>
              <a:spcBef>
                <a:spcPts val="2560"/>
              </a:spcBef>
            </a:pPr>
            <a:r>
              <a:rPr dirty="0" sz="2800">
                <a:latin typeface="Trebuchet MS"/>
                <a:cs typeface="Trebuchet MS"/>
              </a:rPr>
              <a:t>How</a:t>
            </a:r>
            <a:r>
              <a:rPr dirty="0" sz="2800" spc="-225">
                <a:latin typeface="Trebuchet MS"/>
                <a:cs typeface="Trebuchet MS"/>
              </a:rPr>
              <a:t> </a:t>
            </a:r>
            <a:r>
              <a:rPr dirty="0" sz="2800" spc="-55">
                <a:latin typeface="Trebuchet MS"/>
                <a:cs typeface="Trebuchet MS"/>
              </a:rPr>
              <a:t>have</a:t>
            </a:r>
            <a:r>
              <a:rPr dirty="0" sz="2800" spc="-204">
                <a:latin typeface="Trebuchet MS"/>
                <a:cs typeface="Trebuchet MS"/>
              </a:rPr>
              <a:t> </a:t>
            </a:r>
            <a:r>
              <a:rPr dirty="0" sz="2800" spc="-55">
                <a:latin typeface="Trebuchet MS"/>
                <a:cs typeface="Trebuchet MS"/>
              </a:rPr>
              <a:t>movie</a:t>
            </a:r>
            <a:r>
              <a:rPr dirty="0" sz="2800" spc="-210">
                <a:latin typeface="Trebuchet MS"/>
                <a:cs typeface="Trebuchet MS"/>
              </a:rPr>
              <a:t> </a:t>
            </a:r>
            <a:r>
              <a:rPr dirty="0" sz="2800" spc="-40">
                <a:latin typeface="Trebuchet MS"/>
                <a:cs typeface="Trebuchet MS"/>
              </a:rPr>
              <a:t>characteristics</a:t>
            </a:r>
            <a:r>
              <a:rPr dirty="0" sz="2800" spc="-190">
                <a:latin typeface="Trebuchet MS"/>
                <a:cs typeface="Trebuchet MS"/>
              </a:rPr>
              <a:t> </a:t>
            </a:r>
            <a:r>
              <a:rPr dirty="0" sz="2800" spc="-40">
                <a:latin typeface="Trebuchet MS"/>
                <a:cs typeface="Trebuchet MS"/>
              </a:rPr>
              <a:t>evolved </a:t>
            </a:r>
            <a:r>
              <a:rPr dirty="0" sz="2800" spc="-95">
                <a:latin typeface="Trebuchet MS"/>
                <a:cs typeface="Trebuchet MS"/>
              </a:rPr>
              <a:t>over</a:t>
            </a:r>
            <a:r>
              <a:rPr dirty="0" sz="2800" spc="-24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time?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" y="0"/>
            <a:ext cx="12192000" cy="6858000"/>
            <a:chOff x="1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57"/>
              <a:ext cx="9669652" cy="6857873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24957" y="0"/>
              <a:ext cx="7066915" cy="685800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7531608" y="638809"/>
              <a:ext cx="4117975" cy="4430395"/>
            </a:xfrm>
            <a:custGeom>
              <a:avLst/>
              <a:gdLst/>
              <a:ahLst/>
              <a:cxnLst/>
              <a:rect l="l" t="t" r="r" b="b"/>
              <a:pathLst>
                <a:path w="4117975" h="4430395">
                  <a:moveTo>
                    <a:pt x="0" y="0"/>
                  </a:moveTo>
                  <a:lnTo>
                    <a:pt x="4117467" y="0"/>
                  </a:lnTo>
                </a:path>
                <a:path w="4117975" h="4430395">
                  <a:moveTo>
                    <a:pt x="0" y="1107566"/>
                  </a:moveTo>
                  <a:lnTo>
                    <a:pt x="4117467" y="1107566"/>
                  </a:lnTo>
                </a:path>
                <a:path w="4117975" h="4430395">
                  <a:moveTo>
                    <a:pt x="0" y="2215006"/>
                  </a:moveTo>
                  <a:lnTo>
                    <a:pt x="4117467" y="2215006"/>
                  </a:lnTo>
                </a:path>
                <a:path w="4117975" h="4430395">
                  <a:moveTo>
                    <a:pt x="0" y="3322447"/>
                  </a:moveTo>
                  <a:lnTo>
                    <a:pt x="4117467" y="3322447"/>
                  </a:lnTo>
                </a:path>
                <a:path w="4117975" h="4430395">
                  <a:moveTo>
                    <a:pt x="0" y="4430014"/>
                  </a:moveTo>
                  <a:lnTo>
                    <a:pt x="4117467" y="4430014"/>
                  </a:lnTo>
                </a:path>
              </a:pathLst>
            </a:custGeom>
            <a:ln w="1905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7615173" y="666749"/>
            <a:ext cx="3826510" cy="5186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60" b="1">
                <a:latin typeface="Trebuchet MS"/>
                <a:cs typeface="Trebuchet MS"/>
              </a:rPr>
              <a:t>Business</a:t>
            </a:r>
            <a:r>
              <a:rPr dirty="0" sz="2500" spc="-225" b="1">
                <a:latin typeface="Trebuchet MS"/>
                <a:cs typeface="Trebuchet MS"/>
              </a:rPr>
              <a:t> </a:t>
            </a:r>
            <a:r>
              <a:rPr dirty="0" sz="2500" spc="-10" b="1">
                <a:latin typeface="Trebuchet MS"/>
                <a:cs typeface="Trebuchet MS"/>
              </a:rPr>
              <a:t>Value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2500">
              <a:latin typeface="Trebuchet MS"/>
              <a:cs typeface="Trebuchet MS"/>
            </a:endParaRPr>
          </a:p>
          <a:p>
            <a:pPr marL="12700" marR="5080">
              <a:lnSpc>
                <a:spcPts val="2750"/>
              </a:lnSpc>
            </a:pPr>
            <a:r>
              <a:rPr dirty="0" sz="2500" spc="-25">
                <a:latin typeface="Trebuchet MS"/>
                <a:cs typeface="Trebuchet MS"/>
              </a:rPr>
              <a:t>Guide</a:t>
            </a:r>
            <a:r>
              <a:rPr dirty="0" sz="2500" spc="-180">
                <a:latin typeface="Trebuchet MS"/>
                <a:cs typeface="Trebuchet MS"/>
              </a:rPr>
              <a:t> </a:t>
            </a:r>
            <a:r>
              <a:rPr dirty="0" sz="2500" spc="-60">
                <a:latin typeface="Trebuchet MS"/>
                <a:cs typeface="Trebuchet MS"/>
              </a:rPr>
              <a:t>investment</a:t>
            </a:r>
            <a:r>
              <a:rPr dirty="0" sz="2500" spc="-190">
                <a:latin typeface="Trebuchet MS"/>
                <a:cs typeface="Trebuchet MS"/>
              </a:rPr>
              <a:t> </a:t>
            </a:r>
            <a:r>
              <a:rPr dirty="0" sz="2500" spc="-10">
                <a:latin typeface="Trebuchet MS"/>
                <a:cs typeface="Trebuchet MS"/>
              </a:rPr>
              <a:t>decisions </a:t>
            </a:r>
            <a:r>
              <a:rPr dirty="0" sz="2500" spc="-60">
                <a:latin typeface="Trebuchet MS"/>
                <a:cs typeface="Trebuchet MS"/>
              </a:rPr>
              <a:t>in</a:t>
            </a:r>
            <a:r>
              <a:rPr dirty="0" sz="2500" spc="-225">
                <a:latin typeface="Trebuchet MS"/>
                <a:cs typeface="Trebuchet MS"/>
              </a:rPr>
              <a:t> </a:t>
            </a:r>
            <a:r>
              <a:rPr dirty="0" sz="2500" spc="-100">
                <a:latin typeface="Trebuchet MS"/>
                <a:cs typeface="Trebuchet MS"/>
              </a:rPr>
              <a:t>film</a:t>
            </a:r>
            <a:r>
              <a:rPr dirty="0" sz="2500" spc="-225">
                <a:latin typeface="Trebuchet MS"/>
                <a:cs typeface="Trebuchet MS"/>
              </a:rPr>
              <a:t> </a:t>
            </a:r>
            <a:r>
              <a:rPr dirty="0" sz="2500" spc="-10">
                <a:latin typeface="Trebuchet MS"/>
                <a:cs typeface="Trebuchet MS"/>
              </a:rPr>
              <a:t>production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2500" spc="-65">
                <a:latin typeface="Trebuchet MS"/>
                <a:cs typeface="Trebuchet MS"/>
              </a:rPr>
              <a:t>Optimize</a:t>
            </a:r>
            <a:r>
              <a:rPr dirty="0" sz="2500" spc="-170">
                <a:latin typeface="Trebuchet MS"/>
                <a:cs typeface="Trebuchet MS"/>
              </a:rPr>
              <a:t> </a:t>
            </a:r>
            <a:r>
              <a:rPr dirty="0" sz="2500" spc="-55">
                <a:latin typeface="Trebuchet MS"/>
                <a:cs typeface="Trebuchet MS"/>
              </a:rPr>
              <a:t>budget</a:t>
            </a:r>
            <a:r>
              <a:rPr dirty="0" sz="2500" spc="-175">
                <a:latin typeface="Trebuchet MS"/>
                <a:cs typeface="Trebuchet MS"/>
              </a:rPr>
              <a:t> </a:t>
            </a:r>
            <a:r>
              <a:rPr dirty="0" sz="2500" spc="-10">
                <a:latin typeface="Trebuchet MS"/>
                <a:cs typeface="Trebuchet MS"/>
              </a:rPr>
              <a:t>allocation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2500">
              <a:latin typeface="Trebuchet MS"/>
              <a:cs typeface="Trebuchet MS"/>
            </a:endParaRPr>
          </a:p>
          <a:p>
            <a:pPr marL="12700" marR="850900">
              <a:lnSpc>
                <a:spcPts val="2750"/>
              </a:lnSpc>
            </a:pPr>
            <a:r>
              <a:rPr dirty="0" sz="2500" spc="-25">
                <a:latin typeface="Trebuchet MS"/>
                <a:cs typeface="Trebuchet MS"/>
              </a:rPr>
              <a:t>Understand</a:t>
            </a:r>
            <a:r>
              <a:rPr dirty="0" sz="2500" spc="-170">
                <a:latin typeface="Trebuchet MS"/>
                <a:cs typeface="Trebuchet MS"/>
              </a:rPr>
              <a:t> </a:t>
            </a:r>
            <a:r>
              <a:rPr dirty="0" sz="2500" spc="-10">
                <a:latin typeface="Trebuchet MS"/>
                <a:cs typeface="Trebuchet MS"/>
              </a:rPr>
              <a:t>audience preferences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2500">
              <a:latin typeface="Trebuchet MS"/>
              <a:cs typeface="Trebuchet MS"/>
            </a:endParaRPr>
          </a:p>
          <a:p>
            <a:pPr marL="12700" marR="367030">
              <a:lnSpc>
                <a:spcPts val="2750"/>
              </a:lnSpc>
            </a:pPr>
            <a:r>
              <a:rPr dirty="0" sz="2500" spc="-90">
                <a:latin typeface="Trebuchet MS"/>
                <a:cs typeface="Trebuchet MS"/>
              </a:rPr>
              <a:t>Identify</a:t>
            </a:r>
            <a:r>
              <a:rPr dirty="0" sz="2500" spc="-200">
                <a:latin typeface="Trebuchet MS"/>
                <a:cs typeface="Trebuchet MS"/>
              </a:rPr>
              <a:t> </a:t>
            </a:r>
            <a:r>
              <a:rPr dirty="0" sz="2500" spc="-85">
                <a:latin typeface="Trebuchet MS"/>
                <a:cs typeface="Trebuchet MS"/>
              </a:rPr>
              <a:t>profitable</a:t>
            </a:r>
            <a:r>
              <a:rPr dirty="0" sz="2500" spc="-195">
                <a:latin typeface="Trebuchet MS"/>
                <a:cs typeface="Trebuchet MS"/>
              </a:rPr>
              <a:t> </a:t>
            </a:r>
            <a:r>
              <a:rPr dirty="0" sz="2500" spc="-55">
                <a:latin typeface="Trebuchet MS"/>
                <a:cs typeface="Trebuchet MS"/>
              </a:rPr>
              <a:t>market </a:t>
            </a:r>
            <a:r>
              <a:rPr dirty="0" sz="2500" spc="-10">
                <a:latin typeface="Trebuchet MS"/>
                <a:cs typeface="Trebuchet MS"/>
              </a:rPr>
              <a:t>segments</a:t>
            </a:r>
            <a:endParaRPr sz="2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167504" cy="6858000"/>
          </a:xfrm>
          <a:custGeom>
            <a:avLst/>
            <a:gdLst/>
            <a:ahLst/>
            <a:cxnLst/>
            <a:rect l="l" t="t" r="r" b="b"/>
            <a:pathLst>
              <a:path w="4167504" h="6858000">
                <a:moveTo>
                  <a:pt x="2259583" y="0"/>
                </a:moveTo>
                <a:lnTo>
                  <a:pt x="0" y="0"/>
                </a:lnTo>
                <a:lnTo>
                  <a:pt x="0" y="6857999"/>
                </a:lnTo>
                <a:lnTo>
                  <a:pt x="2259583" y="6857999"/>
                </a:lnTo>
                <a:lnTo>
                  <a:pt x="2387853" y="6775778"/>
                </a:lnTo>
                <a:lnTo>
                  <a:pt x="2427444" y="6748686"/>
                </a:lnTo>
                <a:lnTo>
                  <a:pt x="2466696" y="6721137"/>
                </a:lnTo>
                <a:lnTo>
                  <a:pt x="2505604" y="6693136"/>
                </a:lnTo>
                <a:lnTo>
                  <a:pt x="2544164" y="6664686"/>
                </a:lnTo>
                <a:lnTo>
                  <a:pt x="2582372" y="6635792"/>
                </a:lnTo>
                <a:lnTo>
                  <a:pt x="2620225" y="6606457"/>
                </a:lnTo>
                <a:lnTo>
                  <a:pt x="2657719" y="6576685"/>
                </a:lnTo>
                <a:lnTo>
                  <a:pt x="2694851" y="6546479"/>
                </a:lnTo>
                <a:lnTo>
                  <a:pt x="2731615" y="6515844"/>
                </a:lnTo>
                <a:lnTo>
                  <a:pt x="2768009" y="6484784"/>
                </a:lnTo>
                <a:lnTo>
                  <a:pt x="2804028" y="6453301"/>
                </a:lnTo>
                <a:lnTo>
                  <a:pt x="2839669" y="6421401"/>
                </a:lnTo>
                <a:lnTo>
                  <a:pt x="2874928" y="6389086"/>
                </a:lnTo>
                <a:lnTo>
                  <a:pt x="2909802" y="6356362"/>
                </a:lnTo>
                <a:lnTo>
                  <a:pt x="2944285" y="6323230"/>
                </a:lnTo>
                <a:lnTo>
                  <a:pt x="2978375" y="6289696"/>
                </a:lnTo>
                <a:lnTo>
                  <a:pt x="3012068" y="6255763"/>
                </a:lnTo>
                <a:lnTo>
                  <a:pt x="3045360" y="6221435"/>
                </a:lnTo>
                <a:lnTo>
                  <a:pt x="3078246" y="6186716"/>
                </a:lnTo>
                <a:lnTo>
                  <a:pt x="3110724" y="6151609"/>
                </a:lnTo>
                <a:lnTo>
                  <a:pt x="3142789" y="6116118"/>
                </a:lnTo>
                <a:lnTo>
                  <a:pt x="3174438" y="6080248"/>
                </a:lnTo>
                <a:lnTo>
                  <a:pt x="3205667" y="6044002"/>
                </a:lnTo>
                <a:lnTo>
                  <a:pt x="3236471" y="6007384"/>
                </a:lnTo>
                <a:lnTo>
                  <a:pt x="3266848" y="5970397"/>
                </a:lnTo>
                <a:lnTo>
                  <a:pt x="3296793" y="5933046"/>
                </a:lnTo>
                <a:lnTo>
                  <a:pt x="3326303" y="5895333"/>
                </a:lnTo>
                <a:lnTo>
                  <a:pt x="3355373" y="5857265"/>
                </a:lnTo>
                <a:lnTo>
                  <a:pt x="3384000" y="5818842"/>
                </a:lnTo>
                <a:lnTo>
                  <a:pt x="3412180" y="5780071"/>
                </a:lnTo>
                <a:lnTo>
                  <a:pt x="3439909" y="5740954"/>
                </a:lnTo>
                <a:lnTo>
                  <a:pt x="3467184" y="5701496"/>
                </a:lnTo>
                <a:lnTo>
                  <a:pt x="3494000" y="5661700"/>
                </a:lnTo>
                <a:lnTo>
                  <a:pt x="3520354" y="5621569"/>
                </a:lnTo>
                <a:lnTo>
                  <a:pt x="3546242" y="5581109"/>
                </a:lnTo>
                <a:lnTo>
                  <a:pt x="3571660" y="5540322"/>
                </a:lnTo>
                <a:lnTo>
                  <a:pt x="3596605" y="5499213"/>
                </a:lnTo>
                <a:lnTo>
                  <a:pt x="3621072" y="5457784"/>
                </a:lnTo>
                <a:lnTo>
                  <a:pt x="3645058" y="5416041"/>
                </a:lnTo>
                <a:lnTo>
                  <a:pt x="3668558" y="5373987"/>
                </a:lnTo>
                <a:lnTo>
                  <a:pt x="3691570" y="5331626"/>
                </a:lnTo>
                <a:lnTo>
                  <a:pt x="3714088" y="5288961"/>
                </a:lnTo>
                <a:lnTo>
                  <a:pt x="3736110" y="5245996"/>
                </a:lnTo>
                <a:lnTo>
                  <a:pt x="3757632" y="5202736"/>
                </a:lnTo>
                <a:lnTo>
                  <a:pt x="3778650" y="5159183"/>
                </a:lnTo>
                <a:lnTo>
                  <a:pt x="3799159" y="5115342"/>
                </a:lnTo>
                <a:lnTo>
                  <a:pt x="3819157" y="5071217"/>
                </a:lnTo>
                <a:lnTo>
                  <a:pt x="3838639" y="5026811"/>
                </a:lnTo>
                <a:lnTo>
                  <a:pt x="3857601" y="4982129"/>
                </a:lnTo>
                <a:lnTo>
                  <a:pt x="3876040" y="4937174"/>
                </a:lnTo>
                <a:lnTo>
                  <a:pt x="3893952" y="4891949"/>
                </a:lnTo>
                <a:lnTo>
                  <a:pt x="3911333" y="4846459"/>
                </a:lnTo>
                <a:lnTo>
                  <a:pt x="3928179" y="4800708"/>
                </a:lnTo>
                <a:lnTo>
                  <a:pt x="3944487" y="4754699"/>
                </a:lnTo>
                <a:lnTo>
                  <a:pt x="3960252" y="4708436"/>
                </a:lnTo>
                <a:lnTo>
                  <a:pt x="3975471" y="4661923"/>
                </a:lnTo>
                <a:lnTo>
                  <a:pt x="3990140" y="4615164"/>
                </a:lnTo>
                <a:lnTo>
                  <a:pt x="4004255" y="4568162"/>
                </a:lnTo>
                <a:lnTo>
                  <a:pt x="4017812" y="4520922"/>
                </a:lnTo>
                <a:lnTo>
                  <a:pt x="4030808" y="4473447"/>
                </a:lnTo>
                <a:lnTo>
                  <a:pt x="4043238" y="4425741"/>
                </a:lnTo>
                <a:lnTo>
                  <a:pt x="4055100" y="4377808"/>
                </a:lnTo>
                <a:lnTo>
                  <a:pt x="4066388" y="4329652"/>
                </a:lnTo>
                <a:lnTo>
                  <a:pt x="4077100" y="4281276"/>
                </a:lnTo>
                <a:lnTo>
                  <a:pt x="4087231" y="4232684"/>
                </a:lnTo>
                <a:lnTo>
                  <a:pt x="4096777" y="4183881"/>
                </a:lnTo>
                <a:lnTo>
                  <a:pt x="4105736" y="4134870"/>
                </a:lnTo>
                <a:lnTo>
                  <a:pt x="4114102" y="4085654"/>
                </a:lnTo>
                <a:lnTo>
                  <a:pt x="4121872" y="4036238"/>
                </a:lnTo>
                <a:lnTo>
                  <a:pt x="4129043" y="3986625"/>
                </a:lnTo>
                <a:lnTo>
                  <a:pt x="4135610" y="3936819"/>
                </a:lnTo>
                <a:lnTo>
                  <a:pt x="4141570" y="3886825"/>
                </a:lnTo>
                <a:lnTo>
                  <a:pt x="4146919" y="3836645"/>
                </a:lnTo>
                <a:lnTo>
                  <a:pt x="4151653" y="3786284"/>
                </a:lnTo>
                <a:lnTo>
                  <a:pt x="4155768" y="3735745"/>
                </a:lnTo>
                <a:lnTo>
                  <a:pt x="4159260" y="3685033"/>
                </a:lnTo>
                <a:lnTo>
                  <a:pt x="4162126" y="3634151"/>
                </a:lnTo>
                <a:lnTo>
                  <a:pt x="4164362" y="3583103"/>
                </a:lnTo>
                <a:lnTo>
                  <a:pt x="4165964" y="3531892"/>
                </a:lnTo>
                <a:lnTo>
                  <a:pt x="4166927" y="3480523"/>
                </a:lnTo>
                <a:lnTo>
                  <a:pt x="4167250" y="3429000"/>
                </a:lnTo>
                <a:lnTo>
                  <a:pt x="4166927" y="3377476"/>
                </a:lnTo>
                <a:lnTo>
                  <a:pt x="4165964" y="3326107"/>
                </a:lnTo>
                <a:lnTo>
                  <a:pt x="4164362" y="3274897"/>
                </a:lnTo>
                <a:lnTo>
                  <a:pt x="4162126" y="3223849"/>
                </a:lnTo>
                <a:lnTo>
                  <a:pt x="4159260" y="3172967"/>
                </a:lnTo>
                <a:lnTo>
                  <a:pt x="4155768" y="3122255"/>
                </a:lnTo>
                <a:lnTo>
                  <a:pt x="4151653" y="3071716"/>
                </a:lnTo>
                <a:lnTo>
                  <a:pt x="4146919" y="3021356"/>
                </a:lnTo>
                <a:lnTo>
                  <a:pt x="4141570" y="2971176"/>
                </a:lnTo>
                <a:lnTo>
                  <a:pt x="4135610" y="2921182"/>
                </a:lnTo>
                <a:lnTo>
                  <a:pt x="4129043" y="2871377"/>
                </a:lnTo>
                <a:lnTo>
                  <a:pt x="4121872" y="2821765"/>
                </a:lnTo>
                <a:lnTo>
                  <a:pt x="4114102" y="2772349"/>
                </a:lnTo>
                <a:lnTo>
                  <a:pt x="4105736" y="2723134"/>
                </a:lnTo>
                <a:lnTo>
                  <a:pt x="4096777" y="2674123"/>
                </a:lnTo>
                <a:lnTo>
                  <a:pt x="4087231" y="2625320"/>
                </a:lnTo>
                <a:lnTo>
                  <a:pt x="4077100" y="2576729"/>
                </a:lnTo>
                <a:lnTo>
                  <a:pt x="4066388" y="2528354"/>
                </a:lnTo>
                <a:lnTo>
                  <a:pt x="4055100" y="2480198"/>
                </a:lnTo>
                <a:lnTo>
                  <a:pt x="4043238" y="2432266"/>
                </a:lnTo>
                <a:lnTo>
                  <a:pt x="4030808" y="2384560"/>
                </a:lnTo>
                <a:lnTo>
                  <a:pt x="4017812" y="2337086"/>
                </a:lnTo>
                <a:lnTo>
                  <a:pt x="4004255" y="2289846"/>
                </a:lnTo>
                <a:lnTo>
                  <a:pt x="3990140" y="2242846"/>
                </a:lnTo>
                <a:lnTo>
                  <a:pt x="3975471" y="2196087"/>
                </a:lnTo>
                <a:lnTo>
                  <a:pt x="3960252" y="2149575"/>
                </a:lnTo>
                <a:lnTo>
                  <a:pt x="3944487" y="2103312"/>
                </a:lnTo>
                <a:lnTo>
                  <a:pt x="3928179" y="2057304"/>
                </a:lnTo>
                <a:lnTo>
                  <a:pt x="3911333" y="2011553"/>
                </a:lnTo>
                <a:lnTo>
                  <a:pt x="3893952" y="1966064"/>
                </a:lnTo>
                <a:lnTo>
                  <a:pt x="3876040" y="1920840"/>
                </a:lnTo>
                <a:lnTo>
                  <a:pt x="3857601" y="1875885"/>
                </a:lnTo>
                <a:lnTo>
                  <a:pt x="3838639" y="1831203"/>
                </a:lnTo>
                <a:lnTo>
                  <a:pt x="3819157" y="1786797"/>
                </a:lnTo>
                <a:lnTo>
                  <a:pt x="3799159" y="1742673"/>
                </a:lnTo>
                <a:lnTo>
                  <a:pt x="3778650" y="1698832"/>
                </a:lnTo>
                <a:lnTo>
                  <a:pt x="3757632" y="1655280"/>
                </a:lnTo>
                <a:lnTo>
                  <a:pt x="3736110" y="1612020"/>
                </a:lnTo>
                <a:lnTo>
                  <a:pt x="3714088" y="1569055"/>
                </a:lnTo>
                <a:lnTo>
                  <a:pt x="3691570" y="1526391"/>
                </a:lnTo>
                <a:lnTo>
                  <a:pt x="3668558" y="1484029"/>
                </a:lnTo>
                <a:lnTo>
                  <a:pt x="3645058" y="1441975"/>
                </a:lnTo>
                <a:lnTo>
                  <a:pt x="3621072" y="1400232"/>
                </a:lnTo>
                <a:lnTo>
                  <a:pt x="3596605" y="1358804"/>
                </a:lnTo>
                <a:lnTo>
                  <a:pt x="3571660" y="1317694"/>
                </a:lnTo>
                <a:lnTo>
                  <a:pt x="3546242" y="1276907"/>
                </a:lnTo>
                <a:lnTo>
                  <a:pt x="3520354" y="1236446"/>
                </a:lnTo>
                <a:lnTo>
                  <a:pt x="3494000" y="1196316"/>
                </a:lnTo>
                <a:lnTo>
                  <a:pt x="3467184" y="1156519"/>
                </a:lnTo>
                <a:lnTo>
                  <a:pt x="3439909" y="1117060"/>
                </a:lnTo>
                <a:lnTo>
                  <a:pt x="3412180" y="1077943"/>
                </a:lnTo>
                <a:lnTo>
                  <a:pt x="3384000" y="1039171"/>
                </a:lnTo>
                <a:lnTo>
                  <a:pt x="3355373" y="1000748"/>
                </a:lnTo>
                <a:lnTo>
                  <a:pt x="3326303" y="962678"/>
                </a:lnTo>
                <a:lnTo>
                  <a:pt x="3296793" y="924965"/>
                </a:lnTo>
                <a:lnTo>
                  <a:pt x="3266848" y="887613"/>
                </a:lnTo>
                <a:lnTo>
                  <a:pt x="3236471" y="850625"/>
                </a:lnTo>
                <a:lnTo>
                  <a:pt x="3205667" y="814006"/>
                </a:lnTo>
                <a:lnTo>
                  <a:pt x="3174438" y="777758"/>
                </a:lnTo>
                <a:lnTo>
                  <a:pt x="3142789" y="741886"/>
                </a:lnTo>
                <a:lnTo>
                  <a:pt x="3110724" y="706395"/>
                </a:lnTo>
                <a:lnTo>
                  <a:pt x="3078246" y="671286"/>
                </a:lnTo>
                <a:lnTo>
                  <a:pt x="3045360" y="636565"/>
                </a:lnTo>
                <a:lnTo>
                  <a:pt x="3012068" y="602235"/>
                </a:lnTo>
                <a:lnTo>
                  <a:pt x="2978375" y="568300"/>
                </a:lnTo>
                <a:lnTo>
                  <a:pt x="2944285" y="534764"/>
                </a:lnTo>
                <a:lnTo>
                  <a:pt x="2909802" y="501631"/>
                </a:lnTo>
                <a:lnTo>
                  <a:pt x="2874928" y="468903"/>
                </a:lnTo>
                <a:lnTo>
                  <a:pt x="2839669" y="436586"/>
                </a:lnTo>
                <a:lnTo>
                  <a:pt x="2804028" y="404684"/>
                </a:lnTo>
                <a:lnTo>
                  <a:pt x="2768009" y="373198"/>
                </a:lnTo>
                <a:lnTo>
                  <a:pt x="2731615" y="342135"/>
                </a:lnTo>
                <a:lnTo>
                  <a:pt x="2694851" y="311497"/>
                </a:lnTo>
                <a:lnTo>
                  <a:pt x="2657719" y="281288"/>
                </a:lnTo>
                <a:lnTo>
                  <a:pt x="2620225" y="251513"/>
                </a:lnTo>
                <a:lnTo>
                  <a:pt x="2582372" y="222174"/>
                </a:lnTo>
                <a:lnTo>
                  <a:pt x="2544164" y="193276"/>
                </a:lnTo>
                <a:lnTo>
                  <a:pt x="2505604" y="164823"/>
                </a:lnTo>
                <a:lnTo>
                  <a:pt x="2466696" y="136818"/>
                </a:lnTo>
                <a:lnTo>
                  <a:pt x="2427444" y="109265"/>
                </a:lnTo>
                <a:lnTo>
                  <a:pt x="2387853" y="82169"/>
                </a:lnTo>
                <a:lnTo>
                  <a:pt x="2259583" y="0"/>
                </a:lnTo>
                <a:close/>
              </a:path>
            </a:pathLst>
          </a:custGeom>
          <a:solidFill>
            <a:srgbClr val="E970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765759" y="2660142"/>
            <a:ext cx="2452370" cy="130048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 sz="4400" spc="-340" b="1">
                <a:solidFill>
                  <a:srgbClr val="FFFFFF"/>
                </a:solidFill>
                <a:latin typeface="Trebuchet MS"/>
                <a:cs typeface="Trebuchet MS"/>
              </a:rPr>
              <a:t>3.</a:t>
            </a:r>
            <a:r>
              <a:rPr dirty="0" sz="4400" spc="-484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400" spc="-114" b="1">
                <a:solidFill>
                  <a:srgbClr val="FFFFFF"/>
                </a:solidFill>
                <a:latin typeface="Trebuchet MS"/>
                <a:cs typeface="Trebuchet MS"/>
              </a:rPr>
              <a:t>Dataset </a:t>
            </a:r>
            <a:r>
              <a:rPr dirty="0" sz="4400" spc="-110" b="1">
                <a:solidFill>
                  <a:srgbClr val="FFFFFF"/>
                </a:solidFill>
                <a:latin typeface="Trebuchet MS"/>
                <a:cs typeface="Trebuchet MS"/>
              </a:rPr>
              <a:t>Overview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592056" y="4497196"/>
            <a:ext cx="2042160" cy="2042160"/>
          </a:xfrm>
          <a:custGeom>
            <a:avLst/>
            <a:gdLst/>
            <a:ahLst/>
            <a:cxnLst/>
            <a:rect l="l" t="t" r="r" b="b"/>
            <a:pathLst>
              <a:path w="2042159" h="2042159">
                <a:moveTo>
                  <a:pt x="0" y="2041715"/>
                </a:moveTo>
                <a:lnTo>
                  <a:pt x="48194" y="2041157"/>
                </a:lnTo>
                <a:lnTo>
                  <a:pt x="96115" y="2039493"/>
                </a:lnTo>
                <a:lnTo>
                  <a:pt x="143749" y="2036733"/>
                </a:lnTo>
                <a:lnTo>
                  <a:pt x="191086" y="2032891"/>
                </a:lnTo>
                <a:lnTo>
                  <a:pt x="238112" y="2027979"/>
                </a:lnTo>
                <a:lnTo>
                  <a:pt x="284816" y="2022009"/>
                </a:lnTo>
                <a:lnTo>
                  <a:pt x="331184" y="2014992"/>
                </a:lnTo>
                <a:lnTo>
                  <a:pt x="377205" y="2006943"/>
                </a:lnTo>
                <a:lnTo>
                  <a:pt x="422867" y="1997872"/>
                </a:lnTo>
                <a:lnTo>
                  <a:pt x="468157" y="1987792"/>
                </a:lnTo>
                <a:lnTo>
                  <a:pt x="513064" y="1976715"/>
                </a:lnTo>
                <a:lnTo>
                  <a:pt x="557573" y="1964654"/>
                </a:lnTo>
                <a:lnTo>
                  <a:pt x="601675" y="1951620"/>
                </a:lnTo>
                <a:lnTo>
                  <a:pt x="645356" y="1937627"/>
                </a:lnTo>
                <a:lnTo>
                  <a:pt x="688603" y="1922686"/>
                </a:lnTo>
                <a:lnTo>
                  <a:pt x="731406" y="1906809"/>
                </a:lnTo>
                <a:lnTo>
                  <a:pt x="773751" y="1890009"/>
                </a:lnTo>
                <a:lnTo>
                  <a:pt x="815626" y="1872298"/>
                </a:lnTo>
                <a:lnTo>
                  <a:pt x="857019" y="1853689"/>
                </a:lnTo>
                <a:lnTo>
                  <a:pt x="897918" y="1834193"/>
                </a:lnTo>
                <a:lnTo>
                  <a:pt x="938310" y="1813822"/>
                </a:lnTo>
                <a:lnTo>
                  <a:pt x="978183" y="1792590"/>
                </a:lnTo>
                <a:lnTo>
                  <a:pt x="1017526" y="1770508"/>
                </a:lnTo>
                <a:lnTo>
                  <a:pt x="1056325" y="1747589"/>
                </a:lnTo>
                <a:lnTo>
                  <a:pt x="1094568" y="1723844"/>
                </a:lnTo>
                <a:lnTo>
                  <a:pt x="1132244" y="1699287"/>
                </a:lnTo>
                <a:lnTo>
                  <a:pt x="1169340" y="1673929"/>
                </a:lnTo>
                <a:lnTo>
                  <a:pt x="1205843" y="1647782"/>
                </a:lnTo>
                <a:lnTo>
                  <a:pt x="1241742" y="1620859"/>
                </a:lnTo>
                <a:lnTo>
                  <a:pt x="1277024" y="1593173"/>
                </a:lnTo>
                <a:lnTo>
                  <a:pt x="1311677" y="1564735"/>
                </a:lnTo>
                <a:lnTo>
                  <a:pt x="1345688" y="1535557"/>
                </a:lnTo>
                <a:lnTo>
                  <a:pt x="1379046" y="1505652"/>
                </a:lnTo>
                <a:lnTo>
                  <a:pt x="1411738" y="1475032"/>
                </a:lnTo>
                <a:lnTo>
                  <a:pt x="1443751" y="1443710"/>
                </a:lnTo>
                <a:lnTo>
                  <a:pt x="1475075" y="1411697"/>
                </a:lnTo>
                <a:lnTo>
                  <a:pt x="1505696" y="1379007"/>
                </a:lnTo>
                <a:lnTo>
                  <a:pt x="1535601" y="1345650"/>
                </a:lnTo>
                <a:lnTo>
                  <a:pt x="1564780" y="1311640"/>
                </a:lnTo>
                <a:lnTo>
                  <a:pt x="1593219" y="1276988"/>
                </a:lnTo>
                <a:lnTo>
                  <a:pt x="1620907" y="1241707"/>
                </a:lnTo>
                <a:lnTo>
                  <a:pt x="1647831" y="1205810"/>
                </a:lnTo>
                <a:lnTo>
                  <a:pt x="1673978" y="1169308"/>
                </a:lnTo>
                <a:lnTo>
                  <a:pt x="1699337" y="1132213"/>
                </a:lnTo>
                <a:lnTo>
                  <a:pt x="1723896" y="1094539"/>
                </a:lnTo>
                <a:lnTo>
                  <a:pt x="1747641" y="1056296"/>
                </a:lnTo>
                <a:lnTo>
                  <a:pt x="1770561" y="1017498"/>
                </a:lnTo>
                <a:lnTo>
                  <a:pt x="1792644" y="978157"/>
                </a:lnTo>
                <a:lnTo>
                  <a:pt x="1813877" y="938285"/>
                </a:lnTo>
                <a:lnTo>
                  <a:pt x="1834248" y="897894"/>
                </a:lnTo>
                <a:lnTo>
                  <a:pt x="1853745" y="856996"/>
                </a:lnTo>
                <a:lnTo>
                  <a:pt x="1872355" y="815604"/>
                </a:lnTo>
                <a:lnTo>
                  <a:pt x="1890067" y="773731"/>
                </a:lnTo>
                <a:lnTo>
                  <a:pt x="1906867" y="731387"/>
                </a:lnTo>
                <a:lnTo>
                  <a:pt x="1922744" y="688586"/>
                </a:lnTo>
                <a:lnTo>
                  <a:pt x="1937686" y="645339"/>
                </a:lnTo>
                <a:lnTo>
                  <a:pt x="1951680" y="601660"/>
                </a:lnTo>
                <a:lnTo>
                  <a:pt x="1964714" y="557560"/>
                </a:lnTo>
                <a:lnTo>
                  <a:pt x="1976776" y="513051"/>
                </a:lnTo>
                <a:lnTo>
                  <a:pt x="1987853" y="468146"/>
                </a:lnTo>
                <a:lnTo>
                  <a:pt x="1997933" y="422857"/>
                </a:lnTo>
                <a:lnTo>
                  <a:pt x="2007005" y="377196"/>
                </a:lnTo>
                <a:lnTo>
                  <a:pt x="2015055" y="331176"/>
                </a:lnTo>
                <a:lnTo>
                  <a:pt x="2022071" y="284809"/>
                </a:lnTo>
                <a:lnTo>
                  <a:pt x="2028042" y="238107"/>
                </a:lnTo>
                <a:lnTo>
                  <a:pt x="2032954" y="191082"/>
                </a:lnTo>
                <a:lnTo>
                  <a:pt x="2036797" y="143746"/>
                </a:lnTo>
                <a:lnTo>
                  <a:pt x="2039556" y="96112"/>
                </a:lnTo>
                <a:lnTo>
                  <a:pt x="2041221" y="48193"/>
                </a:lnTo>
                <a:lnTo>
                  <a:pt x="2041778" y="0"/>
                </a:lnTo>
              </a:path>
            </a:pathLst>
          </a:custGeom>
          <a:ln w="127000">
            <a:solidFill>
              <a:srgbClr val="0E9ED4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526660" y="565556"/>
            <a:ext cx="6650355" cy="5043805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2200" spc="-10" b="1">
                <a:latin typeface="Trebuchet MS"/>
                <a:cs typeface="Trebuchet MS"/>
              </a:rPr>
              <a:t>Source</a:t>
            </a:r>
            <a:endParaRPr sz="2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2200">
                <a:latin typeface="Trebuchet MS"/>
                <a:cs typeface="Trebuchet MS"/>
              </a:rPr>
              <a:t>TMDB</a:t>
            </a:r>
            <a:r>
              <a:rPr dirty="0" sz="2200" spc="-135">
                <a:latin typeface="Trebuchet MS"/>
                <a:cs typeface="Trebuchet MS"/>
              </a:rPr>
              <a:t> </a:t>
            </a:r>
            <a:r>
              <a:rPr dirty="0" sz="2200" spc="-20">
                <a:latin typeface="Trebuchet MS"/>
                <a:cs typeface="Trebuchet MS"/>
              </a:rPr>
              <a:t>Movie</a:t>
            </a:r>
            <a:r>
              <a:rPr dirty="0" sz="2200" spc="-95">
                <a:latin typeface="Trebuchet MS"/>
                <a:cs typeface="Trebuchet MS"/>
              </a:rPr>
              <a:t> </a:t>
            </a:r>
            <a:r>
              <a:rPr dirty="0" sz="2200" spc="-10">
                <a:latin typeface="Trebuchet MS"/>
                <a:cs typeface="Trebuchet MS"/>
              </a:rPr>
              <a:t>Dataset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3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200" spc="-20">
                <a:latin typeface="Trebuchet MS"/>
                <a:cs typeface="Trebuchet MS"/>
              </a:rPr>
              <a:t>342,267</a:t>
            </a:r>
            <a:r>
              <a:rPr dirty="0" sz="2200" spc="-180">
                <a:latin typeface="Trebuchet MS"/>
                <a:cs typeface="Trebuchet MS"/>
              </a:rPr>
              <a:t> </a:t>
            </a:r>
            <a:r>
              <a:rPr dirty="0" sz="2200" spc="-30">
                <a:latin typeface="Trebuchet MS"/>
                <a:cs typeface="Trebuchet MS"/>
              </a:rPr>
              <a:t>unique</a:t>
            </a:r>
            <a:r>
              <a:rPr dirty="0" sz="2200" spc="-170">
                <a:latin typeface="Trebuchet MS"/>
                <a:cs typeface="Trebuchet MS"/>
              </a:rPr>
              <a:t> </a:t>
            </a:r>
            <a:r>
              <a:rPr dirty="0" sz="2200" spc="-10">
                <a:latin typeface="Trebuchet MS"/>
                <a:cs typeface="Trebuchet MS"/>
              </a:rPr>
              <a:t>movies</a:t>
            </a:r>
            <a:r>
              <a:rPr dirty="0" sz="2200" spc="-155">
                <a:latin typeface="Trebuchet MS"/>
                <a:cs typeface="Trebuchet MS"/>
              </a:rPr>
              <a:t> </a:t>
            </a:r>
            <a:r>
              <a:rPr dirty="0" sz="2200" spc="-105">
                <a:latin typeface="Trebuchet MS"/>
                <a:cs typeface="Trebuchet MS"/>
              </a:rPr>
              <a:t>after</a:t>
            </a:r>
            <a:r>
              <a:rPr dirty="0" sz="2200" spc="-145">
                <a:latin typeface="Trebuchet MS"/>
                <a:cs typeface="Trebuchet MS"/>
              </a:rPr>
              <a:t> </a:t>
            </a:r>
            <a:r>
              <a:rPr dirty="0" sz="2200" spc="-10">
                <a:latin typeface="Trebuchet MS"/>
                <a:cs typeface="Trebuchet MS"/>
              </a:rPr>
              <a:t>cleaning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ts val="2510"/>
              </a:lnSpc>
              <a:spcBef>
                <a:spcPts val="74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200">
                <a:latin typeface="Trebuchet MS"/>
                <a:cs typeface="Trebuchet MS"/>
              </a:rPr>
              <a:t>20</a:t>
            </a:r>
            <a:r>
              <a:rPr dirty="0" sz="2200" spc="-175">
                <a:latin typeface="Trebuchet MS"/>
                <a:cs typeface="Trebuchet MS"/>
              </a:rPr>
              <a:t> </a:t>
            </a:r>
            <a:r>
              <a:rPr dirty="0" sz="2200" spc="-65">
                <a:latin typeface="Trebuchet MS"/>
                <a:cs typeface="Trebuchet MS"/>
              </a:rPr>
              <a:t>features</a:t>
            </a:r>
            <a:r>
              <a:rPr dirty="0" sz="2200" spc="-114">
                <a:latin typeface="Trebuchet MS"/>
                <a:cs typeface="Trebuchet MS"/>
              </a:rPr>
              <a:t> </a:t>
            </a:r>
            <a:r>
              <a:rPr dirty="0" sz="2200" spc="-40">
                <a:latin typeface="Trebuchet MS"/>
                <a:cs typeface="Trebuchet MS"/>
              </a:rPr>
              <a:t>including</a:t>
            </a:r>
            <a:r>
              <a:rPr dirty="0" sz="2200" spc="-175">
                <a:latin typeface="Trebuchet MS"/>
                <a:cs typeface="Trebuchet MS"/>
              </a:rPr>
              <a:t> </a:t>
            </a:r>
            <a:r>
              <a:rPr dirty="0" sz="2200" spc="-65">
                <a:latin typeface="Trebuchet MS"/>
                <a:cs typeface="Trebuchet MS"/>
              </a:rPr>
              <a:t>financial,</a:t>
            </a:r>
            <a:r>
              <a:rPr dirty="0" sz="2200" spc="-150">
                <a:latin typeface="Trebuchet MS"/>
                <a:cs typeface="Trebuchet MS"/>
              </a:rPr>
              <a:t> </a:t>
            </a:r>
            <a:r>
              <a:rPr dirty="0" sz="2200" spc="-70">
                <a:latin typeface="Trebuchet MS"/>
                <a:cs typeface="Trebuchet MS"/>
              </a:rPr>
              <a:t>temporal,</a:t>
            </a:r>
            <a:r>
              <a:rPr dirty="0" sz="2200" spc="-130">
                <a:latin typeface="Trebuchet MS"/>
                <a:cs typeface="Trebuchet MS"/>
              </a:rPr>
              <a:t> </a:t>
            </a:r>
            <a:r>
              <a:rPr dirty="0" sz="2200" spc="-25">
                <a:latin typeface="Trebuchet MS"/>
                <a:cs typeface="Trebuchet MS"/>
              </a:rPr>
              <a:t>and</a:t>
            </a:r>
            <a:endParaRPr sz="2200">
              <a:latin typeface="Trebuchet MS"/>
              <a:cs typeface="Trebuchet MS"/>
            </a:endParaRPr>
          </a:p>
          <a:p>
            <a:pPr marL="241300">
              <a:lnSpc>
                <a:spcPts val="2510"/>
              </a:lnSpc>
            </a:pPr>
            <a:r>
              <a:rPr dirty="0" sz="2200" spc="-55">
                <a:latin typeface="Trebuchet MS"/>
                <a:cs typeface="Trebuchet MS"/>
              </a:rPr>
              <a:t>categorical</a:t>
            </a:r>
            <a:r>
              <a:rPr dirty="0" sz="2200" spc="-95">
                <a:latin typeface="Trebuchet MS"/>
                <a:cs typeface="Trebuchet MS"/>
              </a:rPr>
              <a:t> </a:t>
            </a:r>
            <a:r>
              <a:rPr dirty="0" sz="2200" spc="-20">
                <a:latin typeface="Trebuchet MS"/>
                <a:cs typeface="Trebuchet MS"/>
              </a:rPr>
              <a:t>data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3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200" spc="-95">
                <a:latin typeface="Trebuchet MS"/>
                <a:cs typeface="Trebuchet MS"/>
              </a:rPr>
              <a:t>Time</a:t>
            </a:r>
            <a:r>
              <a:rPr dirty="0" sz="2200" spc="-180">
                <a:latin typeface="Trebuchet MS"/>
                <a:cs typeface="Trebuchet MS"/>
              </a:rPr>
              <a:t> </a:t>
            </a:r>
            <a:r>
              <a:rPr dirty="0" sz="2200">
                <a:latin typeface="Trebuchet MS"/>
                <a:cs typeface="Trebuchet MS"/>
              </a:rPr>
              <a:t>span:</a:t>
            </a:r>
            <a:r>
              <a:rPr dirty="0" sz="2200" spc="-155">
                <a:latin typeface="Trebuchet MS"/>
                <a:cs typeface="Trebuchet MS"/>
              </a:rPr>
              <a:t> </a:t>
            </a:r>
            <a:r>
              <a:rPr dirty="0" sz="2200" spc="-45">
                <a:latin typeface="Trebuchet MS"/>
                <a:cs typeface="Trebuchet MS"/>
              </a:rPr>
              <a:t>Multiple</a:t>
            </a:r>
            <a:r>
              <a:rPr dirty="0" sz="2200" spc="-180">
                <a:latin typeface="Trebuchet MS"/>
                <a:cs typeface="Trebuchet MS"/>
              </a:rPr>
              <a:t> </a:t>
            </a:r>
            <a:r>
              <a:rPr dirty="0" sz="2200">
                <a:latin typeface="Trebuchet MS"/>
                <a:cs typeface="Trebuchet MS"/>
              </a:rPr>
              <a:t>decades</a:t>
            </a:r>
            <a:r>
              <a:rPr dirty="0" sz="2200" spc="-125">
                <a:latin typeface="Trebuchet MS"/>
                <a:cs typeface="Trebuchet MS"/>
              </a:rPr>
              <a:t> </a:t>
            </a:r>
            <a:r>
              <a:rPr dirty="0" sz="2200" spc="-70">
                <a:latin typeface="Trebuchet MS"/>
                <a:cs typeface="Trebuchet MS"/>
              </a:rPr>
              <a:t>of</a:t>
            </a:r>
            <a:r>
              <a:rPr dirty="0" sz="2200" spc="-170">
                <a:latin typeface="Trebuchet MS"/>
                <a:cs typeface="Trebuchet MS"/>
              </a:rPr>
              <a:t> </a:t>
            </a:r>
            <a:r>
              <a:rPr dirty="0" sz="2200" spc="-85">
                <a:latin typeface="Trebuchet MS"/>
                <a:cs typeface="Trebuchet MS"/>
              </a:rPr>
              <a:t>film</a:t>
            </a:r>
            <a:r>
              <a:rPr dirty="0" sz="2200" spc="-170">
                <a:latin typeface="Trebuchet MS"/>
                <a:cs typeface="Trebuchet MS"/>
              </a:rPr>
              <a:t> </a:t>
            </a:r>
            <a:r>
              <a:rPr dirty="0" sz="2200" spc="-20">
                <a:latin typeface="Trebuchet MS"/>
                <a:cs typeface="Trebuchet MS"/>
              </a:rPr>
              <a:t>data</a:t>
            </a:r>
            <a:endParaRPr sz="2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2200" spc="-80" b="1">
                <a:latin typeface="Trebuchet MS"/>
                <a:cs typeface="Trebuchet MS"/>
              </a:rPr>
              <a:t>Key</a:t>
            </a:r>
            <a:r>
              <a:rPr dirty="0" sz="2200" spc="-180" b="1">
                <a:latin typeface="Trebuchet MS"/>
                <a:cs typeface="Trebuchet MS"/>
              </a:rPr>
              <a:t> </a:t>
            </a:r>
            <a:r>
              <a:rPr dirty="0" sz="2200" spc="-10" b="1">
                <a:latin typeface="Trebuchet MS"/>
                <a:cs typeface="Trebuchet MS"/>
              </a:rPr>
              <a:t>Features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200" spc="-45">
                <a:latin typeface="Trebuchet MS"/>
                <a:cs typeface="Trebuchet MS"/>
              </a:rPr>
              <a:t>Financial:</a:t>
            </a:r>
            <a:r>
              <a:rPr dirty="0" sz="2200" spc="-140">
                <a:latin typeface="Trebuchet MS"/>
                <a:cs typeface="Trebuchet MS"/>
              </a:rPr>
              <a:t> </a:t>
            </a:r>
            <a:r>
              <a:rPr dirty="0" sz="2200" spc="-60">
                <a:latin typeface="Trebuchet MS"/>
                <a:cs typeface="Trebuchet MS"/>
              </a:rPr>
              <a:t>Budget,</a:t>
            </a:r>
            <a:r>
              <a:rPr dirty="0" sz="2200" spc="-160">
                <a:latin typeface="Trebuchet MS"/>
                <a:cs typeface="Trebuchet MS"/>
              </a:rPr>
              <a:t> </a:t>
            </a:r>
            <a:r>
              <a:rPr dirty="0" sz="2200" spc="-70">
                <a:latin typeface="Trebuchet MS"/>
                <a:cs typeface="Trebuchet MS"/>
              </a:rPr>
              <a:t>Revenue,</a:t>
            </a:r>
            <a:r>
              <a:rPr dirty="0" sz="2200" spc="-105">
                <a:latin typeface="Trebuchet MS"/>
                <a:cs typeface="Trebuchet MS"/>
              </a:rPr>
              <a:t> </a:t>
            </a:r>
            <a:r>
              <a:rPr dirty="0" sz="2200" spc="-25">
                <a:latin typeface="Trebuchet MS"/>
                <a:cs typeface="Trebuchet MS"/>
              </a:rPr>
              <a:t>ROI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3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200" spc="-20">
                <a:latin typeface="Trebuchet MS"/>
                <a:cs typeface="Trebuchet MS"/>
              </a:rPr>
              <a:t>Audience</a:t>
            </a:r>
            <a:r>
              <a:rPr dirty="0" sz="2200" spc="-145">
                <a:latin typeface="Trebuchet MS"/>
                <a:cs typeface="Trebuchet MS"/>
              </a:rPr>
              <a:t> </a:t>
            </a:r>
            <a:r>
              <a:rPr dirty="0" sz="2200" spc="-55">
                <a:latin typeface="Trebuchet MS"/>
                <a:cs typeface="Trebuchet MS"/>
              </a:rPr>
              <a:t>Reception:</a:t>
            </a:r>
            <a:r>
              <a:rPr dirty="0" sz="2200" spc="-135">
                <a:latin typeface="Trebuchet MS"/>
                <a:cs typeface="Trebuchet MS"/>
              </a:rPr>
              <a:t> </a:t>
            </a:r>
            <a:r>
              <a:rPr dirty="0" sz="2200" spc="-90">
                <a:latin typeface="Trebuchet MS"/>
                <a:cs typeface="Trebuchet MS"/>
              </a:rPr>
              <a:t>Vote</a:t>
            </a:r>
            <a:r>
              <a:rPr dirty="0" sz="2200" spc="-140">
                <a:latin typeface="Trebuchet MS"/>
                <a:cs typeface="Trebuchet MS"/>
              </a:rPr>
              <a:t> </a:t>
            </a:r>
            <a:r>
              <a:rPr dirty="0" sz="2200" spc="-100">
                <a:latin typeface="Trebuchet MS"/>
                <a:cs typeface="Trebuchet MS"/>
              </a:rPr>
              <a:t>Average,</a:t>
            </a:r>
            <a:r>
              <a:rPr dirty="0" sz="2200" spc="-125">
                <a:latin typeface="Trebuchet MS"/>
                <a:cs typeface="Trebuchet MS"/>
              </a:rPr>
              <a:t> </a:t>
            </a:r>
            <a:r>
              <a:rPr dirty="0" sz="2200" spc="-90">
                <a:latin typeface="Trebuchet MS"/>
                <a:cs typeface="Trebuchet MS"/>
              </a:rPr>
              <a:t>Vote</a:t>
            </a:r>
            <a:r>
              <a:rPr dirty="0" sz="2200" spc="-150">
                <a:latin typeface="Trebuchet MS"/>
                <a:cs typeface="Trebuchet MS"/>
              </a:rPr>
              <a:t> </a:t>
            </a:r>
            <a:r>
              <a:rPr dirty="0" sz="2200" spc="-10">
                <a:latin typeface="Trebuchet MS"/>
                <a:cs typeface="Trebuchet MS"/>
              </a:rPr>
              <a:t>Count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3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200" spc="-45">
                <a:latin typeface="Trebuchet MS"/>
                <a:cs typeface="Trebuchet MS"/>
              </a:rPr>
              <a:t>Production:</a:t>
            </a:r>
            <a:r>
              <a:rPr dirty="0" sz="2200" spc="-150">
                <a:latin typeface="Trebuchet MS"/>
                <a:cs typeface="Trebuchet MS"/>
              </a:rPr>
              <a:t> </a:t>
            </a:r>
            <a:r>
              <a:rPr dirty="0" sz="2200" spc="-70">
                <a:latin typeface="Trebuchet MS"/>
                <a:cs typeface="Trebuchet MS"/>
              </a:rPr>
              <a:t>Runtime,</a:t>
            </a:r>
            <a:r>
              <a:rPr dirty="0" sz="2200" spc="-120">
                <a:latin typeface="Trebuchet MS"/>
                <a:cs typeface="Trebuchet MS"/>
              </a:rPr>
              <a:t> </a:t>
            </a:r>
            <a:r>
              <a:rPr dirty="0" sz="2200" spc="-40">
                <a:latin typeface="Trebuchet MS"/>
                <a:cs typeface="Trebuchet MS"/>
              </a:rPr>
              <a:t>Genres,</a:t>
            </a:r>
            <a:r>
              <a:rPr dirty="0" sz="2200" spc="-125">
                <a:latin typeface="Trebuchet MS"/>
                <a:cs typeface="Trebuchet MS"/>
              </a:rPr>
              <a:t> </a:t>
            </a:r>
            <a:r>
              <a:rPr dirty="0" sz="2200" spc="-35">
                <a:latin typeface="Trebuchet MS"/>
                <a:cs typeface="Trebuchet MS"/>
              </a:rPr>
              <a:t>Production</a:t>
            </a:r>
            <a:r>
              <a:rPr dirty="0" sz="2200" spc="-145">
                <a:latin typeface="Trebuchet MS"/>
                <a:cs typeface="Trebuchet MS"/>
              </a:rPr>
              <a:t> </a:t>
            </a:r>
            <a:r>
              <a:rPr dirty="0" sz="2200" spc="-10">
                <a:latin typeface="Trebuchet MS"/>
                <a:cs typeface="Trebuchet MS"/>
              </a:rPr>
              <a:t>Companies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200" spc="-105">
                <a:latin typeface="Trebuchet MS"/>
                <a:cs typeface="Trebuchet MS"/>
              </a:rPr>
              <a:t>Temporal:</a:t>
            </a:r>
            <a:r>
              <a:rPr dirty="0" sz="2200" spc="-160">
                <a:latin typeface="Trebuchet MS"/>
                <a:cs typeface="Trebuchet MS"/>
              </a:rPr>
              <a:t> </a:t>
            </a:r>
            <a:r>
              <a:rPr dirty="0" sz="2200">
                <a:latin typeface="Trebuchet MS"/>
                <a:cs typeface="Trebuchet MS"/>
              </a:rPr>
              <a:t>Release</a:t>
            </a:r>
            <a:r>
              <a:rPr dirty="0" sz="2200" spc="-140">
                <a:latin typeface="Trebuchet MS"/>
                <a:cs typeface="Trebuchet MS"/>
              </a:rPr>
              <a:t> </a:t>
            </a:r>
            <a:r>
              <a:rPr dirty="0" sz="2200" spc="-20">
                <a:latin typeface="Trebuchet MS"/>
                <a:cs typeface="Trebuchet MS"/>
              </a:rPr>
              <a:t>Dates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73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200" spc="-50">
                <a:latin typeface="Trebuchet MS"/>
                <a:cs typeface="Trebuchet MS"/>
              </a:rPr>
              <a:t>Descriptive:</a:t>
            </a:r>
            <a:r>
              <a:rPr dirty="0" sz="2200" spc="-125">
                <a:latin typeface="Trebuchet MS"/>
                <a:cs typeface="Trebuchet MS"/>
              </a:rPr>
              <a:t> </a:t>
            </a:r>
            <a:r>
              <a:rPr dirty="0" sz="2200" spc="-160">
                <a:latin typeface="Trebuchet MS"/>
                <a:cs typeface="Trebuchet MS"/>
              </a:rPr>
              <a:t>Title, </a:t>
            </a:r>
            <a:r>
              <a:rPr dirty="0" sz="2200" spc="-90">
                <a:latin typeface="Trebuchet MS"/>
                <a:cs typeface="Trebuchet MS"/>
              </a:rPr>
              <a:t>Overview,</a:t>
            </a:r>
            <a:r>
              <a:rPr dirty="0" sz="2200" spc="-114">
                <a:latin typeface="Trebuchet MS"/>
                <a:cs typeface="Trebuchet MS"/>
              </a:rPr>
              <a:t> </a:t>
            </a:r>
            <a:r>
              <a:rPr dirty="0" sz="2200" spc="-10">
                <a:latin typeface="Trebuchet MS"/>
                <a:cs typeface="Trebuchet MS"/>
              </a:rPr>
              <a:t>Keywords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00531" y="2491486"/>
            <a:ext cx="3016885" cy="118364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 spc="-330" b="1">
                <a:latin typeface="Trebuchet MS"/>
                <a:cs typeface="Trebuchet MS"/>
              </a:rPr>
              <a:t>4.</a:t>
            </a:r>
            <a:r>
              <a:rPr dirty="0" sz="4000" spc="-434" b="1">
                <a:latin typeface="Trebuchet MS"/>
                <a:cs typeface="Trebuchet MS"/>
              </a:rPr>
              <a:t> </a:t>
            </a:r>
            <a:r>
              <a:rPr dirty="0" sz="4000" spc="-210" b="1">
                <a:latin typeface="Trebuchet MS"/>
                <a:cs typeface="Trebuchet MS"/>
              </a:rPr>
              <a:t>Exploratory </a:t>
            </a:r>
            <a:r>
              <a:rPr dirty="0" sz="4000" spc="-114" b="1">
                <a:latin typeface="Trebuchet MS"/>
                <a:cs typeface="Trebuchet MS"/>
              </a:rPr>
              <a:t>Data</a:t>
            </a:r>
            <a:r>
              <a:rPr dirty="0" sz="4000" spc="-400" b="1">
                <a:latin typeface="Trebuchet MS"/>
                <a:cs typeface="Trebuchet MS"/>
              </a:rPr>
              <a:t> </a:t>
            </a:r>
            <a:r>
              <a:rPr dirty="0" sz="4000" spc="-35" b="1">
                <a:latin typeface="Trebuchet MS"/>
                <a:cs typeface="Trebuchet MS"/>
              </a:rPr>
              <a:t>Analysis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0" y="3081527"/>
            <a:ext cx="128270" cy="704215"/>
          </a:xfrm>
          <a:custGeom>
            <a:avLst/>
            <a:gdLst/>
            <a:ahLst/>
            <a:cxnLst/>
            <a:rect l="l" t="t" r="r" b="b"/>
            <a:pathLst>
              <a:path w="128270" h="704214">
                <a:moveTo>
                  <a:pt x="128016" y="0"/>
                </a:moveTo>
                <a:lnTo>
                  <a:pt x="0" y="0"/>
                </a:lnTo>
                <a:lnTo>
                  <a:pt x="0" y="704088"/>
                </a:lnTo>
                <a:lnTo>
                  <a:pt x="128016" y="704088"/>
                </a:lnTo>
                <a:lnTo>
                  <a:pt x="128016" y="0"/>
                </a:lnTo>
                <a:close/>
              </a:path>
            </a:pathLst>
          </a:custGeom>
          <a:solidFill>
            <a:srgbClr val="E970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5303520" y="364997"/>
            <a:ext cx="6364605" cy="0"/>
          </a:xfrm>
          <a:custGeom>
            <a:avLst/>
            <a:gdLst/>
            <a:ahLst/>
            <a:cxnLst/>
            <a:rect l="l" t="t" r="r" b="b"/>
            <a:pathLst>
              <a:path w="6364605" h="0">
                <a:moveTo>
                  <a:pt x="0" y="0"/>
                </a:moveTo>
                <a:lnTo>
                  <a:pt x="6364224" y="0"/>
                </a:lnTo>
              </a:path>
            </a:pathLst>
          </a:custGeom>
          <a:ln w="19050">
            <a:solidFill>
              <a:srgbClr val="E970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394452" y="394461"/>
            <a:ext cx="475488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30">
                <a:latin typeface="Trebuchet MS"/>
                <a:cs typeface="Trebuchet MS"/>
              </a:rPr>
              <a:t>Removed</a:t>
            </a:r>
            <a:r>
              <a:rPr dirty="0" sz="2700" spc="-170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unnecessary</a:t>
            </a:r>
            <a:r>
              <a:rPr dirty="0" sz="2700" spc="-175">
                <a:latin typeface="Trebuchet MS"/>
                <a:cs typeface="Trebuchet MS"/>
              </a:rPr>
              <a:t> </a:t>
            </a:r>
            <a:r>
              <a:rPr dirty="0" sz="2700" spc="35">
                <a:latin typeface="Trebuchet MS"/>
                <a:cs typeface="Trebuchet MS"/>
              </a:rPr>
              <a:t>columns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5303520" y="1359916"/>
            <a:ext cx="6364605" cy="0"/>
          </a:xfrm>
          <a:custGeom>
            <a:avLst/>
            <a:gdLst/>
            <a:ahLst/>
            <a:cxnLst/>
            <a:rect l="l" t="t" r="r" b="b"/>
            <a:pathLst>
              <a:path w="6364605" h="0">
                <a:moveTo>
                  <a:pt x="0" y="0"/>
                </a:moveTo>
                <a:lnTo>
                  <a:pt x="6364224" y="0"/>
                </a:lnTo>
              </a:path>
            </a:pathLst>
          </a:custGeom>
          <a:ln w="19050">
            <a:solidFill>
              <a:srgbClr val="186B2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394452" y="1389075"/>
            <a:ext cx="3543300" cy="4375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0">
                <a:latin typeface="Trebuchet MS"/>
                <a:cs typeface="Trebuchet MS"/>
              </a:rPr>
              <a:t>Handled</a:t>
            </a:r>
            <a:r>
              <a:rPr dirty="0" sz="2700" spc="-195" b="0">
                <a:latin typeface="Trebuchet MS"/>
                <a:cs typeface="Trebuchet MS"/>
              </a:rPr>
              <a:t> </a:t>
            </a:r>
            <a:r>
              <a:rPr dirty="0" sz="2700" b="0">
                <a:latin typeface="Trebuchet MS"/>
                <a:cs typeface="Trebuchet MS"/>
              </a:rPr>
              <a:t>missing</a:t>
            </a:r>
            <a:r>
              <a:rPr dirty="0" sz="2700" spc="-215" b="0">
                <a:latin typeface="Trebuchet MS"/>
                <a:cs typeface="Trebuchet MS"/>
              </a:rPr>
              <a:t> </a:t>
            </a:r>
            <a:r>
              <a:rPr dirty="0" sz="2700" spc="-10" b="0">
                <a:latin typeface="Trebuchet MS"/>
                <a:cs typeface="Trebuchet MS"/>
              </a:rPr>
              <a:t>values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5303520" y="2354833"/>
            <a:ext cx="6364605" cy="0"/>
          </a:xfrm>
          <a:custGeom>
            <a:avLst/>
            <a:gdLst/>
            <a:ahLst/>
            <a:cxnLst/>
            <a:rect l="l" t="t" r="r" b="b"/>
            <a:pathLst>
              <a:path w="6364605" h="0">
                <a:moveTo>
                  <a:pt x="0" y="0"/>
                </a:moveTo>
                <a:lnTo>
                  <a:pt x="6364224" y="0"/>
                </a:lnTo>
              </a:path>
            </a:pathLst>
          </a:custGeom>
          <a:ln w="19050">
            <a:solidFill>
              <a:srgbClr val="0E9E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303520" y="3349752"/>
            <a:ext cx="6364605" cy="0"/>
          </a:xfrm>
          <a:custGeom>
            <a:avLst/>
            <a:gdLst/>
            <a:ahLst/>
            <a:cxnLst/>
            <a:rect l="l" t="t" r="r" b="b"/>
            <a:pathLst>
              <a:path w="6364605" h="0">
                <a:moveTo>
                  <a:pt x="0" y="0"/>
                </a:moveTo>
                <a:lnTo>
                  <a:pt x="6364224" y="0"/>
                </a:lnTo>
              </a:path>
            </a:pathLst>
          </a:custGeom>
          <a:ln w="19050">
            <a:solidFill>
              <a:srgbClr val="9F2B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303520" y="4344670"/>
            <a:ext cx="6364605" cy="0"/>
          </a:xfrm>
          <a:custGeom>
            <a:avLst/>
            <a:gdLst/>
            <a:ahLst/>
            <a:cxnLst/>
            <a:rect l="l" t="t" r="r" b="b"/>
            <a:pathLst>
              <a:path w="6364605" h="0">
                <a:moveTo>
                  <a:pt x="0" y="0"/>
                </a:moveTo>
                <a:lnTo>
                  <a:pt x="6364224" y="0"/>
                </a:lnTo>
              </a:path>
            </a:pathLst>
          </a:custGeom>
          <a:ln w="19050">
            <a:solidFill>
              <a:srgbClr val="4EA72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303520" y="5339588"/>
            <a:ext cx="6364605" cy="0"/>
          </a:xfrm>
          <a:custGeom>
            <a:avLst/>
            <a:gdLst/>
            <a:ahLst/>
            <a:cxnLst/>
            <a:rect l="l" t="t" r="r" b="b"/>
            <a:pathLst>
              <a:path w="6364605" h="0">
                <a:moveTo>
                  <a:pt x="0" y="0"/>
                </a:moveTo>
                <a:lnTo>
                  <a:pt x="6364224" y="0"/>
                </a:lnTo>
              </a:path>
            </a:pathLst>
          </a:custGeom>
          <a:ln w="19050">
            <a:solidFill>
              <a:srgbClr val="E970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5394452" y="2384247"/>
            <a:ext cx="5638800" cy="3423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0">
                <a:latin typeface="Trebuchet MS"/>
                <a:cs typeface="Trebuchet MS"/>
              </a:rPr>
              <a:t>Standardized</a:t>
            </a:r>
            <a:r>
              <a:rPr dirty="0" sz="2700" spc="-225">
                <a:latin typeface="Trebuchet MS"/>
                <a:cs typeface="Trebuchet MS"/>
              </a:rPr>
              <a:t> </a:t>
            </a:r>
            <a:r>
              <a:rPr dirty="0" sz="2700" spc="-20">
                <a:latin typeface="Trebuchet MS"/>
                <a:cs typeface="Trebuchet MS"/>
              </a:rPr>
              <a:t>dates</a:t>
            </a:r>
            <a:endParaRPr sz="2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75"/>
              </a:spcBef>
            </a:pPr>
            <a:endParaRPr sz="2700">
              <a:latin typeface="Trebuchet MS"/>
              <a:cs typeface="Trebuchet MS"/>
            </a:endParaRPr>
          </a:p>
          <a:p>
            <a:pPr marL="12700" marR="5080">
              <a:lnSpc>
                <a:spcPts val="2980"/>
              </a:lnSpc>
              <a:spcBef>
                <a:spcPts val="5"/>
              </a:spcBef>
            </a:pPr>
            <a:r>
              <a:rPr dirty="0" sz="2700" spc="-50">
                <a:latin typeface="Trebuchet MS"/>
                <a:cs typeface="Trebuchet MS"/>
              </a:rPr>
              <a:t>Created</a:t>
            </a:r>
            <a:r>
              <a:rPr dirty="0" sz="2700" spc="-229">
                <a:latin typeface="Trebuchet MS"/>
                <a:cs typeface="Trebuchet MS"/>
              </a:rPr>
              <a:t> </a:t>
            </a:r>
            <a:r>
              <a:rPr dirty="0" sz="2700" spc="-85">
                <a:latin typeface="Trebuchet MS"/>
                <a:cs typeface="Trebuchet MS"/>
              </a:rPr>
              <a:t>derived</a:t>
            </a:r>
            <a:r>
              <a:rPr dirty="0" sz="2700" spc="-200">
                <a:latin typeface="Trebuchet MS"/>
                <a:cs typeface="Trebuchet MS"/>
              </a:rPr>
              <a:t> </a:t>
            </a:r>
            <a:r>
              <a:rPr dirty="0" sz="2700" spc="-75">
                <a:latin typeface="Trebuchet MS"/>
                <a:cs typeface="Trebuchet MS"/>
              </a:rPr>
              <a:t>features</a:t>
            </a:r>
            <a:r>
              <a:rPr dirty="0" sz="2700" spc="-229">
                <a:latin typeface="Trebuchet MS"/>
                <a:cs typeface="Trebuchet MS"/>
              </a:rPr>
              <a:t> </a:t>
            </a:r>
            <a:r>
              <a:rPr dirty="0" sz="2700" spc="-70">
                <a:latin typeface="Trebuchet MS"/>
                <a:cs typeface="Trebuchet MS"/>
              </a:rPr>
              <a:t>(ROI,</a:t>
            </a:r>
            <a:r>
              <a:rPr dirty="0" sz="2700" spc="-200">
                <a:latin typeface="Trebuchet MS"/>
                <a:cs typeface="Trebuchet MS"/>
              </a:rPr>
              <a:t> </a:t>
            </a:r>
            <a:r>
              <a:rPr dirty="0" sz="2700" spc="-10">
                <a:latin typeface="Trebuchet MS"/>
                <a:cs typeface="Trebuchet MS"/>
              </a:rPr>
              <a:t>release </a:t>
            </a:r>
            <a:r>
              <a:rPr dirty="0" sz="2700" spc="-20">
                <a:latin typeface="Trebuchet MS"/>
                <a:cs typeface="Trebuchet MS"/>
              </a:rPr>
              <a:t>year/month)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2700" spc="-30">
                <a:latin typeface="Trebuchet MS"/>
                <a:cs typeface="Trebuchet MS"/>
              </a:rPr>
              <a:t>Removed</a:t>
            </a:r>
            <a:r>
              <a:rPr dirty="0" sz="2700" spc="-200">
                <a:latin typeface="Trebuchet MS"/>
                <a:cs typeface="Trebuchet MS"/>
              </a:rPr>
              <a:t> </a:t>
            </a:r>
            <a:r>
              <a:rPr dirty="0" sz="2700" spc="-30">
                <a:latin typeface="Trebuchet MS"/>
                <a:cs typeface="Trebuchet MS"/>
              </a:rPr>
              <a:t>duplicates</a:t>
            </a:r>
            <a:r>
              <a:rPr dirty="0" sz="2700" spc="-215">
                <a:latin typeface="Trebuchet MS"/>
                <a:cs typeface="Trebuchet MS"/>
              </a:rPr>
              <a:t> </a:t>
            </a:r>
            <a:r>
              <a:rPr dirty="0" sz="2700">
                <a:latin typeface="Trebuchet MS"/>
                <a:cs typeface="Trebuchet MS"/>
              </a:rPr>
              <a:t>and</a:t>
            </a:r>
            <a:r>
              <a:rPr dirty="0" sz="2700" spc="-200">
                <a:latin typeface="Trebuchet MS"/>
                <a:cs typeface="Trebuchet MS"/>
              </a:rPr>
              <a:t> </a:t>
            </a:r>
            <a:r>
              <a:rPr dirty="0" sz="2700" spc="-10">
                <a:latin typeface="Trebuchet MS"/>
                <a:cs typeface="Trebuchet MS"/>
              </a:rPr>
              <a:t>outliers</a:t>
            </a:r>
            <a:endParaRPr sz="2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60"/>
              </a:spcBef>
            </a:pP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2700" spc="-175" b="1">
                <a:latin typeface="Trebuchet MS"/>
                <a:cs typeface="Trebuchet MS"/>
              </a:rPr>
              <a:t>4.1</a:t>
            </a:r>
            <a:r>
              <a:rPr dirty="0" sz="2700" spc="-204" b="1">
                <a:latin typeface="Trebuchet MS"/>
                <a:cs typeface="Trebuchet MS"/>
              </a:rPr>
              <a:t> </a:t>
            </a:r>
            <a:r>
              <a:rPr dirty="0" sz="2700" b="1">
                <a:latin typeface="Trebuchet MS"/>
                <a:cs typeface="Trebuchet MS"/>
              </a:rPr>
              <a:t>Data</a:t>
            </a:r>
            <a:r>
              <a:rPr dirty="0" sz="2700" spc="-215" b="1">
                <a:latin typeface="Trebuchet MS"/>
                <a:cs typeface="Trebuchet MS"/>
              </a:rPr>
              <a:t> </a:t>
            </a:r>
            <a:r>
              <a:rPr dirty="0" sz="2700" b="1">
                <a:latin typeface="Trebuchet MS"/>
                <a:cs typeface="Trebuchet MS"/>
              </a:rPr>
              <a:t>Cleaning</a:t>
            </a:r>
            <a:r>
              <a:rPr dirty="0" sz="2700" spc="-190" b="1">
                <a:latin typeface="Trebuchet MS"/>
                <a:cs typeface="Trebuchet MS"/>
              </a:rPr>
              <a:t> </a:t>
            </a:r>
            <a:r>
              <a:rPr dirty="0" sz="2700" spc="-10" b="1">
                <a:latin typeface="Trebuchet MS"/>
                <a:cs typeface="Trebuchet MS"/>
              </a:rPr>
              <a:t>Process</a:t>
            </a:r>
            <a:endParaRPr sz="2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9676" y="558800"/>
            <a:ext cx="3129280" cy="1213485"/>
          </a:xfrm>
          <a:prstGeom prst="rect"/>
        </p:spPr>
        <p:txBody>
          <a:bodyPr wrap="square" lIns="0" tIns="83820" rIns="0" bIns="0" rtlCol="0" vert="horz">
            <a:spAutoFit/>
          </a:bodyPr>
          <a:lstStyle/>
          <a:p>
            <a:pPr marL="12700" marR="5080">
              <a:lnSpc>
                <a:spcPts val="4430"/>
              </a:lnSpc>
              <a:spcBef>
                <a:spcPts val="660"/>
              </a:spcBef>
            </a:pPr>
            <a:r>
              <a:rPr dirty="0" sz="4100" spc="-280"/>
              <a:t>4.2</a:t>
            </a:r>
            <a:r>
              <a:rPr dirty="0" sz="4100" spc="-434"/>
              <a:t> </a:t>
            </a:r>
            <a:r>
              <a:rPr dirty="0" sz="4100" spc="-25"/>
              <a:t>Key </a:t>
            </a:r>
            <a:r>
              <a:rPr dirty="0" sz="4100" spc="-145"/>
              <a:t>Visualizations</a:t>
            </a:r>
            <a:endParaRPr sz="4100"/>
          </a:p>
        </p:txBody>
      </p:sp>
      <p:grpSp>
        <p:nvGrpSpPr>
          <p:cNvPr id="3" name="object 3" descr=""/>
          <p:cNvGrpSpPr/>
          <p:nvPr/>
        </p:nvGrpSpPr>
        <p:grpSpPr>
          <a:xfrm>
            <a:off x="4305763" y="435927"/>
            <a:ext cx="76835" cy="1597025"/>
            <a:chOff x="4305763" y="435927"/>
            <a:chExt cx="76835" cy="1597025"/>
          </a:xfrm>
        </p:grpSpPr>
        <p:sp>
          <p:nvSpPr>
            <p:cNvPr id="4" name="object 4" descr=""/>
            <p:cNvSpPr/>
            <p:nvPr/>
          </p:nvSpPr>
          <p:spPr>
            <a:xfrm>
              <a:off x="4327403" y="456565"/>
              <a:ext cx="41910" cy="1556385"/>
            </a:xfrm>
            <a:custGeom>
              <a:avLst/>
              <a:gdLst/>
              <a:ahLst/>
              <a:cxnLst/>
              <a:rect l="l" t="t" r="r" b="b"/>
              <a:pathLst>
                <a:path w="41910" h="1556385">
                  <a:moveTo>
                    <a:pt x="14984" y="341191"/>
                  </a:moveTo>
                  <a:lnTo>
                    <a:pt x="14021" y="374112"/>
                  </a:lnTo>
                  <a:lnTo>
                    <a:pt x="11080" y="442334"/>
                  </a:lnTo>
                  <a:lnTo>
                    <a:pt x="6852" y="518795"/>
                  </a:lnTo>
                  <a:lnTo>
                    <a:pt x="3194" y="586917"/>
                  </a:lnTo>
                  <a:lnTo>
                    <a:pt x="994" y="645468"/>
                  </a:lnTo>
                  <a:lnTo>
                    <a:pt x="10" y="696425"/>
                  </a:lnTo>
                  <a:lnTo>
                    <a:pt x="0" y="741766"/>
                  </a:lnTo>
                  <a:lnTo>
                    <a:pt x="721" y="783470"/>
                  </a:lnTo>
                  <a:lnTo>
                    <a:pt x="1932" y="823514"/>
                  </a:lnTo>
                  <a:lnTo>
                    <a:pt x="3467" y="866127"/>
                  </a:lnTo>
                  <a:lnTo>
                    <a:pt x="4853" y="906536"/>
                  </a:lnTo>
                  <a:lnTo>
                    <a:pt x="6079" y="953469"/>
                  </a:lnTo>
                  <a:lnTo>
                    <a:pt x="6827" y="1006654"/>
                  </a:lnTo>
                  <a:lnTo>
                    <a:pt x="6695" y="1147928"/>
                  </a:lnTo>
                  <a:lnTo>
                    <a:pt x="6852" y="1190899"/>
                  </a:lnTo>
                  <a:lnTo>
                    <a:pt x="7332" y="1238959"/>
                  </a:lnTo>
                  <a:lnTo>
                    <a:pt x="7950" y="1281389"/>
                  </a:lnTo>
                  <a:lnTo>
                    <a:pt x="8567" y="1320641"/>
                  </a:lnTo>
                  <a:lnTo>
                    <a:pt x="9047" y="1359169"/>
                  </a:lnTo>
                  <a:lnTo>
                    <a:pt x="9253" y="1399426"/>
                  </a:lnTo>
                  <a:lnTo>
                    <a:pt x="9047" y="1443868"/>
                  </a:lnTo>
                  <a:lnTo>
                    <a:pt x="8293" y="1494946"/>
                  </a:lnTo>
                  <a:lnTo>
                    <a:pt x="6852" y="1555114"/>
                  </a:lnTo>
                  <a:lnTo>
                    <a:pt x="11805" y="1556004"/>
                  </a:lnTo>
                  <a:lnTo>
                    <a:pt x="17901" y="1555496"/>
                  </a:lnTo>
                  <a:lnTo>
                    <a:pt x="25140" y="1555114"/>
                  </a:lnTo>
                  <a:lnTo>
                    <a:pt x="23248" y="1480809"/>
                  </a:lnTo>
                  <a:lnTo>
                    <a:pt x="21163" y="1413219"/>
                  </a:lnTo>
                  <a:lnTo>
                    <a:pt x="17173" y="1294980"/>
                  </a:lnTo>
                  <a:lnTo>
                    <a:pt x="15651" y="1242724"/>
                  </a:lnTo>
                  <a:lnTo>
                    <a:pt x="14698" y="1193975"/>
                  </a:lnTo>
                  <a:lnTo>
                    <a:pt x="14504" y="1147928"/>
                  </a:lnTo>
                  <a:lnTo>
                    <a:pt x="15261" y="1103783"/>
                  </a:lnTo>
                  <a:lnTo>
                    <a:pt x="17159" y="1060736"/>
                  </a:lnTo>
                  <a:lnTo>
                    <a:pt x="20389" y="1017984"/>
                  </a:lnTo>
                  <a:lnTo>
                    <a:pt x="25140" y="974725"/>
                  </a:lnTo>
                  <a:lnTo>
                    <a:pt x="31299" y="920765"/>
                  </a:lnTo>
                  <a:lnTo>
                    <a:pt x="36094" y="866127"/>
                  </a:lnTo>
                  <a:lnTo>
                    <a:pt x="39449" y="811271"/>
                  </a:lnTo>
                  <a:lnTo>
                    <a:pt x="41290" y="756656"/>
                  </a:lnTo>
                  <a:lnTo>
                    <a:pt x="41541" y="702742"/>
                  </a:lnTo>
                  <a:lnTo>
                    <a:pt x="40126" y="649990"/>
                  </a:lnTo>
                  <a:lnTo>
                    <a:pt x="36972" y="598859"/>
                  </a:lnTo>
                  <a:lnTo>
                    <a:pt x="32001" y="549809"/>
                  </a:lnTo>
                  <a:lnTo>
                    <a:pt x="25140" y="503300"/>
                  </a:lnTo>
                  <a:lnTo>
                    <a:pt x="19431" y="463076"/>
                  </a:lnTo>
                  <a:lnTo>
                    <a:pt x="16118" y="423030"/>
                  </a:lnTo>
                  <a:lnTo>
                    <a:pt x="14779" y="382259"/>
                  </a:lnTo>
                  <a:lnTo>
                    <a:pt x="14984" y="341191"/>
                  </a:lnTo>
                  <a:close/>
                </a:path>
                <a:path w="41910" h="1556385">
                  <a:moveTo>
                    <a:pt x="15820" y="312016"/>
                  </a:moveTo>
                  <a:lnTo>
                    <a:pt x="14991" y="339859"/>
                  </a:lnTo>
                  <a:lnTo>
                    <a:pt x="14984" y="341191"/>
                  </a:lnTo>
                  <a:lnTo>
                    <a:pt x="15805" y="313092"/>
                  </a:lnTo>
                  <a:lnTo>
                    <a:pt x="15820" y="312016"/>
                  </a:lnTo>
                  <a:close/>
                </a:path>
                <a:path w="41910" h="1556385">
                  <a:moveTo>
                    <a:pt x="15742" y="0"/>
                  </a:moveTo>
                  <a:lnTo>
                    <a:pt x="6852" y="635"/>
                  </a:lnTo>
                  <a:lnTo>
                    <a:pt x="9517" y="40233"/>
                  </a:lnTo>
                  <a:lnTo>
                    <a:pt x="11936" y="79785"/>
                  </a:lnTo>
                  <a:lnTo>
                    <a:pt x="13981" y="120326"/>
                  </a:lnTo>
                  <a:lnTo>
                    <a:pt x="15521" y="162892"/>
                  </a:lnTo>
                  <a:lnTo>
                    <a:pt x="16425" y="208518"/>
                  </a:lnTo>
                  <a:lnTo>
                    <a:pt x="16563" y="258239"/>
                  </a:lnTo>
                  <a:lnTo>
                    <a:pt x="15820" y="312016"/>
                  </a:lnTo>
                  <a:lnTo>
                    <a:pt x="16330" y="294925"/>
                  </a:lnTo>
                  <a:lnTo>
                    <a:pt x="18374" y="246555"/>
                  </a:lnTo>
                  <a:lnTo>
                    <a:pt x="20700" y="193845"/>
                  </a:lnTo>
                  <a:lnTo>
                    <a:pt x="22885" y="135891"/>
                  </a:lnTo>
                  <a:lnTo>
                    <a:pt x="24506" y="71788"/>
                  </a:lnTo>
                  <a:lnTo>
                    <a:pt x="25140" y="635"/>
                  </a:lnTo>
                  <a:lnTo>
                    <a:pt x="18028" y="254"/>
                  </a:lnTo>
                  <a:lnTo>
                    <a:pt x="15742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326401" y="456565"/>
              <a:ext cx="35560" cy="1555750"/>
            </a:xfrm>
            <a:custGeom>
              <a:avLst/>
              <a:gdLst/>
              <a:ahLst/>
              <a:cxnLst/>
              <a:rect l="l" t="t" r="r" b="b"/>
              <a:pathLst>
                <a:path w="35560" h="1555750">
                  <a:moveTo>
                    <a:pt x="26142" y="635"/>
                  </a:moveTo>
                  <a:lnTo>
                    <a:pt x="30645" y="34559"/>
                  </a:lnTo>
                  <a:lnTo>
                    <a:pt x="33510" y="73624"/>
                  </a:lnTo>
                  <a:lnTo>
                    <a:pt x="34984" y="117184"/>
                  </a:lnTo>
                  <a:lnTo>
                    <a:pt x="35311" y="164592"/>
                  </a:lnTo>
                  <a:lnTo>
                    <a:pt x="34738" y="215202"/>
                  </a:lnTo>
                  <a:lnTo>
                    <a:pt x="33510" y="268368"/>
                  </a:lnTo>
                  <a:lnTo>
                    <a:pt x="31873" y="323443"/>
                  </a:lnTo>
                  <a:lnTo>
                    <a:pt x="30072" y="379781"/>
                  </a:lnTo>
                  <a:lnTo>
                    <a:pt x="28353" y="436736"/>
                  </a:lnTo>
                  <a:lnTo>
                    <a:pt x="26961" y="493661"/>
                  </a:lnTo>
                  <a:lnTo>
                    <a:pt x="26142" y="549910"/>
                  </a:lnTo>
                  <a:lnTo>
                    <a:pt x="25899" y="603396"/>
                  </a:lnTo>
                  <a:lnTo>
                    <a:pt x="26003" y="653086"/>
                  </a:lnTo>
                  <a:lnTo>
                    <a:pt x="26355" y="699915"/>
                  </a:lnTo>
                  <a:lnTo>
                    <a:pt x="26856" y="744815"/>
                  </a:lnTo>
                  <a:lnTo>
                    <a:pt x="27405" y="788721"/>
                  </a:lnTo>
                  <a:lnTo>
                    <a:pt x="27903" y="832566"/>
                  </a:lnTo>
                  <a:lnTo>
                    <a:pt x="28250" y="877285"/>
                  </a:lnTo>
                  <a:lnTo>
                    <a:pt x="28348" y="923810"/>
                  </a:lnTo>
                  <a:lnTo>
                    <a:pt x="28095" y="973075"/>
                  </a:lnTo>
                  <a:lnTo>
                    <a:pt x="27393" y="1026015"/>
                  </a:lnTo>
                  <a:lnTo>
                    <a:pt x="26142" y="1083564"/>
                  </a:lnTo>
                  <a:lnTo>
                    <a:pt x="24487" y="1151580"/>
                  </a:lnTo>
                  <a:lnTo>
                    <a:pt x="23311" y="1210081"/>
                  </a:lnTo>
                  <a:lnTo>
                    <a:pt x="22586" y="1261472"/>
                  </a:lnTo>
                  <a:lnTo>
                    <a:pt x="22285" y="1308155"/>
                  </a:lnTo>
                  <a:lnTo>
                    <a:pt x="22379" y="1352536"/>
                  </a:lnTo>
                  <a:lnTo>
                    <a:pt x="22840" y="1397018"/>
                  </a:lnTo>
                  <a:lnTo>
                    <a:pt x="23640" y="1444006"/>
                  </a:lnTo>
                  <a:lnTo>
                    <a:pt x="24750" y="1495903"/>
                  </a:lnTo>
                  <a:lnTo>
                    <a:pt x="26142" y="1555114"/>
                  </a:lnTo>
                  <a:lnTo>
                    <a:pt x="18903" y="1555623"/>
                  </a:lnTo>
                  <a:lnTo>
                    <a:pt x="12426" y="1554607"/>
                  </a:lnTo>
                  <a:lnTo>
                    <a:pt x="7854" y="1555114"/>
                  </a:lnTo>
                  <a:lnTo>
                    <a:pt x="10289" y="1493060"/>
                  </a:lnTo>
                  <a:lnTo>
                    <a:pt x="10658" y="1435821"/>
                  </a:lnTo>
                  <a:lnTo>
                    <a:pt x="9534" y="1382704"/>
                  </a:lnTo>
                  <a:lnTo>
                    <a:pt x="7488" y="1333017"/>
                  </a:lnTo>
                  <a:lnTo>
                    <a:pt x="5092" y="1286065"/>
                  </a:lnTo>
                  <a:lnTo>
                    <a:pt x="2916" y="1241155"/>
                  </a:lnTo>
                  <a:lnTo>
                    <a:pt x="1533" y="1197594"/>
                  </a:lnTo>
                  <a:lnTo>
                    <a:pt x="1514" y="1154689"/>
                  </a:lnTo>
                  <a:lnTo>
                    <a:pt x="3431" y="1111745"/>
                  </a:lnTo>
                  <a:lnTo>
                    <a:pt x="7854" y="1068070"/>
                  </a:lnTo>
                  <a:lnTo>
                    <a:pt x="13018" y="1024452"/>
                  </a:lnTo>
                  <a:lnTo>
                    <a:pt x="16828" y="981579"/>
                  </a:lnTo>
                  <a:lnTo>
                    <a:pt x="19360" y="938489"/>
                  </a:lnTo>
                  <a:lnTo>
                    <a:pt x="20692" y="894218"/>
                  </a:lnTo>
                  <a:lnTo>
                    <a:pt x="20903" y="847804"/>
                  </a:lnTo>
                  <a:lnTo>
                    <a:pt x="20071" y="798285"/>
                  </a:lnTo>
                  <a:lnTo>
                    <a:pt x="18272" y="744698"/>
                  </a:lnTo>
                  <a:lnTo>
                    <a:pt x="15584" y="686082"/>
                  </a:lnTo>
                  <a:lnTo>
                    <a:pt x="12086" y="621473"/>
                  </a:lnTo>
                  <a:lnTo>
                    <a:pt x="7854" y="549910"/>
                  </a:lnTo>
                  <a:lnTo>
                    <a:pt x="4319" y="484077"/>
                  </a:lnTo>
                  <a:lnTo>
                    <a:pt x="1929" y="423205"/>
                  </a:lnTo>
                  <a:lnTo>
                    <a:pt x="538" y="366701"/>
                  </a:lnTo>
                  <a:lnTo>
                    <a:pt x="0" y="313969"/>
                  </a:lnTo>
                  <a:lnTo>
                    <a:pt x="168" y="264418"/>
                  </a:lnTo>
                  <a:lnTo>
                    <a:pt x="898" y="217452"/>
                  </a:lnTo>
                  <a:lnTo>
                    <a:pt x="2043" y="172479"/>
                  </a:lnTo>
                  <a:lnTo>
                    <a:pt x="3457" y="128904"/>
                  </a:lnTo>
                  <a:lnTo>
                    <a:pt x="4995" y="86134"/>
                  </a:lnTo>
                  <a:lnTo>
                    <a:pt x="6509" y="43575"/>
                  </a:lnTo>
                  <a:lnTo>
                    <a:pt x="7854" y="635"/>
                  </a:lnTo>
                  <a:lnTo>
                    <a:pt x="12934" y="0"/>
                  </a:lnTo>
                  <a:lnTo>
                    <a:pt x="21443" y="1397"/>
                  </a:lnTo>
                  <a:lnTo>
                    <a:pt x="26142" y="635"/>
                  </a:lnTo>
                  <a:close/>
                </a:path>
              </a:pathLst>
            </a:custGeom>
            <a:ln w="41275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4733671" y="294868"/>
            <a:ext cx="5967730" cy="1377315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240029" indent="-239395">
              <a:lnSpc>
                <a:spcPct val="100000"/>
              </a:lnSpc>
              <a:spcBef>
                <a:spcPts val="360"/>
              </a:spcBef>
              <a:buAutoNum type="arabicPeriod"/>
              <a:tabLst>
                <a:tab pos="240029" algn="l"/>
              </a:tabLst>
            </a:pPr>
            <a:r>
              <a:rPr dirty="0" sz="2000" spc="-40">
                <a:latin typeface="Trebuchet MS"/>
                <a:cs typeface="Trebuchet MS"/>
              </a:rPr>
              <a:t>Distribution</a:t>
            </a:r>
            <a:r>
              <a:rPr dirty="0" sz="2000" spc="-14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Analysis</a:t>
            </a:r>
            <a:endParaRPr sz="2000">
              <a:latin typeface="Trebuchet MS"/>
              <a:cs typeface="Trebuchet MS"/>
            </a:endParaRPr>
          </a:p>
          <a:p>
            <a:pPr lvl="1" marL="755015" indent="-285115">
              <a:lnSpc>
                <a:spcPct val="100000"/>
              </a:lnSpc>
              <a:spcBef>
                <a:spcPts val="265"/>
              </a:spcBef>
              <a:buAutoNum type="arabicPeriod"/>
              <a:tabLst>
                <a:tab pos="755015" algn="l"/>
              </a:tabLst>
            </a:pPr>
            <a:r>
              <a:rPr dirty="0" sz="2000" spc="-50">
                <a:latin typeface="Trebuchet MS"/>
                <a:cs typeface="Trebuchet MS"/>
              </a:rPr>
              <a:t>Runtime:</a:t>
            </a:r>
            <a:r>
              <a:rPr dirty="0" sz="2000" spc="-14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Most</a:t>
            </a:r>
            <a:r>
              <a:rPr dirty="0" sz="2000" spc="-13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movies</a:t>
            </a:r>
            <a:r>
              <a:rPr dirty="0" sz="2000" spc="-155">
                <a:latin typeface="Trebuchet MS"/>
                <a:cs typeface="Trebuchet MS"/>
              </a:rPr>
              <a:t> </a:t>
            </a:r>
            <a:r>
              <a:rPr dirty="0" sz="2000" spc="-55">
                <a:latin typeface="Trebuchet MS"/>
                <a:cs typeface="Trebuchet MS"/>
              </a:rPr>
              <a:t>between</a:t>
            </a:r>
            <a:r>
              <a:rPr dirty="0" sz="2000" spc="-140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64-</a:t>
            </a:r>
            <a:r>
              <a:rPr dirty="0" sz="2000" spc="-15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100minutes</a:t>
            </a:r>
            <a:endParaRPr sz="2000">
              <a:latin typeface="Trebuchet MS"/>
              <a:cs typeface="Trebuchet MS"/>
            </a:endParaRPr>
          </a:p>
          <a:p>
            <a:pPr lvl="1" marL="755015" indent="-285115">
              <a:lnSpc>
                <a:spcPct val="100000"/>
              </a:lnSpc>
              <a:spcBef>
                <a:spcPts val="254"/>
              </a:spcBef>
              <a:buAutoNum type="arabicPeriod"/>
              <a:tabLst>
                <a:tab pos="755015" algn="l"/>
              </a:tabLst>
            </a:pPr>
            <a:r>
              <a:rPr dirty="0" sz="2000" spc="-75">
                <a:latin typeface="Trebuchet MS"/>
                <a:cs typeface="Trebuchet MS"/>
              </a:rPr>
              <a:t>Vote</a:t>
            </a:r>
            <a:r>
              <a:rPr dirty="0" sz="2000" spc="-155">
                <a:latin typeface="Trebuchet MS"/>
                <a:cs typeface="Trebuchet MS"/>
              </a:rPr>
              <a:t> </a:t>
            </a:r>
            <a:r>
              <a:rPr dirty="0" sz="2000" spc="-50">
                <a:latin typeface="Trebuchet MS"/>
                <a:cs typeface="Trebuchet MS"/>
              </a:rPr>
              <a:t>averages:</a:t>
            </a:r>
            <a:r>
              <a:rPr dirty="0" sz="2000" spc="-17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Normal</a:t>
            </a:r>
            <a:r>
              <a:rPr dirty="0" sz="2000" spc="-15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distribution</a:t>
            </a:r>
            <a:endParaRPr sz="2000">
              <a:latin typeface="Trebuchet MS"/>
              <a:cs typeface="Trebuchet MS"/>
            </a:endParaRPr>
          </a:p>
          <a:p>
            <a:pPr lvl="1" marL="755015" indent="-285115">
              <a:lnSpc>
                <a:spcPct val="100000"/>
              </a:lnSpc>
              <a:spcBef>
                <a:spcPts val="260"/>
              </a:spcBef>
              <a:buAutoNum type="arabicPeriod"/>
              <a:tabLst>
                <a:tab pos="755015" algn="l"/>
              </a:tabLst>
            </a:pPr>
            <a:r>
              <a:rPr dirty="0" sz="2000" spc="-65">
                <a:latin typeface="Trebuchet MS"/>
                <a:cs typeface="Trebuchet MS"/>
              </a:rPr>
              <a:t>Revenue/Budget:</a:t>
            </a:r>
            <a:r>
              <a:rPr dirty="0" sz="2000" spc="-114">
                <a:latin typeface="Trebuchet MS"/>
                <a:cs typeface="Trebuchet MS"/>
              </a:rPr>
              <a:t> </a:t>
            </a:r>
            <a:r>
              <a:rPr dirty="0" sz="2000" spc="-60">
                <a:latin typeface="Trebuchet MS"/>
                <a:cs typeface="Trebuchet MS"/>
              </a:rPr>
              <a:t>Right-</a:t>
            </a:r>
            <a:r>
              <a:rPr dirty="0" sz="2000" spc="-20">
                <a:latin typeface="Trebuchet MS"/>
                <a:cs typeface="Trebuchet MS"/>
              </a:rPr>
              <a:t>skewed</a:t>
            </a:r>
            <a:r>
              <a:rPr dirty="0" sz="2000" spc="-11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distribution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592" y="2542738"/>
            <a:ext cx="10771288" cy="34337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467309"/>
            <a:ext cx="4372610" cy="84899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spc="-295" b="0">
                <a:latin typeface="Trebuchet MS"/>
                <a:cs typeface="Trebuchet MS"/>
              </a:rPr>
              <a:t>Outlier</a:t>
            </a:r>
            <a:r>
              <a:rPr dirty="0" sz="5400" spc="-605" b="0">
                <a:latin typeface="Trebuchet MS"/>
                <a:cs typeface="Trebuchet MS"/>
              </a:rPr>
              <a:t> </a:t>
            </a:r>
            <a:r>
              <a:rPr dirty="0" sz="5400" spc="-95" b="0">
                <a:latin typeface="Trebuchet MS"/>
                <a:cs typeface="Trebuchet MS"/>
              </a:rPr>
              <a:t>Analysis</a:t>
            </a:r>
            <a:endParaRPr sz="5400">
              <a:latin typeface="Trebuchet MS"/>
              <a:cs typeface="Trebuchet MS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5322" y="230725"/>
            <a:ext cx="6019256" cy="1854798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816902" y="2282795"/>
            <a:ext cx="4385945" cy="81280"/>
            <a:chOff x="816902" y="2282795"/>
            <a:chExt cx="4385945" cy="81280"/>
          </a:xfrm>
        </p:grpSpPr>
        <p:sp>
          <p:nvSpPr>
            <p:cNvPr id="5" name="object 5" descr=""/>
            <p:cNvSpPr/>
            <p:nvPr/>
          </p:nvSpPr>
          <p:spPr>
            <a:xfrm>
              <a:off x="838199" y="2302805"/>
              <a:ext cx="4344670" cy="36830"/>
            </a:xfrm>
            <a:custGeom>
              <a:avLst/>
              <a:gdLst/>
              <a:ahLst/>
              <a:cxnLst/>
              <a:rect l="l" t="t" r="r" b="b"/>
              <a:pathLst>
                <a:path w="4344670" h="36830">
                  <a:moveTo>
                    <a:pt x="207697" y="0"/>
                  </a:moveTo>
                  <a:lnTo>
                    <a:pt x="159032" y="360"/>
                  </a:lnTo>
                  <a:lnTo>
                    <a:pt x="108776" y="2385"/>
                  </a:lnTo>
                  <a:lnTo>
                    <a:pt x="56056" y="6445"/>
                  </a:lnTo>
                  <a:lnTo>
                    <a:pt x="0" y="12912"/>
                  </a:lnTo>
                  <a:lnTo>
                    <a:pt x="584" y="18500"/>
                  </a:lnTo>
                  <a:lnTo>
                    <a:pt x="673" y="26501"/>
                  </a:lnTo>
                  <a:lnTo>
                    <a:pt x="0" y="31200"/>
                  </a:lnTo>
                  <a:lnTo>
                    <a:pt x="47988" y="28300"/>
                  </a:lnTo>
                  <a:lnTo>
                    <a:pt x="97045" y="26599"/>
                  </a:lnTo>
                  <a:lnTo>
                    <a:pt x="147112" y="25889"/>
                  </a:lnTo>
                  <a:lnTo>
                    <a:pt x="198133" y="25966"/>
                  </a:lnTo>
                  <a:lnTo>
                    <a:pt x="250048" y="26623"/>
                  </a:lnTo>
                  <a:lnTo>
                    <a:pt x="410584" y="30011"/>
                  </a:lnTo>
                  <a:lnTo>
                    <a:pt x="465499" y="30927"/>
                  </a:lnTo>
                  <a:lnTo>
                    <a:pt x="521020" y="31391"/>
                  </a:lnTo>
                  <a:lnTo>
                    <a:pt x="577088" y="31200"/>
                  </a:lnTo>
                  <a:lnTo>
                    <a:pt x="793059" y="28969"/>
                  </a:lnTo>
                  <a:lnTo>
                    <a:pt x="931630" y="28401"/>
                  </a:lnTo>
                  <a:lnTo>
                    <a:pt x="1035078" y="28634"/>
                  </a:lnTo>
                  <a:lnTo>
                    <a:pt x="1151480" y="29520"/>
                  </a:lnTo>
                  <a:lnTo>
                    <a:pt x="1351930" y="32016"/>
                  </a:lnTo>
                  <a:lnTo>
                    <a:pt x="1412989" y="32439"/>
                  </a:lnTo>
                  <a:lnTo>
                    <a:pt x="1468501" y="32538"/>
                  </a:lnTo>
                  <a:lnTo>
                    <a:pt x="1566783" y="32024"/>
                  </a:lnTo>
                  <a:lnTo>
                    <a:pt x="1739661" y="30025"/>
                  </a:lnTo>
                  <a:lnTo>
                    <a:pt x="1829849" y="29605"/>
                  </a:lnTo>
                  <a:lnTo>
                    <a:pt x="1879290" y="29773"/>
                  </a:lnTo>
                  <a:lnTo>
                    <a:pt x="1932929" y="30283"/>
                  </a:lnTo>
                  <a:lnTo>
                    <a:pt x="2058221" y="32019"/>
                  </a:lnTo>
                  <a:lnTo>
                    <a:pt x="2114930" y="32011"/>
                  </a:lnTo>
                  <a:lnTo>
                    <a:pt x="2163796" y="31378"/>
                  </a:lnTo>
                  <a:lnTo>
                    <a:pt x="2206747" y="30325"/>
                  </a:lnTo>
                  <a:lnTo>
                    <a:pt x="2319395" y="26678"/>
                  </a:lnTo>
                  <a:lnTo>
                    <a:pt x="2357971" y="25979"/>
                  </a:lnTo>
                  <a:lnTo>
                    <a:pt x="2400274" y="25878"/>
                  </a:lnTo>
                  <a:lnTo>
                    <a:pt x="2448232" y="26578"/>
                  </a:lnTo>
                  <a:lnTo>
                    <a:pt x="2503774" y="28284"/>
                  </a:lnTo>
                  <a:lnTo>
                    <a:pt x="2634388" y="34069"/>
                  </a:lnTo>
                  <a:lnTo>
                    <a:pt x="2691372" y="35706"/>
                  </a:lnTo>
                  <a:lnTo>
                    <a:pt x="2741598" y="36325"/>
                  </a:lnTo>
                  <a:lnTo>
                    <a:pt x="2786883" y="36139"/>
                  </a:lnTo>
                  <a:lnTo>
                    <a:pt x="2829044" y="35359"/>
                  </a:lnTo>
                  <a:lnTo>
                    <a:pt x="2954956" y="31595"/>
                  </a:lnTo>
                  <a:lnTo>
                    <a:pt x="3002793" y="30575"/>
                  </a:lnTo>
                  <a:lnTo>
                    <a:pt x="3056594" y="30027"/>
                  </a:lnTo>
                  <a:lnTo>
                    <a:pt x="3118174" y="30164"/>
                  </a:lnTo>
                  <a:lnTo>
                    <a:pt x="3261944" y="32262"/>
                  </a:lnTo>
                  <a:lnTo>
                    <a:pt x="3327310" y="32523"/>
                  </a:lnTo>
                  <a:lnTo>
                    <a:pt x="3386478" y="32164"/>
                  </a:lnTo>
                  <a:lnTo>
                    <a:pt x="3440477" y="31369"/>
                  </a:lnTo>
                  <a:lnTo>
                    <a:pt x="3581735" y="28190"/>
                  </a:lnTo>
                  <a:lnTo>
                    <a:pt x="3625337" y="27474"/>
                  </a:lnTo>
                  <a:lnTo>
                    <a:pt x="3668910" y="27235"/>
                  </a:lnTo>
                  <a:lnTo>
                    <a:pt x="3713484" y="27654"/>
                  </a:lnTo>
                  <a:lnTo>
                    <a:pt x="3760086" y="28915"/>
                  </a:lnTo>
                  <a:lnTo>
                    <a:pt x="3809746" y="31200"/>
                  </a:lnTo>
                  <a:lnTo>
                    <a:pt x="3862699" y="33195"/>
                  </a:lnTo>
                  <a:lnTo>
                    <a:pt x="3910099" y="33338"/>
                  </a:lnTo>
                  <a:lnTo>
                    <a:pt x="3953499" y="32113"/>
                  </a:lnTo>
                  <a:lnTo>
                    <a:pt x="3994456" y="30005"/>
                  </a:lnTo>
                  <a:lnTo>
                    <a:pt x="4075262" y="25077"/>
                  </a:lnTo>
                  <a:lnTo>
                    <a:pt x="4118221" y="23225"/>
                  </a:lnTo>
                  <a:lnTo>
                    <a:pt x="4164959" y="22427"/>
                  </a:lnTo>
                  <a:lnTo>
                    <a:pt x="4217031" y="23167"/>
                  </a:lnTo>
                  <a:lnTo>
                    <a:pt x="4275993" y="25930"/>
                  </a:lnTo>
                  <a:lnTo>
                    <a:pt x="4343400" y="31200"/>
                  </a:lnTo>
                  <a:lnTo>
                    <a:pt x="4344162" y="26882"/>
                  </a:lnTo>
                  <a:lnTo>
                    <a:pt x="4342511" y="18373"/>
                  </a:lnTo>
                  <a:lnTo>
                    <a:pt x="4343400" y="12912"/>
                  </a:lnTo>
                  <a:lnTo>
                    <a:pt x="3828731" y="14030"/>
                  </a:lnTo>
                  <a:lnTo>
                    <a:pt x="3669962" y="13300"/>
                  </a:lnTo>
                  <a:lnTo>
                    <a:pt x="3599140" y="12264"/>
                  </a:lnTo>
                  <a:lnTo>
                    <a:pt x="3392809" y="7295"/>
                  </a:lnTo>
                  <a:lnTo>
                    <a:pt x="3271996" y="4958"/>
                  </a:lnTo>
                  <a:lnTo>
                    <a:pt x="3211594" y="4221"/>
                  </a:lnTo>
                  <a:lnTo>
                    <a:pt x="3152878" y="3921"/>
                  </a:lnTo>
                  <a:lnTo>
                    <a:pt x="3097109" y="4170"/>
                  </a:lnTo>
                  <a:lnTo>
                    <a:pt x="3045550" y="5081"/>
                  </a:lnTo>
                  <a:lnTo>
                    <a:pt x="2999462" y="6767"/>
                  </a:lnTo>
                  <a:lnTo>
                    <a:pt x="2960107" y="9340"/>
                  </a:lnTo>
                  <a:lnTo>
                    <a:pt x="2892832" y="17532"/>
                  </a:lnTo>
                  <a:lnTo>
                    <a:pt x="2853715" y="21042"/>
                  </a:lnTo>
                  <a:lnTo>
                    <a:pt x="2811358" y="23505"/>
                  </a:lnTo>
                  <a:lnTo>
                    <a:pt x="2765728" y="24982"/>
                  </a:lnTo>
                  <a:lnTo>
                    <a:pt x="2716788" y="25535"/>
                  </a:lnTo>
                  <a:lnTo>
                    <a:pt x="2664503" y="25226"/>
                  </a:lnTo>
                  <a:lnTo>
                    <a:pt x="2608837" y="24117"/>
                  </a:lnTo>
                  <a:lnTo>
                    <a:pt x="2549756" y="22269"/>
                  </a:lnTo>
                  <a:lnTo>
                    <a:pt x="2487222" y="19744"/>
                  </a:lnTo>
                  <a:lnTo>
                    <a:pt x="2421202" y="16604"/>
                  </a:lnTo>
                  <a:lnTo>
                    <a:pt x="2351659" y="12912"/>
                  </a:lnTo>
                  <a:lnTo>
                    <a:pt x="2290887" y="10261"/>
                  </a:lnTo>
                  <a:lnTo>
                    <a:pt x="2238170" y="9305"/>
                  </a:lnTo>
                  <a:lnTo>
                    <a:pt x="2191783" y="9679"/>
                  </a:lnTo>
                  <a:lnTo>
                    <a:pt x="2150001" y="11021"/>
                  </a:lnTo>
                  <a:lnTo>
                    <a:pt x="2111100" y="12966"/>
                  </a:lnTo>
                  <a:lnTo>
                    <a:pt x="2035039" y="17210"/>
                  </a:lnTo>
                  <a:lnTo>
                    <a:pt x="1994431" y="18782"/>
                  </a:lnTo>
                  <a:lnTo>
                    <a:pt x="1949805" y="19502"/>
                  </a:lnTo>
                  <a:lnTo>
                    <a:pt x="1899436" y="19006"/>
                  </a:lnTo>
                  <a:lnTo>
                    <a:pt x="1841599" y="16931"/>
                  </a:lnTo>
                  <a:lnTo>
                    <a:pt x="1713745" y="9267"/>
                  </a:lnTo>
                  <a:lnTo>
                    <a:pt x="1654962" y="6967"/>
                  </a:lnTo>
                  <a:lnTo>
                    <a:pt x="1598108" y="5814"/>
                  </a:lnTo>
                  <a:lnTo>
                    <a:pt x="1543068" y="5614"/>
                  </a:lnTo>
                  <a:lnTo>
                    <a:pt x="1489726" y="6170"/>
                  </a:lnTo>
                  <a:lnTo>
                    <a:pt x="1437969" y="7287"/>
                  </a:lnTo>
                  <a:lnTo>
                    <a:pt x="1244488" y="13445"/>
                  </a:lnTo>
                  <a:lnTo>
                    <a:pt x="1198932" y="14428"/>
                  </a:lnTo>
                  <a:lnTo>
                    <a:pt x="1154271" y="14798"/>
                  </a:lnTo>
                  <a:lnTo>
                    <a:pt x="1110393" y="14358"/>
                  </a:lnTo>
                  <a:lnTo>
                    <a:pt x="1067181" y="12912"/>
                  </a:lnTo>
                  <a:lnTo>
                    <a:pt x="1011206" y="10659"/>
                  </a:lnTo>
                  <a:lnTo>
                    <a:pt x="962054" y="9413"/>
                  </a:lnTo>
                  <a:lnTo>
                    <a:pt x="917747" y="8983"/>
                  </a:lnTo>
                  <a:lnTo>
                    <a:pt x="876307" y="9181"/>
                  </a:lnTo>
                  <a:lnTo>
                    <a:pt x="699649" y="12448"/>
                  </a:lnTo>
                  <a:lnTo>
                    <a:pt x="642869" y="12936"/>
                  </a:lnTo>
                  <a:lnTo>
                    <a:pt x="577088" y="12912"/>
                  </a:lnTo>
                  <a:lnTo>
                    <a:pt x="515130" y="12010"/>
                  </a:lnTo>
                  <a:lnTo>
                    <a:pt x="457689" y="10176"/>
                  </a:lnTo>
                  <a:lnTo>
                    <a:pt x="403893" y="7780"/>
                  </a:lnTo>
                  <a:lnTo>
                    <a:pt x="303742" y="2787"/>
                  </a:lnTo>
                  <a:lnTo>
                    <a:pt x="255643" y="932"/>
                  </a:lnTo>
                  <a:lnTo>
                    <a:pt x="207697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7539" y="2303433"/>
              <a:ext cx="4344670" cy="40005"/>
            </a:xfrm>
            <a:custGeom>
              <a:avLst/>
              <a:gdLst/>
              <a:ahLst/>
              <a:cxnLst/>
              <a:rect l="l" t="t" r="r" b="b"/>
              <a:pathLst>
                <a:path w="4344670" h="40005">
                  <a:moveTo>
                    <a:pt x="660" y="12284"/>
                  </a:moveTo>
                  <a:lnTo>
                    <a:pt x="56302" y="8540"/>
                  </a:lnTo>
                  <a:lnTo>
                    <a:pt x="107280" y="6816"/>
                  </a:lnTo>
                  <a:lnTo>
                    <a:pt x="154583" y="6712"/>
                  </a:lnTo>
                  <a:lnTo>
                    <a:pt x="199196" y="7825"/>
                  </a:lnTo>
                  <a:lnTo>
                    <a:pt x="242107" y="9753"/>
                  </a:lnTo>
                  <a:lnTo>
                    <a:pt x="284303" y="12094"/>
                  </a:lnTo>
                  <a:lnTo>
                    <a:pt x="326772" y="14445"/>
                  </a:lnTo>
                  <a:lnTo>
                    <a:pt x="370500" y="16405"/>
                  </a:lnTo>
                  <a:lnTo>
                    <a:pt x="416474" y="17571"/>
                  </a:lnTo>
                  <a:lnTo>
                    <a:pt x="465682" y="17541"/>
                  </a:lnTo>
                  <a:lnTo>
                    <a:pt x="519111" y="15913"/>
                  </a:lnTo>
                  <a:lnTo>
                    <a:pt x="577748" y="12284"/>
                  </a:lnTo>
                  <a:lnTo>
                    <a:pt x="646122" y="7933"/>
                  </a:lnTo>
                  <a:lnTo>
                    <a:pt x="704832" y="5957"/>
                  </a:lnTo>
                  <a:lnTo>
                    <a:pt x="755889" y="5828"/>
                  </a:lnTo>
                  <a:lnTo>
                    <a:pt x="801302" y="7018"/>
                  </a:lnTo>
                  <a:lnTo>
                    <a:pt x="843083" y="8998"/>
                  </a:lnTo>
                  <a:lnTo>
                    <a:pt x="883240" y="11242"/>
                  </a:lnTo>
                  <a:lnTo>
                    <a:pt x="923784" y="13221"/>
                  </a:lnTo>
                  <a:lnTo>
                    <a:pt x="966726" y="14406"/>
                  </a:lnTo>
                  <a:lnTo>
                    <a:pt x="1014074" y="14270"/>
                  </a:lnTo>
                  <a:lnTo>
                    <a:pt x="1067841" y="12284"/>
                  </a:lnTo>
                  <a:lnTo>
                    <a:pt x="1119295" y="10003"/>
                  </a:lnTo>
                  <a:lnTo>
                    <a:pt x="1169085" y="8719"/>
                  </a:lnTo>
                  <a:lnTo>
                    <a:pt x="1217571" y="8252"/>
                  </a:lnTo>
                  <a:lnTo>
                    <a:pt x="1265111" y="8421"/>
                  </a:lnTo>
                  <a:lnTo>
                    <a:pt x="1312063" y="9047"/>
                  </a:lnTo>
                  <a:lnTo>
                    <a:pt x="1358785" y="9949"/>
                  </a:lnTo>
                  <a:lnTo>
                    <a:pt x="1405636" y="10946"/>
                  </a:lnTo>
                  <a:lnTo>
                    <a:pt x="1452974" y="11859"/>
                  </a:lnTo>
                  <a:lnTo>
                    <a:pt x="1501157" y="12506"/>
                  </a:lnTo>
                  <a:lnTo>
                    <a:pt x="1550545" y="12708"/>
                  </a:lnTo>
                  <a:lnTo>
                    <a:pt x="1601495" y="12284"/>
                  </a:lnTo>
                  <a:lnTo>
                    <a:pt x="1647386" y="11279"/>
                  </a:lnTo>
                  <a:lnTo>
                    <a:pt x="1696824" y="9740"/>
                  </a:lnTo>
                  <a:lnTo>
                    <a:pt x="1749078" y="7857"/>
                  </a:lnTo>
                  <a:lnTo>
                    <a:pt x="1803415" y="5823"/>
                  </a:lnTo>
                  <a:lnTo>
                    <a:pt x="1859103" y="3829"/>
                  </a:lnTo>
                  <a:lnTo>
                    <a:pt x="1915411" y="2066"/>
                  </a:lnTo>
                  <a:lnTo>
                    <a:pt x="1971608" y="725"/>
                  </a:lnTo>
                  <a:lnTo>
                    <a:pt x="2026960" y="0"/>
                  </a:lnTo>
                  <a:lnTo>
                    <a:pt x="2080737" y="79"/>
                  </a:lnTo>
                  <a:lnTo>
                    <a:pt x="2132206" y="1156"/>
                  </a:lnTo>
                  <a:lnTo>
                    <a:pt x="2180636" y="3422"/>
                  </a:lnTo>
                  <a:lnTo>
                    <a:pt x="2225295" y="7067"/>
                  </a:lnTo>
                  <a:lnTo>
                    <a:pt x="2265451" y="12284"/>
                  </a:lnTo>
                  <a:lnTo>
                    <a:pt x="2308168" y="17249"/>
                  </a:lnTo>
                  <a:lnTo>
                    <a:pt x="2354297" y="19437"/>
                  </a:lnTo>
                  <a:lnTo>
                    <a:pt x="2403109" y="19410"/>
                  </a:lnTo>
                  <a:lnTo>
                    <a:pt x="2453872" y="17731"/>
                  </a:lnTo>
                  <a:lnTo>
                    <a:pt x="2505855" y="14962"/>
                  </a:lnTo>
                  <a:lnTo>
                    <a:pt x="2558329" y="11665"/>
                  </a:lnTo>
                  <a:lnTo>
                    <a:pt x="2610561" y="8403"/>
                  </a:lnTo>
                  <a:lnTo>
                    <a:pt x="2661823" y="5737"/>
                  </a:lnTo>
                  <a:lnTo>
                    <a:pt x="2711382" y="4230"/>
                  </a:lnTo>
                  <a:lnTo>
                    <a:pt x="2758508" y="4444"/>
                  </a:lnTo>
                  <a:lnTo>
                    <a:pt x="2802470" y="6941"/>
                  </a:lnTo>
                  <a:lnTo>
                    <a:pt x="2842539" y="12284"/>
                  </a:lnTo>
                  <a:lnTo>
                    <a:pt x="2884509" y="18107"/>
                  </a:lnTo>
                  <a:lnTo>
                    <a:pt x="2927836" y="20889"/>
                  </a:lnTo>
                  <a:lnTo>
                    <a:pt x="2972502" y="21257"/>
                  </a:lnTo>
                  <a:lnTo>
                    <a:pt x="3018491" y="19835"/>
                  </a:lnTo>
                  <a:lnTo>
                    <a:pt x="3065786" y="17248"/>
                  </a:lnTo>
                  <a:lnTo>
                    <a:pt x="3114372" y="14122"/>
                  </a:lnTo>
                  <a:lnTo>
                    <a:pt x="3164231" y="11082"/>
                  </a:lnTo>
                  <a:lnTo>
                    <a:pt x="3215346" y="8753"/>
                  </a:lnTo>
                  <a:lnTo>
                    <a:pt x="3267701" y="7761"/>
                  </a:lnTo>
                  <a:lnTo>
                    <a:pt x="3321280" y="8729"/>
                  </a:lnTo>
                  <a:lnTo>
                    <a:pt x="3376066" y="12284"/>
                  </a:lnTo>
                  <a:lnTo>
                    <a:pt x="3409945" y="15084"/>
                  </a:lnTo>
                  <a:lnTo>
                    <a:pt x="3447236" y="17622"/>
                  </a:lnTo>
                  <a:lnTo>
                    <a:pt x="3487671" y="19889"/>
                  </a:lnTo>
                  <a:lnTo>
                    <a:pt x="3530983" y="21876"/>
                  </a:lnTo>
                  <a:lnTo>
                    <a:pt x="3576905" y="23576"/>
                  </a:lnTo>
                  <a:lnTo>
                    <a:pt x="3625169" y="24979"/>
                  </a:lnTo>
                  <a:lnTo>
                    <a:pt x="3675507" y="26077"/>
                  </a:lnTo>
                  <a:lnTo>
                    <a:pt x="3727653" y="26861"/>
                  </a:lnTo>
                  <a:lnTo>
                    <a:pt x="3781339" y="27322"/>
                  </a:lnTo>
                  <a:lnTo>
                    <a:pt x="3836297" y="27452"/>
                  </a:lnTo>
                  <a:lnTo>
                    <a:pt x="3892260" y="27242"/>
                  </a:lnTo>
                  <a:lnTo>
                    <a:pt x="3948961" y="26684"/>
                  </a:lnTo>
                  <a:lnTo>
                    <a:pt x="4006132" y="25768"/>
                  </a:lnTo>
                  <a:lnTo>
                    <a:pt x="4063506" y="24486"/>
                  </a:lnTo>
                  <a:lnTo>
                    <a:pt x="4120816" y="22830"/>
                  </a:lnTo>
                  <a:lnTo>
                    <a:pt x="4177793" y="20790"/>
                  </a:lnTo>
                  <a:lnTo>
                    <a:pt x="4234171" y="18358"/>
                  </a:lnTo>
                  <a:lnTo>
                    <a:pt x="4289683" y="15526"/>
                  </a:lnTo>
                  <a:lnTo>
                    <a:pt x="4344060" y="12284"/>
                  </a:lnTo>
                  <a:lnTo>
                    <a:pt x="4344441" y="19650"/>
                  </a:lnTo>
                  <a:lnTo>
                    <a:pt x="4344060" y="23079"/>
                  </a:lnTo>
                  <a:lnTo>
                    <a:pt x="4344060" y="30572"/>
                  </a:lnTo>
                  <a:lnTo>
                    <a:pt x="4287862" y="29627"/>
                  </a:lnTo>
                  <a:lnTo>
                    <a:pt x="4235768" y="28615"/>
                  </a:lnTo>
                  <a:lnTo>
                    <a:pt x="4186792" y="27608"/>
                  </a:lnTo>
                  <a:lnTo>
                    <a:pt x="4139947" y="26678"/>
                  </a:lnTo>
                  <a:lnTo>
                    <a:pt x="4094247" y="25896"/>
                  </a:lnTo>
                  <a:lnTo>
                    <a:pt x="4048706" y="25334"/>
                  </a:lnTo>
                  <a:lnTo>
                    <a:pt x="4002336" y="25063"/>
                  </a:lnTo>
                  <a:lnTo>
                    <a:pt x="3954151" y="25154"/>
                  </a:lnTo>
                  <a:lnTo>
                    <a:pt x="3903166" y="25679"/>
                  </a:lnTo>
                  <a:lnTo>
                    <a:pt x="3848392" y="26710"/>
                  </a:lnTo>
                  <a:lnTo>
                    <a:pt x="3788845" y="28317"/>
                  </a:lnTo>
                  <a:lnTo>
                    <a:pt x="3723538" y="30572"/>
                  </a:lnTo>
                  <a:lnTo>
                    <a:pt x="3652757" y="33137"/>
                  </a:lnTo>
                  <a:lnTo>
                    <a:pt x="3589272" y="35215"/>
                  </a:lnTo>
                  <a:lnTo>
                    <a:pt x="3532136" y="36797"/>
                  </a:lnTo>
                  <a:lnTo>
                    <a:pt x="3480404" y="37874"/>
                  </a:lnTo>
                  <a:lnTo>
                    <a:pt x="3433127" y="38439"/>
                  </a:lnTo>
                  <a:lnTo>
                    <a:pt x="3389359" y="38482"/>
                  </a:lnTo>
                  <a:lnTo>
                    <a:pt x="3348153" y="37994"/>
                  </a:lnTo>
                  <a:lnTo>
                    <a:pt x="3308563" y="36968"/>
                  </a:lnTo>
                  <a:lnTo>
                    <a:pt x="3269640" y="35395"/>
                  </a:lnTo>
                  <a:lnTo>
                    <a:pt x="3230438" y="33266"/>
                  </a:lnTo>
                  <a:lnTo>
                    <a:pt x="3190011" y="30572"/>
                  </a:lnTo>
                  <a:lnTo>
                    <a:pt x="3153860" y="28136"/>
                  </a:lnTo>
                  <a:lnTo>
                    <a:pt x="3111171" y="25634"/>
                  </a:lnTo>
                  <a:lnTo>
                    <a:pt x="3063025" y="23177"/>
                  </a:lnTo>
                  <a:lnTo>
                    <a:pt x="3010504" y="20875"/>
                  </a:lnTo>
                  <a:lnTo>
                    <a:pt x="2954689" y="18838"/>
                  </a:lnTo>
                  <a:lnTo>
                    <a:pt x="2896663" y="17176"/>
                  </a:lnTo>
                  <a:lnTo>
                    <a:pt x="2837507" y="15999"/>
                  </a:lnTo>
                  <a:lnTo>
                    <a:pt x="2778301" y="15417"/>
                  </a:lnTo>
                  <a:lnTo>
                    <a:pt x="2720129" y="15539"/>
                  </a:lnTo>
                  <a:lnTo>
                    <a:pt x="2664072" y="16477"/>
                  </a:lnTo>
                  <a:lnTo>
                    <a:pt x="2611210" y="18339"/>
                  </a:lnTo>
                  <a:lnTo>
                    <a:pt x="2562627" y="21235"/>
                  </a:lnTo>
                  <a:lnTo>
                    <a:pt x="2519403" y="25276"/>
                  </a:lnTo>
                  <a:lnTo>
                    <a:pt x="2482621" y="30572"/>
                  </a:lnTo>
                  <a:lnTo>
                    <a:pt x="2443050" y="36080"/>
                  </a:lnTo>
                  <a:lnTo>
                    <a:pt x="2401827" y="39013"/>
                  </a:lnTo>
                  <a:lnTo>
                    <a:pt x="2358982" y="39841"/>
                  </a:lnTo>
                  <a:lnTo>
                    <a:pt x="2314548" y="39039"/>
                  </a:lnTo>
                  <a:lnTo>
                    <a:pt x="2268555" y="37078"/>
                  </a:lnTo>
                  <a:lnTo>
                    <a:pt x="2221033" y="34430"/>
                  </a:lnTo>
                  <a:lnTo>
                    <a:pt x="2172013" y="31568"/>
                  </a:lnTo>
                  <a:lnTo>
                    <a:pt x="2121527" y="28964"/>
                  </a:lnTo>
                  <a:lnTo>
                    <a:pt x="2069605" y="27090"/>
                  </a:lnTo>
                  <a:lnTo>
                    <a:pt x="2016278" y="26418"/>
                  </a:lnTo>
                  <a:lnTo>
                    <a:pt x="1961577" y="27422"/>
                  </a:lnTo>
                  <a:lnTo>
                    <a:pt x="1905533" y="30572"/>
                  </a:lnTo>
                  <a:lnTo>
                    <a:pt x="1841058" y="34245"/>
                  </a:lnTo>
                  <a:lnTo>
                    <a:pt x="1782922" y="35218"/>
                  </a:lnTo>
                  <a:lnTo>
                    <a:pt x="1730037" y="34197"/>
                  </a:lnTo>
                  <a:lnTo>
                    <a:pt x="1681312" y="31889"/>
                  </a:lnTo>
                  <a:lnTo>
                    <a:pt x="1635658" y="29001"/>
                  </a:lnTo>
                  <a:lnTo>
                    <a:pt x="1591985" y="26238"/>
                  </a:lnTo>
                  <a:lnTo>
                    <a:pt x="1549204" y="24308"/>
                  </a:lnTo>
                  <a:lnTo>
                    <a:pt x="1506225" y="23916"/>
                  </a:lnTo>
                  <a:lnTo>
                    <a:pt x="1461957" y="25768"/>
                  </a:lnTo>
                  <a:lnTo>
                    <a:pt x="1415313" y="30572"/>
                  </a:lnTo>
                  <a:lnTo>
                    <a:pt x="1377463" y="34512"/>
                  </a:lnTo>
                  <a:lnTo>
                    <a:pt x="1337961" y="36585"/>
                  </a:lnTo>
                  <a:lnTo>
                    <a:pt x="1296658" y="37122"/>
                  </a:lnTo>
                  <a:lnTo>
                    <a:pt x="1253402" y="36453"/>
                  </a:lnTo>
                  <a:lnTo>
                    <a:pt x="1208045" y="34908"/>
                  </a:lnTo>
                  <a:lnTo>
                    <a:pt x="1160435" y="32816"/>
                  </a:lnTo>
                  <a:lnTo>
                    <a:pt x="1110422" y="30507"/>
                  </a:lnTo>
                  <a:lnTo>
                    <a:pt x="1057857" y="28311"/>
                  </a:lnTo>
                  <a:lnTo>
                    <a:pt x="1002589" y="26558"/>
                  </a:lnTo>
                  <a:lnTo>
                    <a:pt x="944468" y="25578"/>
                  </a:lnTo>
                  <a:lnTo>
                    <a:pt x="883343" y="25700"/>
                  </a:lnTo>
                  <a:lnTo>
                    <a:pt x="819065" y="27255"/>
                  </a:lnTo>
                  <a:lnTo>
                    <a:pt x="751484" y="30572"/>
                  </a:lnTo>
                  <a:lnTo>
                    <a:pt x="693245" y="33860"/>
                  </a:lnTo>
                  <a:lnTo>
                    <a:pt x="638338" y="36355"/>
                  </a:lnTo>
                  <a:lnTo>
                    <a:pt x="586264" y="38131"/>
                  </a:lnTo>
                  <a:lnTo>
                    <a:pt x="536524" y="39265"/>
                  </a:lnTo>
                  <a:lnTo>
                    <a:pt x="488618" y="39829"/>
                  </a:lnTo>
                  <a:lnTo>
                    <a:pt x="442048" y="39899"/>
                  </a:lnTo>
                  <a:lnTo>
                    <a:pt x="396314" y="39549"/>
                  </a:lnTo>
                  <a:lnTo>
                    <a:pt x="350918" y="38854"/>
                  </a:lnTo>
                  <a:lnTo>
                    <a:pt x="305359" y="37888"/>
                  </a:lnTo>
                  <a:lnTo>
                    <a:pt x="259140" y="36725"/>
                  </a:lnTo>
                  <a:lnTo>
                    <a:pt x="211760" y="35440"/>
                  </a:lnTo>
                  <a:lnTo>
                    <a:pt x="162722" y="34108"/>
                  </a:lnTo>
                  <a:lnTo>
                    <a:pt x="111525" y="32803"/>
                  </a:lnTo>
                  <a:lnTo>
                    <a:pt x="57671" y="31600"/>
                  </a:lnTo>
                  <a:lnTo>
                    <a:pt x="660" y="30572"/>
                  </a:lnTo>
                  <a:lnTo>
                    <a:pt x="63" y="25492"/>
                  </a:lnTo>
                  <a:lnTo>
                    <a:pt x="0" y="18634"/>
                  </a:lnTo>
                  <a:lnTo>
                    <a:pt x="660" y="12284"/>
                  </a:lnTo>
                  <a:close/>
                </a:path>
              </a:pathLst>
            </a:custGeom>
            <a:ln w="41275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91387" y="2821330"/>
            <a:ext cx="4390390" cy="153797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34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200" spc="-30">
                <a:latin typeface="Trebuchet MS"/>
                <a:cs typeface="Trebuchet MS"/>
              </a:rPr>
              <a:t>Box</a:t>
            </a:r>
            <a:r>
              <a:rPr dirty="0" sz="2200" spc="-190">
                <a:latin typeface="Trebuchet MS"/>
                <a:cs typeface="Trebuchet MS"/>
              </a:rPr>
              <a:t> </a:t>
            </a:r>
            <a:r>
              <a:rPr dirty="0" sz="2200" spc="-20">
                <a:latin typeface="Trebuchet MS"/>
                <a:cs typeface="Trebuchet MS"/>
              </a:rPr>
              <a:t>plots</a:t>
            </a:r>
            <a:r>
              <a:rPr dirty="0" sz="2200" spc="-160">
                <a:latin typeface="Trebuchet MS"/>
                <a:cs typeface="Trebuchet MS"/>
              </a:rPr>
              <a:t> </a:t>
            </a:r>
            <a:r>
              <a:rPr dirty="0" sz="2200" spc="-85">
                <a:latin typeface="Trebuchet MS"/>
                <a:cs typeface="Trebuchet MS"/>
              </a:rPr>
              <a:t>reveal</a:t>
            </a:r>
            <a:r>
              <a:rPr dirty="0" sz="2200" spc="-135">
                <a:latin typeface="Trebuchet MS"/>
                <a:cs typeface="Trebuchet MS"/>
              </a:rPr>
              <a:t> </a:t>
            </a:r>
            <a:r>
              <a:rPr dirty="0" sz="2200" spc="-95">
                <a:latin typeface="Trebuchet MS"/>
                <a:cs typeface="Trebuchet MS"/>
              </a:rPr>
              <a:t>extreme</a:t>
            </a:r>
            <a:r>
              <a:rPr dirty="0" sz="2200" spc="-145">
                <a:latin typeface="Trebuchet MS"/>
                <a:cs typeface="Trebuchet MS"/>
              </a:rPr>
              <a:t> </a:t>
            </a:r>
            <a:r>
              <a:rPr dirty="0" sz="2200" spc="-10">
                <a:latin typeface="Trebuchet MS"/>
                <a:cs typeface="Trebuchet MS"/>
              </a:rPr>
              <a:t>values</a:t>
            </a:r>
            <a:r>
              <a:rPr dirty="0" sz="2200" spc="-160">
                <a:latin typeface="Trebuchet MS"/>
                <a:cs typeface="Trebuchet MS"/>
              </a:rPr>
              <a:t> </a:t>
            </a:r>
            <a:r>
              <a:rPr dirty="0" sz="2200" spc="-25">
                <a:latin typeface="Trebuchet MS"/>
                <a:cs typeface="Trebuchet MS"/>
              </a:rPr>
              <a:t>in:</a:t>
            </a:r>
            <a:endParaRPr sz="2200">
              <a:latin typeface="Trebuchet MS"/>
              <a:cs typeface="Trebuchet MS"/>
            </a:endParaRPr>
          </a:p>
          <a:p>
            <a:pPr lvl="1" marL="469900" indent="-228600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469900" algn="l"/>
              </a:tabLst>
            </a:pPr>
            <a:r>
              <a:rPr dirty="0" sz="2200" spc="-35">
                <a:latin typeface="Trebuchet MS"/>
                <a:cs typeface="Trebuchet MS"/>
              </a:rPr>
              <a:t>Revenue</a:t>
            </a:r>
            <a:r>
              <a:rPr dirty="0" sz="2200" spc="-145">
                <a:latin typeface="Trebuchet MS"/>
                <a:cs typeface="Trebuchet MS"/>
              </a:rPr>
              <a:t> </a:t>
            </a:r>
            <a:r>
              <a:rPr dirty="0" sz="2200" spc="-10">
                <a:latin typeface="Trebuchet MS"/>
                <a:cs typeface="Trebuchet MS"/>
              </a:rPr>
              <a:t>distribution</a:t>
            </a:r>
            <a:endParaRPr sz="2200">
              <a:latin typeface="Trebuchet MS"/>
              <a:cs typeface="Trebuchet MS"/>
            </a:endParaRPr>
          </a:p>
          <a:p>
            <a:pPr lvl="1" marL="469900" indent="-228600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469900" algn="l"/>
              </a:tabLst>
            </a:pPr>
            <a:r>
              <a:rPr dirty="0" sz="2200" spc="-40">
                <a:latin typeface="Trebuchet MS"/>
                <a:cs typeface="Trebuchet MS"/>
              </a:rPr>
              <a:t>Budget</a:t>
            </a:r>
            <a:r>
              <a:rPr dirty="0" sz="2200" spc="-160">
                <a:latin typeface="Trebuchet MS"/>
                <a:cs typeface="Trebuchet MS"/>
              </a:rPr>
              <a:t> </a:t>
            </a:r>
            <a:r>
              <a:rPr dirty="0" sz="2200" spc="-10">
                <a:latin typeface="Trebuchet MS"/>
                <a:cs typeface="Trebuchet MS"/>
              </a:rPr>
              <a:t>allocation</a:t>
            </a:r>
            <a:endParaRPr sz="2200">
              <a:latin typeface="Trebuchet MS"/>
              <a:cs typeface="Trebuchet MS"/>
            </a:endParaRPr>
          </a:p>
          <a:p>
            <a:pPr lvl="1" marL="469900" indent="-228600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469900" algn="l"/>
              </a:tabLst>
            </a:pPr>
            <a:r>
              <a:rPr dirty="0" sz="2200" spc="-70">
                <a:latin typeface="Trebuchet MS"/>
                <a:cs typeface="Trebuchet MS"/>
              </a:rPr>
              <a:t>Popularity</a:t>
            </a:r>
            <a:r>
              <a:rPr dirty="0" sz="2200" spc="-95">
                <a:latin typeface="Trebuchet MS"/>
                <a:cs typeface="Trebuchet MS"/>
              </a:rPr>
              <a:t> </a:t>
            </a:r>
            <a:r>
              <a:rPr dirty="0" sz="2200" spc="-10">
                <a:latin typeface="Trebuchet MS"/>
                <a:cs typeface="Trebuchet MS"/>
              </a:rPr>
              <a:t>metrics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55322" y="2372437"/>
            <a:ext cx="6019256" cy="208086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97142" y="4757898"/>
            <a:ext cx="5878300" cy="17451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18756" y="1159509"/>
            <a:ext cx="310959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60" b="0">
                <a:latin typeface="Trebuchet MS"/>
                <a:cs typeface="Trebuchet MS"/>
              </a:rPr>
              <a:t>Correlation</a:t>
            </a:r>
            <a:r>
              <a:rPr dirty="0" sz="3000" spc="-285" b="0">
                <a:latin typeface="Trebuchet MS"/>
                <a:cs typeface="Trebuchet MS"/>
              </a:rPr>
              <a:t> </a:t>
            </a:r>
            <a:r>
              <a:rPr dirty="0" sz="3000" spc="-40" b="0">
                <a:latin typeface="Trebuchet MS"/>
                <a:cs typeface="Trebuchet MS"/>
              </a:rPr>
              <a:t>Analysis</a:t>
            </a:r>
            <a:endParaRPr sz="3000">
              <a:latin typeface="Trebuchet MS"/>
              <a:cs typeface="Trebuchet MS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25" y="1506869"/>
            <a:ext cx="5359169" cy="3849253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6719823" y="2338149"/>
            <a:ext cx="3293745" cy="85090"/>
            <a:chOff x="6719823" y="2338149"/>
            <a:chExt cx="3293745" cy="85090"/>
          </a:xfrm>
        </p:grpSpPr>
        <p:sp>
          <p:nvSpPr>
            <p:cNvPr id="5" name="object 5" descr=""/>
            <p:cNvSpPr/>
            <p:nvPr/>
          </p:nvSpPr>
          <p:spPr>
            <a:xfrm>
              <a:off x="6739127" y="2362056"/>
              <a:ext cx="3255645" cy="40005"/>
            </a:xfrm>
            <a:custGeom>
              <a:avLst/>
              <a:gdLst/>
              <a:ahLst/>
              <a:cxnLst/>
              <a:rect l="l" t="t" r="r" b="b"/>
              <a:pathLst>
                <a:path w="3255645" h="40005">
                  <a:moveTo>
                    <a:pt x="951875" y="23"/>
                  </a:moveTo>
                  <a:lnTo>
                    <a:pt x="910627" y="0"/>
                  </a:lnTo>
                  <a:lnTo>
                    <a:pt x="870717" y="747"/>
                  </a:lnTo>
                  <a:lnTo>
                    <a:pt x="830067" y="2115"/>
                  </a:lnTo>
                  <a:lnTo>
                    <a:pt x="682888" y="8452"/>
                  </a:lnTo>
                  <a:lnTo>
                    <a:pt x="558245" y="12970"/>
                  </a:lnTo>
                  <a:lnTo>
                    <a:pt x="409513" y="18911"/>
                  </a:lnTo>
                  <a:lnTo>
                    <a:pt x="365915" y="20334"/>
                  </a:lnTo>
                  <a:lnTo>
                    <a:pt x="322961" y="21289"/>
                  </a:lnTo>
                  <a:lnTo>
                    <a:pt x="279244" y="21661"/>
                  </a:lnTo>
                  <a:lnTo>
                    <a:pt x="233360" y="21338"/>
                  </a:lnTo>
                  <a:lnTo>
                    <a:pt x="183899" y="20205"/>
                  </a:lnTo>
                  <a:lnTo>
                    <a:pt x="129457" y="18149"/>
                  </a:lnTo>
                  <a:lnTo>
                    <a:pt x="68626" y="15056"/>
                  </a:lnTo>
                  <a:lnTo>
                    <a:pt x="0" y="10811"/>
                  </a:lnTo>
                  <a:lnTo>
                    <a:pt x="380" y="17669"/>
                  </a:lnTo>
                  <a:lnTo>
                    <a:pt x="889" y="20336"/>
                  </a:lnTo>
                  <a:lnTo>
                    <a:pt x="0" y="29099"/>
                  </a:lnTo>
                  <a:lnTo>
                    <a:pt x="45448" y="28816"/>
                  </a:lnTo>
                  <a:lnTo>
                    <a:pt x="90421" y="28905"/>
                  </a:lnTo>
                  <a:lnTo>
                    <a:pt x="135373" y="29276"/>
                  </a:lnTo>
                  <a:lnTo>
                    <a:pt x="375687" y="32283"/>
                  </a:lnTo>
                  <a:lnTo>
                    <a:pt x="430037" y="32495"/>
                  </a:lnTo>
                  <a:lnTo>
                    <a:pt x="487541" y="32372"/>
                  </a:lnTo>
                  <a:lnTo>
                    <a:pt x="548652" y="31823"/>
                  </a:lnTo>
                  <a:lnTo>
                    <a:pt x="613825" y="30762"/>
                  </a:lnTo>
                  <a:lnTo>
                    <a:pt x="752425" y="27588"/>
                  </a:lnTo>
                  <a:lnTo>
                    <a:pt x="815414" y="26932"/>
                  </a:lnTo>
                  <a:lnTo>
                    <a:pt x="873241" y="26966"/>
                  </a:lnTo>
                  <a:lnTo>
                    <a:pt x="926663" y="27526"/>
                  </a:lnTo>
                  <a:lnTo>
                    <a:pt x="976442" y="28447"/>
                  </a:lnTo>
                  <a:lnTo>
                    <a:pt x="1111511" y="31735"/>
                  </a:lnTo>
                  <a:lnTo>
                    <a:pt x="1154310" y="32458"/>
                  </a:lnTo>
                  <a:lnTo>
                    <a:pt x="1197263" y="32720"/>
                  </a:lnTo>
                  <a:lnTo>
                    <a:pt x="1241130" y="32357"/>
                  </a:lnTo>
                  <a:lnTo>
                    <a:pt x="1286670" y="31205"/>
                  </a:lnTo>
                  <a:lnTo>
                    <a:pt x="1389140" y="26494"/>
                  </a:lnTo>
                  <a:lnTo>
                    <a:pt x="1437046" y="24823"/>
                  </a:lnTo>
                  <a:lnTo>
                    <a:pt x="1480279" y="23947"/>
                  </a:lnTo>
                  <a:lnTo>
                    <a:pt x="1520756" y="23729"/>
                  </a:lnTo>
                  <a:lnTo>
                    <a:pt x="1560395" y="24033"/>
                  </a:lnTo>
                  <a:lnTo>
                    <a:pt x="1748907" y="27708"/>
                  </a:lnTo>
                  <a:lnTo>
                    <a:pt x="1813112" y="28555"/>
                  </a:lnTo>
                  <a:lnTo>
                    <a:pt x="1887981" y="29099"/>
                  </a:lnTo>
                  <a:lnTo>
                    <a:pt x="1950955" y="28991"/>
                  </a:lnTo>
                  <a:lnTo>
                    <a:pt x="2012780" y="28233"/>
                  </a:lnTo>
                  <a:lnTo>
                    <a:pt x="2073291" y="26991"/>
                  </a:lnTo>
                  <a:lnTo>
                    <a:pt x="2132318" y="25434"/>
                  </a:lnTo>
                  <a:lnTo>
                    <a:pt x="2298827" y="20527"/>
                  </a:lnTo>
                  <a:lnTo>
                    <a:pt x="2350245" y="19369"/>
                  </a:lnTo>
                  <a:lnTo>
                    <a:pt x="2399342" y="18727"/>
                  </a:lnTo>
                  <a:lnTo>
                    <a:pt x="2445950" y="18769"/>
                  </a:lnTo>
                  <a:lnTo>
                    <a:pt x="2489901" y="19660"/>
                  </a:lnTo>
                  <a:lnTo>
                    <a:pt x="2531027" y="21568"/>
                  </a:lnTo>
                  <a:lnTo>
                    <a:pt x="2569161" y="24659"/>
                  </a:lnTo>
                  <a:lnTo>
                    <a:pt x="2604135" y="29099"/>
                  </a:lnTo>
                  <a:lnTo>
                    <a:pt x="2643462" y="33817"/>
                  </a:lnTo>
                  <a:lnTo>
                    <a:pt x="2688913" y="36974"/>
                  </a:lnTo>
                  <a:lnTo>
                    <a:pt x="2739306" y="38781"/>
                  </a:lnTo>
                  <a:lnTo>
                    <a:pt x="2793459" y="39450"/>
                  </a:lnTo>
                  <a:lnTo>
                    <a:pt x="2850191" y="39192"/>
                  </a:lnTo>
                  <a:lnTo>
                    <a:pt x="2908321" y="38218"/>
                  </a:lnTo>
                  <a:lnTo>
                    <a:pt x="2966668" y="36740"/>
                  </a:lnTo>
                  <a:lnTo>
                    <a:pt x="3178591" y="30003"/>
                  </a:lnTo>
                  <a:lnTo>
                    <a:pt x="3220299" y="29170"/>
                  </a:lnTo>
                  <a:lnTo>
                    <a:pt x="3255137" y="29099"/>
                  </a:lnTo>
                  <a:lnTo>
                    <a:pt x="3255518" y="20336"/>
                  </a:lnTo>
                  <a:lnTo>
                    <a:pt x="3254882" y="15256"/>
                  </a:lnTo>
                  <a:lnTo>
                    <a:pt x="3255137" y="10811"/>
                  </a:lnTo>
                  <a:lnTo>
                    <a:pt x="3201434" y="15835"/>
                  </a:lnTo>
                  <a:lnTo>
                    <a:pt x="3146559" y="18950"/>
                  </a:lnTo>
                  <a:lnTo>
                    <a:pt x="3090907" y="20431"/>
                  </a:lnTo>
                  <a:lnTo>
                    <a:pt x="3034874" y="20552"/>
                  </a:lnTo>
                  <a:lnTo>
                    <a:pt x="2978855" y="19588"/>
                  </a:lnTo>
                  <a:lnTo>
                    <a:pt x="2923246" y="17816"/>
                  </a:lnTo>
                  <a:lnTo>
                    <a:pt x="2868442" y="15508"/>
                  </a:lnTo>
                  <a:lnTo>
                    <a:pt x="2712818" y="8130"/>
                  </a:lnTo>
                  <a:lnTo>
                    <a:pt x="2665191" y="6435"/>
                  </a:lnTo>
                  <a:lnTo>
                    <a:pt x="2620348" y="5581"/>
                  </a:lnTo>
                  <a:lnTo>
                    <a:pt x="2578683" y="5842"/>
                  </a:lnTo>
                  <a:lnTo>
                    <a:pt x="2540592" y="7494"/>
                  </a:lnTo>
                  <a:lnTo>
                    <a:pt x="2463401" y="15080"/>
                  </a:lnTo>
                  <a:lnTo>
                    <a:pt x="2415017" y="17496"/>
                  </a:lnTo>
                  <a:lnTo>
                    <a:pt x="2362452" y="18384"/>
                  </a:lnTo>
                  <a:lnTo>
                    <a:pt x="2306837" y="18064"/>
                  </a:lnTo>
                  <a:lnTo>
                    <a:pt x="2249305" y="16861"/>
                  </a:lnTo>
                  <a:lnTo>
                    <a:pt x="2190988" y="15097"/>
                  </a:lnTo>
                  <a:lnTo>
                    <a:pt x="2076525" y="11178"/>
                  </a:lnTo>
                  <a:lnTo>
                    <a:pt x="2022643" y="9668"/>
                  </a:lnTo>
                  <a:lnTo>
                    <a:pt x="1972504" y="8889"/>
                  </a:lnTo>
                  <a:lnTo>
                    <a:pt x="1927240" y="9162"/>
                  </a:lnTo>
                  <a:lnTo>
                    <a:pt x="1887981" y="10811"/>
                  </a:lnTo>
                  <a:lnTo>
                    <a:pt x="1854802" y="12896"/>
                  </a:lnTo>
                  <a:lnTo>
                    <a:pt x="1817114" y="14917"/>
                  </a:lnTo>
                  <a:lnTo>
                    <a:pt x="1775352" y="16809"/>
                  </a:lnTo>
                  <a:lnTo>
                    <a:pt x="1729953" y="18509"/>
                  </a:lnTo>
                  <a:lnTo>
                    <a:pt x="1681352" y="19952"/>
                  </a:lnTo>
                  <a:lnTo>
                    <a:pt x="1629987" y="21075"/>
                  </a:lnTo>
                  <a:lnTo>
                    <a:pt x="1576292" y="21813"/>
                  </a:lnTo>
                  <a:lnTo>
                    <a:pt x="1520703" y="22101"/>
                  </a:lnTo>
                  <a:lnTo>
                    <a:pt x="1463658" y="21877"/>
                  </a:lnTo>
                  <a:lnTo>
                    <a:pt x="1405591" y="21075"/>
                  </a:lnTo>
                  <a:lnTo>
                    <a:pt x="1346938" y="19632"/>
                  </a:lnTo>
                  <a:lnTo>
                    <a:pt x="1288136" y="17483"/>
                  </a:lnTo>
                  <a:lnTo>
                    <a:pt x="1229621" y="14564"/>
                  </a:lnTo>
                  <a:lnTo>
                    <a:pt x="1104439" y="6211"/>
                  </a:lnTo>
                  <a:lnTo>
                    <a:pt x="1046702" y="2979"/>
                  </a:lnTo>
                  <a:lnTo>
                    <a:pt x="996541" y="966"/>
                  </a:lnTo>
                  <a:lnTo>
                    <a:pt x="951875" y="23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738873" y="2357199"/>
              <a:ext cx="3255645" cy="46990"/>
            </a:xfrm>
            <a:custGeom>
              <a:avLst/>
              <a:gdLst/>
              <a:ahLst/>
              <a:cxnLst/>
              <a:rect l="l" t="t" r="r" b="b"/>
              <a:pathLst>
                <a:path w="3255645" h="46989">
                  <a:moveTo>
                    <a:pt x="253" y="15668"/>
                  </a:moveTo>
                  <a:lnTo>
                    <a:pt x="59884" y="10650"/>
                  </a:lnTo>
                  <a:lnTo>
                    <a:pt x="118590" y="6628"/>
                  </a:lnTo>
                  <a:lnTo>
                    <a:pt x="176206" y="3577"/>
                  </a:lnTo>
                  <a:lnTo>
                    <a:pt x="232569" y="1472"/>
                  </a:lnTo>
                  <a:lnTo>
                    <a:pt x="287516" y="288"/>
                  </a:lnTo>
                  <a:lnTo>
                    <a:pt x="340883" y="0"/>
                  </a:lnTo>
                  <a:lnTo>
                    <a:pt x="392507" y="581"/>
                  </a:lnTo>
                  <a:lnTo>
                    <a:pt x="442223" y="2009"/>
                  </a:lnTo>
                  <a:lnTo>
                    <a:pt x="489868" y="4256"/>
                  </a:lnTo>
                  <a:lnTo>
                    <a:pt x="535279" y="7298"/>
                  </a:lnTo>
                  <a:lnTo>
                    <a:pt x="578292" y="11111"/>
                  </a:lnTo>
                  <a:lnTo>
                    <a:pt x="618744" y="15668"/>
                  </a:lnTo>
                  <a:lnTo>
                    <a:pt x="655643" y="19572"/>
                  </a:lnTo>
                  <a:lnTo>
                    <a:pt x="694221" y="22295"/>
                  </a:lnTo>
                  <a:lnTo>
                    <a:pt x="734619" y="23982"/>
                  </a:lnTo>
                  <a:lnTo>
                    <a:pt x="776978" y="24777"/>
                  </a:lnTo>
                  <a:lnTo>
                    <a:pt x="821439" y="24825"/>
                  </a:lnTo>
                  <a:lnTo>
                    <a:pt x="868143" y="24270"/>
                  </a:lnTo>
                  <a:lnTo>
                    <a:pt x="917232" y="23258"/>
                  </a:lnTo>
                  <a:lnTo>
                    <a:pt x="968847" y="21932"/>
                  </a:lnTo>
                  <a:lnTo>
                    <a:pt x="1023128" y="20438"/>
                  </a:lnTo>
                  <a:lnTo>
                    <a:pt x="1080218" y="18920"/>
                  </a:lnTo>
                  <a:lnTo>
                    <a:pt x="1140256" y="17522"/>
                  </a:lnTo>
                  <a:lnTo>
                    <a:pt x="1203385" y="16390"/>
                  </a:lnTo>
                  <a:lnTo>
                    <a:pt x="1269746" y="15668"/>
                  </a:lnTo>
                  <a:lnTo>
                    <a:pt x="1335621" y="15443"/>
                  </a:lnTo>
                  <a:lnTo>
                    <a:pt x="1397522" y="15638"/>
                  </a:lnTo>
                  <a:lnTo>
                    <a:pt x="1455927" y="16147"/>
                  </a:lnTo>
                  <a:lnTo>
                    <a:pt x="1511316" y="16867"/>
                  </a:lnTo>
                  <a:lnTo>
                    <a:pt x="1564170" y="17694"/>
                  </a:lnTo>
                  <a:lnTo>
                    <a:pt x="1614967" y="18523"/>
                  </a:lnTo>
                  <a:lnTo>
                    <a:pt x="1664187" y="19252"/>
                  </a:lnTo>
                  <a:lnTo>
                    <a:pt x="1712310" y="19775"/>
                  </a:lnTo>
                  <a:lnTo>
                    <a:pt x="1759816" y="19988"/>
                  </a:lnTo>
                  <a:lnTo>
                    <a:pt x="1807184" y="19789"/>
                  </a:lnTo>
                  <a:lnTo>
                    <a:pt x="1854895" y="19071"/>
                  </a:lnTo>
                  <a:lnTo>
                    <a:pt x="1903426" y="17732"/>
                  </a:lnTo>
                  <a:lnTo>
                    <a:pt x="1953259" y="15668"/>
                  </a:lnTo>
                  <a:lnTo>
                    <a:pt x="2004957" y="13799"/>
                  </a:lnTo>
                  <a:lnTo>
                    <a:pt x="2058412" y="12982"/>
                  </a:lnTo>
                  <a:lnTo>
                    <a:pt x="2113185" y="13015"/>
                  </a:lnTo>
                  <a:lnTo>
                    <a:pt x="2168838" y="13695"/>
                  </a:lnTo>
                  <a:lnTo>
                    <a:pt x="2224932" y="14822"/>
                  </a:lnTo>
                  <a:lnTo>
                    <a:pt x="2281027" y="16193"/>
                  </a:lnTo>
                  <a:lnTo>
                    <a:pt x="2336686" y="17606"/>
                  </a:lnTo>
                  <a:lnTo>
                    <a:pt x="2391470" y="18859"/>
                  </a:lnTo>
                  <a:lnTo>
                    <a:pt x="2444939" y="19751"/>
                  </a:lnTo>
                  <a:lnTo>
                    <a:pt x="2496656" y="20080"/>
                  </a:lnTo>
                  <a:lnTo>
                    <a:pt x="2546181" y="19644"/>
                  </a:lnTo>
                  <a:lnTo>
                    <a:pt x="2593075" y="18240"/>
                  </a:lnTo>
                  <a:lnTo>
                    <a:pt x="2636901" y="15668"/>
                  </a:lnTo>
                  <a:lnTo>
                    <a:pt x="2684880" y="12838"/>
                  </a:lnTo>
                  <a:lnTo>
                    <a:pt x="2736840" y="11197"/>
                  </a:lnTo>
                  <a:lnTo>
                    <a:pt x="2791779" y="10542"/>
                  </a:lnTo>
                  <a:lnTo>
                    <a:pt x="2848699" y="10673"/>
                  </a:lnTo>
                  <a:lnTo>
                    <a:pt x="2906599" y="11385"/>
                  </a:lnTo>
                  <a:lnTo>
                    <a:pt x="2964481" y="12477"/>
                  </a:lnTo>
                  <a:lnTo>
                    <a:pt x="3021344" y="13747"/>
                  </a:lnTo>
                  <a:lnTo>
                    <a:pt x="3076189" y="14991"/>
                  </a:lnTo>
                  <a:lnTo>
                    <a:pt x="3128015" y="16007"/>
                  </a:lnTo>
                  <a:lnTo>
                    <a:pt x="3175824" y="16594"/>
                  </a:lnTo>
                  <a:lnTo>
                    <a:pt x="3218616" y="16549"/>
                  </a:lnTo>
                  <a:lnTo>
                    <a:pt x="3255391" y="15668"/>
                  </a:lnTo>
                  <a:lnTo>
                    <a:pt x="3254629" y="23796"/>
                  </a:lnTo>
                  <a:lnTo>
                    <a:pt x="3254882" y="27733"/>
                  </a:lnTo>
                  <a:lnTo>
                    <a:pt x="3255391" y="33956"/>
                  </a:lnTo>
                  <a:lnTo>
                    <a:pt x="3216274" y="34716"/>
                  </a:lnTo>
                  <a:lnTo>
                    <a:pt x="3171047" y="34943"/>
                  </a:lnTo>
                  <a:lnTo>
                    <a:pt x="3120772" y="34740"/>
                  </a:lnTo>
                  <a:lnTo>
                    <a:pt x="3066515" y="34212"/>
                  </a:lnTo>
                  <a:lnTo>
                    <a:pt x="3009342" y="33463"/>
                  </a:lnTo>
                  <a:lnTo>
                    <a:pt x="2950316" y="32597"/>
                  </a:lnTo>
                  <a:lnTo>
                    <a:pt x="2890504" y="31718"/>
                  </a:lnTo>
                  <a:lnTo>
                    <a:pt x="2830969" y="30930"/>
                  </a:lnTo>
                  <a:lnTo>
                    <a:pt x="2772777" y="30338"/>
                  </a:lnTo>
                  <a:lnTo>
                    <a:pt x="2716994" y="30046"/>
                  </a:lnTo>
                  <a:lnTo>
                    <a:pt x="2664683" y="30158"/>
                  </a:lnTo>
                  <a:lnTo>
                    <a:pt x="2616910" y="30777"/>
                  </a:lnTo>
                  <a:lnTo>
                    <a:pt x="2574740" y="32008"/>
                  </a:lnTo>
                  <a:lnTo>
                    <a:pt x="2539237" y="33956"/>
                  </a:lnTo>
                  <a:lnTo>
                    <a:pt x="2505838" y="35586"/>
                  </a:lnTo>
                  <a:lnTo>
                    <a:pt x="2429806" y="35335"/>
                  </a:lnTo>
                  <a:lnTo>
                    <a:pt x="2387363" y="33956"/>
                  </a:lnTo>
                  <a:lnTo>
                    <a:pt x="2342093" y="32075"/>
                  </a:lnTo>
                  <a:lnTo>
                    <a:pt x="2294092" y="29944"/>
                  </a:lnTo>
                  <a:lnTo>
                    <a:pt x="2243455" y="27812"/>
                  </a:lnTo>
                  <a:lnTo>
                    <a:pt x="2190274" y="25932"/>
                  </a:lnTo>
                  <a:lnTo>
                    <a:pt x="2134645" y="24553"/>
                  </a:lnTo>
                  <a:lnTo>
                    <a:pt x="2076663" y="23926"/>
                  </a:lnTo>
                  <a:lnTo>
                    <a:pt x="2016421" y="24302"/>
                  </a:lnTo>
                  <a:lnTo>
                    <a:pt x="1954015" y="25932"/>
                  </a:lnTo>
                  <a:lnTo>
                    <a:pt x="1889538" y="29066"/>
                  </a:lnTo>
                  <a:lnTo>
                    <a:pt x="1823084" y="33956"/>
                  </a:lnTo>
                  <a:lnTo>
                    <a:pt x="1755118" y="39361"/>
                  </a:lnTo>
                  <a:lnTo>
                    <a:pt x="1695392" y="43109"/>
                  </a:lnTo>
                  <a:lnTo>
                    <a:pt x="1642474" y="45407"/>
                  </a:lnTo>
                  <a:lnTo>
                    <a:pt x="1594928" y="46461"/>
                  </a:lnTo>
                  <a:lnTo>
                    <a:pt x="1551320" y="46477"/>
                  </a:lnTo>
                  <a:lnTo>
                    <a:pt x="1510216" y="45661"/>
                  </a:lnTo>
                  <a:lnTo>
                    <a:pt x="1470180" y="44219"/>
                  </a:lnTo>
                  <a:lnTo>
                    <a:pt x="1429779" y="42357"/>
                  </a:lnTo>
                  <a:lnTo>
                    <a:pt x="1387578" y="40280"/>
                  </a:lnTo>
                  <a:lnTo>
                    <a:pt x="1342142" y="38196"/>
                  </a:lnTo>
                  <a:lnTo>
                    <a:pt x="1292038" y="36310"/>
                  </a:lnTo>
                  <a:lnTo>
                    <a:pt x="1235829" y="34828"/>
                  </a:lnTo>
                  <a:lnTo>
                    <a:pt x="1172082" y="33956"/>
                  </a:lnTo>
                  <a:lnTo>
                    <a:pt x="1133511" y="33803"/>
                  </a:lnTo>
                  <a:lnTo>
                    <a:pt x="1094586" y="33886"/>
                  </a:lnTo>
                  <a:lnTo>
                    <a:pt x="1055197" y="34174"/>
                  </a:lnTo>
                  <a:lnTo>
                    <a:pt x="1015234" y="34634"/>
                  </a:lnTo>
                  <a:lnTo>
                    <a:pt x="974587" y="35236"/>
                  </a:lnTo>
                  <a:lnTo>
                    <a:pt x="933145" y="35946"/>
                  </a:lnTo>
                  <a:lnTo>
                    <a:pt x="890798" y="36734"/>
                  </a:lnTo>
                  <a:lnTo>
                    <a:pt x="847436" y="37567"/>
                  </a:lnTo>
                  <a:lnTo>
                    <a:pt x="802949" y="38415"/>
                  </a:lnTo>
                  <a:lnTo>
                    <a:pt x="757227" y="39244"/>
                  </a:lnTo>
                  <a:lnTo>
                    <a:pt x="710158" y="40024"/>
                  </a:lnTo>
                  <a:lnTo>
                    <a:pt x="661634" y="40723"/>
                  </a:lnTo>
                  <a:lnTo>
                    <a:pt x="611544" y="41308"/>
                  </a:lnTo>
                  <a:lnTo>
                    <a:pt x="559777" y="41749"/>
                  </a:lnTo>
                  <a:lnTo>
                    <a:pt x="506224" y="42013"/>
                  </a:lnTo>
                  <a:lnTo>
                    <a:pt x="450774" y="42068"/>
                  </a:lnTo>
                  <a:lnTo>
                    <a:pt x="393317" y="41884"/>
                  </a:lnTo>
                  <a:lnTo>
                    <a:pt x="333743" y="41427"/>
                  </a:lnTo>
                  <a:lnTo>
                    <a:pt x="271941" y="40667"/>
                  </a:lnTo>
                  <a:lnTo>
                    <a:pt x="207801" y="39572"/>
                  </a:lnTo>
                  <a:lnTo>
                    <a:pt x="141213" y="38110"/>
                  </a:lnTo>
                  <a:lnTo>
                    <a:pt x="72068" y="36248"/>
                  </a:lnTo>
                  <a:lnTo>
                    <a:pt x="253" y="33956"/>
                  </a:lnTo>
                  <a:lnTo>
                    <a:pt x="253" y="28114"/>
                  </a:lnTo>
                  <a:lnTo>
                    <a:pt x="0" y="22145"/>
                  </a:lnTo>
                  <a:lnTo>
                    <a:pt x="253" y="15668"/>
                  </a:lnTo>
                  <a:close/>
                </a:path>
              </a:pathLst>
            </a:custGeom>
            <a:ln w="381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818756" y="2646679"/>
            <a:ext cx="4444365" cy="2021839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 marR="294005" indent="227965">
              <a:lnSpc>
                <a:spcPts val="2380"/>
              </a:lnSpc>
              <a:spcBef>
                <a:spcPts val="39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200" spc="-35">
                <a:latin typeface="Trebuchet MS"/>
                <a:cs typeface="Trebuchet MS"/>
              </a:rPr>
              <a:t>Strong</a:t>
            </a:r>
            <a:r>
              <a:rPr dirty="0" sz="2200" spc="-130">
                <a:latin typeface="Trebuchet MS"/>
                <a:cs typeface="Trebuchet MS"/>
              </a:rPr>
              <a:t> </a:t>
            </a:r>
            <a:r>
              <a:rPr dirty="0" sz="2200" spc="-50">
                <a:latin typeface="Trebuchet MS"/>
                <a:cs typeface="Trebuchet MS"/>
              </a:rPr>
              <a:t>positive</a:t>
            </a:r>
            <a:r>
              <a:rPr dirty="0" sz="2200" spc="-125">
                <a:latin typeface="Trebuchet MS"/>
                <a:cs typeface="Trebuchet MS"/>
              </a:rPr>
              <a:t> </a:t>
            </a:r>
            <a:r>
              <a:rPr dirty="0" sz="2200" spc="-65">
                <a:latin typeface="Trebuchet MS"/>
                <a:cs typeface="Trebuchet MS"/>
              </a:rPr>
              <a:t>correlation</a:t>
            </a:r>
            <a:r>
              <a:rPr dirty="0" sz="2200" spc="-105">
                <a:latin typeface="Trebuchet MS"/>
                <a:cs typeface="Trebuchet MS"/>
              </a:rPr>
              <a:t> </a:t>
            </a:r>
            <a:r>
              <a:rPr dirty="0" sz="2200" spc="-55">
                <a:latin typeface="Trebuchet MS"/>
                <a:cs typeface="Trebuchet MS"/>
              </a:rPr>
              <a:t>(0.75) </a:t>
            </a:r>
            <a:r>
              <a:rPr dirty="0" sz="2200" spc="-70">
                <a:latin typeface="Trebuchet MS"/>
                <a:cs typeface="Trebuchet MS"/>
              </a:rPr>
              <a:t>between</a:t>
            </a:r>
            <a:r>
              <a:rPr dirty="0" sz="2200" spc="-145">
                <a:latin typeface="Trebuchet MS"/>
                <a:cs typeface="Trebuchet MS"/>
              </a:rPr>
              <a:t> </a:t>
            </a:r>
            <a:r>
              <a:rPr dirty="0" sz="2200" spc="-45">
                <a:latin typeface="Trebuchet MS"/>
                <a:cs typeface="Trebuchet MS"/>
              </a:rPr>
              <a:t>budget</a:t>
            </a:r>
            <a:r>
              <a:rPr dirty="0" sz="2200" spc="-190">
                <a:latin typeface="Trebuchet MS"/>
                <a:cs typeface="Trebuchet MS"/>
              </a:rPr>
              <a:t> </a:t>
            </a:r>
            <a:r>
              <a:rPr dirty="0" sz="2200">
                <a:latin typeface="Trebuchet MS"/>
                <a:cs typeface="Trebuchet MS"/>
              </a:rPr>
              <a:t>and</a:t>
            </a:r>
            <a:r>
              <a:rPr dirty="0" sz="2200" spc="-165">
                <a:latin typeface="Trebuchet MS"/>
                <a:cs typeface="Trebuchet MS"/>
              </a:rPr>
              <a:t> </a:t>
            </a:r>
            <a:r>
              <a:rPr dirty="0" sz="2200" spc="-10">
                <a:latin typeface="Trebuchet MS"/>
                <a:cs typeface="Trebuchet MS"/>
              </a:rPr>
              <a:t>revenue</a:t>
            </a:r>
            <a:endParaRPr sz="2200">
              <a:latin typeface="Trebuchet MS"/>
              <a:cs typeface="Trebuchet MS"/>
            </a:endParaRPr>
          </a:p>
          <a:p>
            <a:pPr marL="240665" indent="-227965">
              <a:lnSpc>
                <a:spcPts val="2510"/>
              </a:lnSpc>
              <a:spcBef>
                <a:spcPts val="29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200" spc="-40">
                <a:latin typeface="Trebuchet MS"/>
                <a:cs typeface="Trebuchet MS"/>
              </a:rPr>
              <a:t>Moderate</a:t>
            </a:r>
            <a:r>
              <a:rPr dirty="0" sz="2200" spc="-120">
                <a:latin typeface="Trebuchet MS"/>
                <a:cs typeface="Trebuchet MS"/>
              </a:rPr>
              <a:t> </a:t>
            </a:r>
            <a:r>
              <a:rPr dirty="0" sz="2200" spc="-65">
                <a:latin typeface="Trebuchet MS"/>
                <a:cs typeface="Trebuchet MS"/>
              </a:rPr>
              <a:t>correlation</a:t>
            </a:r>
            <a:r>
              <a:rPr dirty="0" sz="2200" spc="-125">
                <a:latin typeface="Trebuchet MS"/>
                <a:cs typeface="Trebuchet MS"/>
              </a:rPr>
              <a:t> </a:t>
            </a:r>
            <a:r>
              <a:rPr dirty="0" sz="2200" spc="-70">
                <a:latin typeface="Trebuchet MS"/>
                <a:cs typeface="Trebuchet MS"/>
              </a:rPr>
              <a:t>between</a:t>
            </a:r>
            <a:r>
              <a:rPr dirty="0" sz="2200" spc="-110">
                <a:latin typeface="Trebuchet MS"/>
                <a:cs typeface="Trebuchet MS"/>
              </a:rPr>
              <a:t> </a:t>
            </a:r>
            <a:r>
              <a:rPr dirty="0" sz="2200" spc="-20">
                <a:latin typeface="Trebuchet MS"/>
                <a:cs typeface="Trebuchet MS"/>
              </a:rPr>
              <a:t>vote</a:t>
            </a:r>
            <a:endParaRPr sz="2200">
              <a:latin typeface="Trebuchet MS"/>
              <a:cs typeface="Trebuchet MS"/>
            </a:endParaRPr>
          </a:p>
          <a:p>
            <a:pPr marL="12700">
              <a:lnSpc>
                <a:spcPts val="2510"/>
              </a:lnSpc>
            </a:pPr>
            <a:r>
              <a:rPr dirty="0" sz="2200" spc="-25">
                <a:latin typeface="Trebuchet MS"/>
                <a:cs typeface="Trebuchet MS"/>
              </a:rPr>
              <a:t>count</a:t>
            </a:r>
            <a:r>
              <a:rPr dirty="0" sz="2200" spc="-185">
                <a:latin typeface="Trebuchet MS"/>
                <a:cs typeface="Trebuchet MS"/>
              </a:rPr>
              <a:t> </a:t>
            </a:r>
            <a:r>
              <a:rPr dirty="0" sz="2200">
                <a:latin typeface="Trebuchet MS"/>
                <a:cs typeface="Trebuchet MS"/>
              </a:rPr>
              <a:t>and</a:t>
            </a:r>
            <a:r>
              <a:rPr dirty="0" sz="2200" spc="-160">
                <a:latin typeface="Trebuchet MS"/>
                <a:cs typeface="Trebuchet MS"/>
              </a:rPr>
              <a:t> </a:t>
            </a:r>
            <a:r>
              <a:rPr dirty="0" sz="2200" spc="-50">
                <a:latin typeface="Trebuchet MS"/>
                <a:cs typeface="Trebuchet MS"/>
              </a:rPr>
              <a:t>financial</a:t>
            </a:r>
            <a:r>
              <a:rPr dirty="0" sz="2200" spc="-155">
                <a:latin typeface="Trebuchet MS"/>
                <a:cs typeface="Trebuchet MS"/>
              </a:rPr>
              <a:t> </a:t>
            </a:r>
            <a:r>
              <a:rPr dirty="0" sz="2200" spc="-10">
                <a:latin typeface="Trebuchet MS"/>
                <a:cs typeface="Trebuchet MS"/>
              </a:rPr>
              <a:t>metrics</a:t>
            </a:r>
            <a:endParaRPr sz="2200">
              <a:latin typeface="Trebuchet MS"/>
              <a:cs typeface="Trebuchet MS"/>
            </a:endParaRPr>
          </a:p>
          <a:p>
            <a:pPr marL="12700" marR="45085" indent="227965">
              <a:lnSpc>
                <a:spcPts val="2380"/>
              </a:lnSpc>
              <a:spcBef>
                <a:spcPts val="63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200" spc="-30">
                <a:latin typeface="Trebuchet MS"/>
                <a:cs typeface="Trebuchet MS"/>
              </a:rPr>
              <a:t>Weak</a:t>
            </a:r>
            <a:r>
              <a:rPr dirty="0" sz="2200" spc="-114">
                <a:latin typeface="Trebuchet MS"/>
                <a:cs typeface="Trebuchet MS"/>
              </a:rPr>
              <a:t> </a:t>
            </a:r>
            <a:r>
              <a:rPr dirty="0" sz="2200" spc="-65">
                <a:latin typeface="Trebuchet MS"/>
                <a:cs typeface="Trebuchet MS"/>
              </a:rPr>
              <a:t>correlation</a:t>
            </a:r>
            <a:r>
              <a:rPr dirty="0" sz="2200" spc="-130">
                <a:latin typeface="Trebuchet MS"/>
                <a:cs typeface="Trebuchet MS"/>
              </a:rPr>
              <a:t> </a:t>
            </a:r>
            <a:r>
              <a:rPr dirty="0" sz="2200" spc="-70">
                <a:latin typeface="Trebuchet MS"/>
                <a:cs typeface="Trebuchet MS"/>
              </a:rPr>
              <a:t>between</a:t>
            </a:r>
            <a:r>
              <a:rPr dirty="0" sz="2200" spc="-110">
                <a:latin typeface="Trebuchet MS"/>
                <a:cs typeface="Trebuchet MS"/>
              </a:rPr>
              <a:t> </a:t>
            </a:r>
            <a:r>
              <a:rPr dirty="0" sz="2200" spc="-30">
                <a:latin typeface="Trebuchet MS"/>
                <a:cs typeface="Trebuchet MS"/>
              </a:rPr>
              <a:t>runtime </a:t>
            </a:r>
            <a:r>
              <a:rPr dirty="0" sz="2200">
                <a:latin typeface="Trebuchet MS"/>
                <a:cs typeface="Trebuchet MS"/>
              </a:rPr>
              <a:t>and</a:t>
            </a:r>
            <a:r>
              <a:rPr dirty="0" sz="2200" spc="-180">
                <a:latin typeface="Trebuchet MS"/>
                <a:cs typeface="Trebuchet MS"/>
              </a:rPr>
              <a:t> </a:t>
            </a:r>
            <a:r>
              <a:rPr dirty="0" sz="2200" spc="-75">
                <a:latin typeface="Trebuchet MS"/>
                <a:cs typeface="Trebuchet MS"/>
              </a:rPr>
              <a:t>other</a:t>
            </a:r>
            <a:r>
              <a:rPr dirty="0" sz="2200" spc="-185">
                <a:latin typeface="Trebuchet MS"/>
                <a:cs typeface="Trebuchet MS"/>
              </a:rPr>
              <a:t> </a:t>
            </a:r>
            <a:r>
              <a:rPr dirty="0" sz="2200" spc="-10">
                <a:latin typeface="Trebuchet MS"/>
                <a:cs typeface="Trebuchet MS"/>
              </a:rPr>
              <a:t>metrics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9851" y="987425"/>
            <a:ext cx="4699000" cy="4856991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18768" y="971753"/>
            <a:ext cx="4769485" cy="45345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3185" indent="-79375">
              <a:lnSpc>
                <a:spcPts val="1730"/>
              </a:lnSpc>
              <a:spcBef>
                <a:spcPts val="95"/>
              </a:spcBef>
              <a:buSzPct val="93750"/>
              <a:buFont typeface="Arial"/>
              <a:buChar char="•"/>
              <a:tabLst>
                <a:tab pos="83185" algn="l"/>
              </a:tabLst>
            </a:pPr>
            <a:r>
              <a:rPr dirty="0" sz="1600" spc="-35">
                <a:latin typeface="Trebuchet MS"/>
                <a:cs typeface="Trebuchet MS"/>
              </a:rPr>
              <a:t>Strong</a:t>
            </a:r>
            <a:r>
              <a:rPr dirty="0" sz="1600" spc="-70">
                <a:latin typeface="Trebuchet MS"/>
                <a:cs typeface="Trebuchet MS"/>
              </a:rPr>
              <a:t> </a:t>
            </a:r>
            <a:r>
              <a:rPr dirty="0" sz="1600" spc="-45">
                <a:latin typeface="Trebuchet MS"/>
                <a:cs typeface="Trebuchet MS"/>
              </a:rPr>
              <a:t>budget-</a:t>
            </a:r>
            <a:r>
              <a:rPr dirty="0" sz="1600" spc="-50">
                <a:latin typeface="Trebuchet MS"/>
                <a:cs typeface="Trebuchet MS"/>
              </a:rPr>
              <a:t>revenue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50">
                <a:latin typeface="Trebuchet MS"/>
                <a:cs typeface="Trebuchet MS"/>
              </a:rPr>
              <a:t>correlation</a:t>
            </a:r>
            <a:r>
              <a:rPr dirty="0" sz="1600" spc="-6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suggests</a:t>
            </a:r>
            <a:r>
              <a:rPr dirty="0" sz="1600" spc="-8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higher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ts val="1730"/>
              </a:lnSpc>
            </a:pPr>
            <a:r>
              <a:rPr dirty="0" sz="1600" spc="-35">
                <a:latin typeface="Trebuchet MS"/>
                <a:cs typeface="Trebuchet MS"/>
              </a:rPr>
              <a:t>investments</a:t>
            </a:r>
            <a:r>
              <a:rPr dirty="0" sz="1600" spc="-90">
                <a:latin typeface="Trebuchet MS"/>
                <a:cs typeface="Trebuchet MS"/>
              </a:rPr>
              <a:t> </a:t>
            </a:r>
            <a:r>
              <a:rPr dirty="0" sz="1600" spc="-65">
                <a:latin typeface="Trebuchet MS"/>
                <a:cs typeface="Trebuchet MS"/>
              </a:rPr>
              <a:t>often</a:t>
            </a:r>
            <a:r>
              <a:rPr dirty="0" sz="1600" spc="-95">
                <a:latin typeface="Trebuchet MS"/>
                <a:cs typeface="Trebuchet MS"/>
              </a:rPr>
              <a:t> </a:t>
            </a:r>
            <a:r>
              <a:rPr dirty="0" sz="1600" spc="-30">
                <a:latin typeface="Trebuchet MS"/>
                <a:cs typeface="Trebuchet MS"/>
              </a:rPr>
              <a:t>lead</a:t>
            </a:r>
            <a:r>
              <a:rPr dirty="0" sz="1600" spc="-125">
                <a:latin typeface="Trebuchet MS"/>
                <a:cs typeface="Trebuchet MS"/>
              </a:rPr>
              <a:t> </a:t>
            </a:r>
            <a:r>
              <a:rPr dirty="0" sz="1600" spc="-70">
                <a:latin typeface="Trebuchet MS"/>
                <a:cs typeface="Trebuchet MS"/>
              </a:rPr>
              <a:t>to</a:t>
            </a:r>
            <a:r>
              <a:rPr dirty="0" sz="1600" spc="-95">
                <a:latin typeface="Trebuchet MS"/>
                <a:cs typeface="Trebuchet MS"/>
              </a:rPr>
              <a:t> </a:t>
            </a:r>
            <a:r>
              <a:rPr dirty="0" sz="1600" spc="-55">
                <a:latin typeface="Trebuchet MS"/>
                <a:cs typeface="Trebuchet MS"/>
              </a:rPr>
              <a:t>higher</a:t>
            </a:r>
            <a:r>
              <a:rPr dirty="0" sz="1600" spc="-9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returns</a:t>
            </a:r>
            <a:endParaRPr sz="1600">
              <a:latin typeface="Trebuchet MS"/>
              <a:cs typeface="Trebuchet MS"/>
            </a:endParaRPr>
          </a:p>
          <a:p>
            <a:pPr marL="12700" marR="5080" indent="-8255">
              <a:lnSpc>
                <a:spcPts val="1540"/>
              </a:lnSpc>
              <a:spcBef>
                <a:spcPts val="980"/>
              </a:spcBef>
              <a:buSzPct val="93750"/>
              <a:buFont typeface="Arial"/>
              <a:buChar char="•"/>
              <a:tabLst>
                <a:tab pos="83820" algn="l"/>
              </a:tabLst>
            </a:pPr>
            <a:r>
              <a:rPr dirty="0" sz="1600" spc="-75">
                <a:latin typeface="Trebuchet MS"/>
                <a:cs typeface="Trebuchet MS"/>
              </a:rPr>
              <a:t>	</a:t>
            </a:r>
            <a:r>
              <a:rPr dirty="0" sz="1600" spc="-75">
                <a:latin typeface="Trebuchet MS"/>
                <a:cs typeface="Trebuchet MS"/>
              </a:rPr>
              <a:t>However,</a:t>
            </a:r>
            <a:r>
              <a:rPr dirty="0" sz="1600" spc="-70">
                <a:latin typeface="Trebuchet MS"/>
                <a:cs typeface="Trebuchet MS"/>
              </a:rPr>
              <a:t> </a:t>
            </a:r>
            <a:r>
              <a:rPr dirty="0" sz="1600" spc="-45">
                <a:latin typeface="Trebuchet MS"/>
                <a:cs typeface="Trebuchet MS"/>
              </a:rPr>
              <a:t>outliers</a:t>
            </a:r>
            <a:r>
              <a:rPr dirty="0" sz="1600" spc="-65">
                <a:latin typeface="Trebuchet MS"/>
                <a:cs typeface="Trebuchet MS"/>
              </a:rPr>
              <a:t> </a:t>
            </a:r>
            <a:r>
              <a:rPr dirty="0" sz="1600" spc="-45">
                <a:latin typeface="Trebuchet MS"/>
                <a:cs typeface="Trebuchet MS"/>
              </a:rPr>
              <a:t>indicate</a:t>
            </a:r>
            <a:r>
              <a:rPr dirty="0" sz="1600" spc="-8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some</a:t>
            </a:r>
            <a:r>
              <a:rPr dirty="0" sz="1600" spc="-80">
                <a:latin typeface="Trebuchet MS"/>
                <a:cs typeface="Trebuchet MS"/>
              </a:rPr>
              <a:t> </a:t>
            </a:r>
            <a:r>
              <a:rPr dirty="0" sz="1600" spc="-45">
                <a:latin typeface="Trebuchet MS"/>
                <a:cs typeface="Trebuchet MS"/>
              </a:rPr>
              <a:t>low-</a:t>
            </a:r>
            <a:r>
              <a:rPr dirty="0" sz="1600" spc="-40">
                <a:latin typeface="Trebuchet MS"/>
                <a:cs typeface="Trebuchet MS"/>
              </a:rPr>
              <a:t>budget</a:t>
            </a:r>
            <a:r>
              <a:rPr dirty="0" sz="1600" spc="-70">
                <a:latin typeface="Trebuchet MS"/>
                <a:cs typeface="Trebuchet MS"/>
              </a:rPr>
              <a:t> </a:t>
            </a:r>
            <a:r>
              <a:rPr dirty="0" sz="1600" spc="-30">
                <a:latin typeface="Trebuchet MS"/>
                <a:cs typeface="Trebuchet MS"/>
              </a:rPr>
              <a:t>films</a:t>
            </a:r>
            <a:r>
              <a:rPr dirty="0" sz="1600" spc="-9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can </a:t>
            </a:r>
            <a:r>
              <a:rPr dirty="0" sz="1600" spc="-35">
                <a:latin typeface="Trebuchet MS"/>
                <a:cs typeface="Trebuchet MS"/>
              </a:rPr>
              <a:t>achieve</a:t>
            </a:r>
            <a:r>
              <a:rPr dirty="0" sz="1600" spc="-100">
                <a:latin typeface="Trebuchet MS"/>
                <a:cs typeface="Trebuchet MS"/>
              </a:rPr>
              <a:t> </a:t>
            </a:r>
            <a:r>
              <a:rPr dirty="0" sz="1600" spc="-40">
                <a:latin typeface="Trebuchet MS"/>
                <a:cs typeface="Trebuchet MS"/>
              </a:rPr>
              <a:t>significant</a:t>
            </a:r>
            <a:r>
              <a:rPr dirty="0" sz="1600" spc="-65">
                <a:latin typeface="Trebuchet MS"/>
                <a:cs typeface="Trebuchet MS"/>
              </a:rPr>
              <a:t> </a:t>
            </a:r>
            <a:r>
              <a:rPr dirty="0" sz="1600" spc="50">
                <a:latin typeface="Trebuchet MS"/>
                <a:cs typeface="Trebuchet MS"/>
              </a:rPr>
              <a:t>success</a:t>
            </a:r>
            <a:endParaRPr sz="1600">
              <a:latin typeface="Trebuchet MS"/>
              <a:cs typeface="Trebuchet MS"/>
            </a:endParaRPr>
          </a:p>
          <a:p>
            <a:pPr marL="83820" indent="-79375">
              <a:lnSpc>
                <a:spcPct val="100000"/>
              </a:lnSpc>
              <a:spcBef>
                <a:spcPts val="635"/>
              </a:spcBef>
              <a:buSzPct val="93750"/>
              <a:buFont typeface="Arial"/>
              <a:buChar char="•"/>
              <a:tabLst>
                <a:tab pos="83820" algn="l"/>
              </a:tabLst>
            </a:pPr>
            <a:r>
              <a:rPr dirty="0" sz="1600" spc="-20">
                <a:latin typeface="Trebuchet MS"/>
                <a:cs typeface="Trebuchet MS"/>
              </a:rPr>
              <a:t>Movie</a:t>
            </a:r>
            <a:r>
              <a:rPr dirty="0" sz="1600" spc="-120">
                <a:latin typeface="Trebuchet MS"/>
                <a:cs typeface="Trebuchet MS"/>
              </a:rPr>
              <a:t> </a:t>
            </a:r>
            <a:r>
              <a:rPr dirty="0" sz="1600" spc="-50">
                <a:latin typeface="Trebuchet MS"/>
                <a:cs typeface="Trebuchet MS"/>
              </a:rPr>
              <a:t>ratings</a:t>
            </a:r>
            <a:r>
              <a:rPr dirty="0" sz="1600" spc="-100">
                <a:latin typeface="Trebuchet MS"/>
                <a:cs typeface="Trebuchet MS"/>
              </a:rPr>
              <a:t> </a:t>
            </a:r>
            <a:r>
              <a:rPr dirty="0" sz="1600" spc="-55">
                <a:latin typeface="Trebuchet MS"/>
                <a:cs typeface="Trebuchet MS"/>
              </a:rPr>
              <a:t>follow</a:t>
            </a:r>
            <a:r>
              <a:rPr dirty="0" sz="1600" spc="-12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a</a:t>
            </a:r>
            <a:r>
              <a:rPr dirty="0" sz="1600" spc="-125">
                <a:latin typeface="Trebuchet MS"/>
                <a:cs typeface="Trebuchet MS"/>
              </a:rPr>
              <a:t> </a:t>
            </a:r>
            <a:r>
              <a:rPr dirty="0" sz="1600" spc="-30">
                <a:latin typeface="Trebuchet MS"/>
                <a:cs typeface="Trebuchet MS"/>
              </a:rPr>
              <a:t>normal</a:t>
            </a:r>
            <a:r>
              <a:rPr dirty="0" sz="1600" spc="-8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distribution</a:t>
            </a:r>
            <a:endParaRPr sz="1600">
              <a:latin typeface="Trebuchet MS"/>
              <a:cs typeface="Trebuchet MS"/>
            </a:endParaRPr>
          </a:p>
          <a:p>
            <a:pPr marL="83820" indent="-79375">
              <a:lnSpc>
                <a:spcPts val="1730"/>
              </a:lnSpc>
              <a:spcBef>
                <a:spcPts val="610"/>
              </a:spcBef>
              <a:buSzPct val="93750"/>
              <a:buFont typeface="Arial"/>
              <a:buChar char="•"/>
              <a:tabLst>
                <a:tab pos="83820" algn="l"/>
              </a:tabLst>
            </a:pPr>
            <a:r>
              <a:rPr dirty="0" sz="1600" spc="-20">
                <a:latin typeface="Trebuchet MS"/>
                <a:cs typeface="Trebuchet MS"/>
              </a:rPr>
              <a:t>High</a:t>
            </a:r>
            <a:r>
              <a:rPr dirty="0" sz="1600" spc="-85">
                <a:latin typeface="Trebuchet MS"/>
                <a:cs typeface="Trebuchet MS"/>
              </a:rPr>
              <a:t> </a:t>
            </a:r>
            <a:r>
              <a:rPr dirty="0" sz="1600" spc="-50">
                <a:latin typeface="Trebuchet MS"/>
                <a:cs typeface="Trebuchet MS"/>
              </a:rPr>
              <a:t>ratings</a:t>
            </a:r>
            <a:r>
              <a:rPr dirty="0" sz="1600" spc="-100">
                <a:latin typeface="Trebuchet MS"/>
                <a:cs typeface="Trebuchet MS"/>
              </a:rPr>
              <a:t> </a:t>
            </a:r>
            <a:r>
              <a:rPr dirty="0" sz="1600" spc="-20">
                <a:latin typeface="Trebuchet MS"/>
                <a:cs typeface="Trebuchet MS"/>
              </a:rPr>
              <a:t>don't</a:t>
            </a:r>
            <a:r>
              <a:rPr dirty="0" sz="1600" spc="-95">
                <a:latin typeface="Trebuchet MS"/>
                <a:cs typeface="Trebuchet MS"/>
              </a:rPr>
              <a:t> </a:t>
            </a:r>
            <a:r>
              <a:rPr dirty="0" sz="1600" spc="-50">
                <a:latin typeface="Trebuchet MS"/>
                <a:cs typeface="Trebuchet MS"/>
              </a:rPr>
              <a:t>guarantee</a:t>
            </a:r>
            <a:r>
              <a:rPr dirty="0" sz="1600" spc="-80">
                <a:latin typeface="Trebuchet MS"/>
                <a:cs typeface="Trebuchet MS"/>
              </a:rPr>
              <a:t> </a:t>
            </a:r>
            <a:r>
              <a:rPr dirty="0" sz="1600" spc="-40">
                <a:latin typeface="Trebuchet MS"/>
                <a:cs typeface="Trebuchet MS"/>
              </a:rPr>
              <a:t>high</a:t>
            </a:r>
            <a:r>
              <a:rPr dirty="0" sz="1600" spc="-85">
                <a:latin typeface="Trebuchet MS"/>
                <a:cs typeface="Trebuchet MS"/>
              </a:rPr>
              <a:t> </a:t>
            </a:r>
            <a:r>
              <a:rPr dirty="0" sz="1600" spc="-50">
                <a:latin typeface="Trebuchet MS"/>
                <a:cs typeface="Trebuchet MS"/>
              </a:rPr>
              <a:t>popularity</a:t>
            </a:r>
            <a:r>
              <a:rPr dirty="0" sz="1600" spc="-9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or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ts val="1730"/>
              </a:lnSpc>
            </a:pPr>
            <a:r>
              <a:rPr dirty="0" sz="1600" spc="-10">
                <a:latin typeface="Trebuchet MS"/>
                <a:cs typeface="Trebuchet MS"/>
              </a:rPr>
              <a:t>revenue</a:t>
            </a:r>
            <a:endParaRPr sz="1600">
              <a:latin typeface="Trebuchet MS"/>
              <a:cs typeface="Trebuchet MS"/>
            </a:endParaRPr>
          </a:p>
          <a:p>
            <a:pPr marL="12700" marR="473709" indent="-8255">
              <a:lnSpc>
                <a:spcPts val="1540"/>
              </a:lnSpc>
              <a:spcBef>
                <a:spcPts val="985"/>
              </a:spcBef>
              <a:buSzPct val="93750"/>
              <a:buFont typeface="Arial"/>
              <a:buChar char="•"/>
              <a:tabLst>
                <a:tab pos="83820" algn="l"/>
              </a:tabLst>
            </a:pPr>
            <a:r>
              <a:rPr dirty="0" sz="1600">
                <a:latin typeface="Trebuchet MS"/>
                <a:cs typeface="Trebuchet MS"/>
              </a:rPr>
              <a:t>	</a:t>
            </a:r>
            <a:r>
              <a:rPr dirty="0" sz="1600">
                <a:latin typeface="Trebuchet MS"/>
                <a:cs typeface="Trebuchet MS"/>
              </a:rPr>
              <a:t>Suggests</a:t>
            </a:r>
            <a:r>
              <a:rPr dirty="0" sz="1600" spc="-85">
                <a:latin typeface="Trebuchet MS"/>
                <a:cs typeface="Trebuchet MS"/>
              </a:rPr>
              <a:t> </a:t>
            </a:r>
            <a:r>
              <a:rPr dirty="0" sz="1600" spc="-55">
                <a:latin typeface="Trebuchet MS"/>
                <a:cs typeface="Trebuchet MS"/>
              </a:rPr>
              <a:t>quality</a:t>
            </a:r>
            <a:r>
              <a:rPr dirty="0" sz="1600" spc="-11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and</a:t>
            </a:r>
            <a:r>
              <a:rPr dirty="0" sz="1600" spc="-10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commercial</a:t>
            </a:r>
            <a:r>
              <a:rPr dirty="0" sz="1600" spc="-85">
                <a:latin typeface="Trebuchet MS"/>
                <a:cs typeface="Trebuchet MS"/>
              </a:rPr>
              <a:t> </a:t>
            </a:r>
            <a:r>
              <a:rPr dirty="0" sz="1600" spc="60">
                <a:latin typeface="Trebuchet MS"/>
                <a:cs typeface="Trebuchet MS"/>
              </a:rPr>
              <a:t>success</a:t>
            </a:r>
            <a:r>
              <a:rPr dirty="0" sz="1600" spc="-12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aren't </a:t>
            </a:r>
            <a:r>
              <a:rPr dirty="0" sz="1600" spc="-20">
                <a:latin typeface="Trebuchet MS"/>
                <a:cs typeface="Trebuchet MS"/>
              </a:rPr>
              <a:t>always</a:t>
            </a:r>
            <a:r>
              <a:rPr dirty="0" sz="1600" spc="-114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aligned</a:t>
            </a:r>
            <a:endParaRPr sz="1600">
              <a:latin typeface="Trebuchet MS"/>
              <a:cs typeface="Trebuchet MS"/>
            </a:endParaRPr>
          </a:p>
          <a:p>
            <a:pPr marL="83820" indent="-79375">
              <a:lnSpc>
                <a:spcPct val="100000"/>
              </a:lnSpc>
              <a:spcBef>
                <a:spcPts val="630"/>
              </a:spcBef>
              <a:buSzPct val="93750"/>
              <a:buFont typeface="Arial"/>
              <a:buChar char="•"/>
              <a:tabLst>
                <a:tab pos="83820" algn="l"/>
              </a:tabLst>
            </a:pPr>
            <a:r>
              <a:rPr dirty="0" sz="1600" spc="-35">
                <a:latin typeface="Trebuchet MS"/>
                <a:cs typeface="Trebuchet MS"/>
              </a:rPr>
              <a:t>Runtime</a:t>
            </a:r>
            <a:r>
              <a:rPr dirty="0" sz="1600" spc="-6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shows</a:t>
            </a:r>
            <a:r>
              <a:rPr dirty="0" sz="1600" spc="-75">
                <a:latin typeface="Trebuchet MS"/>
                <a:cs typeface="Trebuchet MS"/>
              </a:rPr>
              <a:t> </a:t>
            </a:r>
            <a:r>
              <a:rPr dirty="0" sz="1600" spc="-90">
                <a:latin typeface="Trebuchet MS"/>
                <a:cs typeface="Trebuchet MS"/>
              </a:rPr>
              <a:t>little</a:t>
            </a:r>
            <a:r>
              <a:rPr dirty="0" sz="1600" spc="-125">
                <a:latin typeface="Trebuchet MS"/>
                <a:cs typeface="Trebuchet MS"/>
              </a:rPr>
              <a:t> </a:t>
            </a:r>
            <a:r>
              <a:rPr dirty="0" sz="1600" spc="-50">
                <a:latin typeface="Trebuchet MS"/>
                <a:cs typeface="Trebuchet MS"/>
              </a:rPr>
              <a:t>correlation</a:t>
            </a:r>
            <a:r>
              <a:rPr dirty="0" sz="1600" spc="-60">
                <a:latin typeface="Trebuchet MS"/>
                <a:cs typeface="Trebuchet MS"/>
              </a:rPr>
              <a:t> </a:t>
            </a:r>
            <a:r>
              <a:rPr dirty="0" sz="1600" spc="-75">
                <a:latin typeface="Trebuchet MS"/>
                <a:cs typeface="Trebuchet MS"/>
              </a:rPr>
              <a:t>with</a:t>
            </a:r>
            <a:r>
              <a:rPr dirty="0" sz="1600" spc="-85">
                <a:latin typeface="Trebuchet MS"/>
                <a:cs typeface="Trebuchet MS"/>
              </a:rPr>
              <a:t> </a:t>
            </a:r>
            <a:r>
              <a:rPr dirty="0" sz="1600" spc="60">
                <a:latin typeface="Trebuchet MS"/>
                <a:cs typeface="Trebuchet MS"/>
              </a:rPr>
              <a:t>success</a:t>
            </a:r>
            <a:r>
              <a:rPr dirty="0" sz="1600" spc="-11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metrics</a:t>
            </a:r>
            <a:endParaRPr sz="1600">
              <a:latin typeface="Trebuchet MS"/>
              <a:cs typeface="Trebuchet MS"/>
            </a:endParaRPr>
          </a:p>
          <a:p>
            <a:pPr marL="83820" indent="-79375">
              <a:lnSpc>
                <a:spcPct val="100000"/>
              </a:lnSpc>
              <a:spcBef>
                <a:spcPts val="610"/>
              </a:spcBef>
              <a:buSzPct val="93750"/>
              <a:buFont typeface="Arial"/>
              <a:buChar char="•"/>
              <a:tabLst>
                <a:tab pos="83820" algn="l"/>
              </a:tabLst>
            </a:pPr>
            <a:r>
              <a:rPr dirty="0" sz="1600">
                <a:latin typeface="Trebuchet MS"/>
                <a:cs typeface="Trebuchet MS"/>
              </a:rPr>
              <a:t>Suggests</a:t>
            </a:r>
            <a:r>
              <a:rPr dirty="0" sz="1600" spc="-10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focusing</a:t>
            </a:r>
            <a:r>
              <a:rPr dirty="0" sz="1600" spc="-8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on</a:t>
            </a:r>
            <a:r>
              <a:rPr dirty="0" sz="1600" spc="-100">
                <a:latin typeface="Trebuchet MS"/>
                <a:cs typeface="Trebuchet MS"/>
              </a:rPr>
              <a:t> </a:t>
            </a:r>
            <a:r>
              <a:rPr dirty="0" sz="1600" spc="-50">
                <a:latin typeface="Trebuchet MS"/>
                <a:cs typeface="Trebuchet MS"/>
              </a:rPr>
              <a:t>content</a:t>
            </a:r>
            <a:r>
              <a:rPr dirty="0" sz="1600" spc="-105">
                <a:latin typeface="Trebuchet MS"/>
                <a:cs typeface="Trebuchet MS"/>
              </a:rPr>
              <a:t> </a:t>
            </a:r>
            <a:r>
              <a:rPr dirty="0" sz="1600" spc="-55">
                <a:latin typeface="Trebuchet MS"/>
                <a:cs typeface="Trebuchet MS"/>
              </a:rPr>
              <a:t>quality</a:t>
            </a:r>
            <a:r>
              <a:rPr dirty="0" sz="1600" spc="-110">
                <a:latin typeface="Trebuchet MS"/>
                <a:cs typeface="Trebuchet MS"/>
              </a:rPr>
              <a:t> </a:t>
            </a:r>
            <a:r>
              <a:rPr dirty="0" sz="1600" spc="-65">
                <a:latin typeface="Trebuchet MS"/>
                <a:cs typeface="Trebuchet MS"/>
              </a:rPr>
              <a:t>over</a:t>
            </a:r>
            <a:r>
              <a:rPr dirty="0" sz="1600" spc="-12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length</a:t>
            </a:r>
            <a:endParaRPr sz="1600">
              <a:latin typeface="Trebuchet MS"/>
              <a:cs typeface="Trebuchet MS"/>
            </a:endParaRPr>
          </a:p>
          <a:p>
            <a:pPr marL="83820" indent="-79375">
              <a:lnSpc>
                <a:spcPts val="1730"/>
              </a:lnSpc>
              <a:spcBef>
                <a:spcPts val="615"/>
              </a:spcBef>
              <a:buSzPct val="93750"/>
              <a:buFont typeface="Arial"/>
              <a:buChar char="•"/>
              <a:tabLst>
                <a:tab pos="83820" algn="l"/>
              </a:tabLst>
            </a:pPr>
            <a:r>
              <a:rPr dirty="0" sz="1600">
                <a:latin typeface="Trebuchet MS"/>
                <a:cs typeface="Trebuchet MS"/>
              </a:rPr>
              <a:t>Most</a:t>
            </a:r>
            <a:r>
              <a:rPr dirty="0" sz="1600" spc="-5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successful</a:t>
            </a:r>
            <a:r>
              <a:rPr dirty="0" sz="1600" spc="-65">
                <a:latin typeface="Trebuchet MS"/>
                <a:cs typeface="Trebuchet MS"/>
              </a:rPr>
              <a:t> </a:t>
            </a:r>
            <a:r>
              <a:rPr dirty="0" sz="1600" spc="-30">
                <a:latin typeface="Trebuchet MS"/>
                <a:cs typeface="Trebuchet MS"/>
              </a:rPr>
              <a:t>films</a:t>
            </a:r>
            <a:r>
              <a:rPr dirty="0" sz="1600" spc="-65">
                <a:latin typeface="Trebuchet MS"/>
                <a:cs typeface="Trebuchet MS"/>
              </a:rPr>
              <a:t> </a:t>
            </a:r>
            <a:r>
              <a:rPr dirty="0" sz="1600" spc="-75">
                <a:latin typeface="Trebuchet MS"/>
                <a:cs typeface="Trebuchet MS"/>
              </a:rPr>
              <a:t>fall</a:t>
            </a:r>
            <a:r>
              <a:rPr dirty="0" sz="1600" spc="-65">
                <a:latin typeface="Trebuchet MS"/>
                <a:cs typeface="Trebuchet MS"/>
              </a:rPr>
              <a:t> within</a:t>
            </a:r>
            <a:r>
              <a:rPr dirty="0" sz="1600" spc="-4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standard</a:t>
            </a:r>
            <a:r>
              <a:rPr dirty="0" sz="1600" spc="-35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runtime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ts val="1730"/>
              </a:lnSpc>
            </a:pPr>
            <a:r>
              <a:rPr dirty="0" sz="1600" spc="-10">
                <a:latin typeface="Trebuchet MS"/>
                <a:cs typeface="Trebuchet MS"/>
              </a:rPr>
              <a:t>ranges</a:t>
            </a:r>
            <a:endParaRPr sz="1600">
              <a:latin typeface="Trebuchet MS"/>
              <a:cs typeface="Trebuchet MS"/>
            </a:endParaRPr>
          </a:p>
          <a:p>
            <a:pPr marL="12700" marR="356870" indent="-8255">
              <a:lnSpc>
                <a:spcPts val="1540"/>
              </a:lnSpc>
              <a:spcBef>
                <a:spcPts val="994"/>
              </a:spcBef>
              <a:buSzPct val="93750"/>
              <a:buFont typeface="Arial"/>
              <a:buChar char="•"/>
              <a:tabLst>
                <a:tab pos="83820" algn="l"/>
              </a:tabLst>
            </a:pPr>
            <a:r>
              <a:rPr dirty="0" sz="1600" spc="-30">
                <a:latin typeface="Trebuchet MS"/>
                <a:cs typeface="Trebuchet MS"/>
              </a:rPr>
              <a:t>	</a:t>
            </a:r>
            <a:r>
              <a:rPr dirty="0" sz="1600" spc="-30">
                <a:latin typeface="Trebuchet MS"/>
                <a:cs typeface="Trebuchet MS"/>
              </a:rPr>
              <a:t>Industry</a:t>
            </a:r>
            <a:r>
              <a:rPr dirty="0" sz="1600" spc="-85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shows</a:t>
            </a:r>
            <a:r>
              <a:rPr dirty="0" sz="1600" spc="-9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a</a:t>
            </a:r>
            <a:r>
              <a:rPr dirty="0" sz="1600" spc="-11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"blockbuster"</a:t>
            </a:r>
            <a:r>
              <a:rPr dirty="0" sz="1600" spc="-95">
                <a:latin typeface="Trebuchet MS"/>
                <a:cs typeface="Trebuchet MS"/>
              </a:rPr>
              <a:t> </a:t>
            </a:r>
            <a:r>
              <a:rPr dirty="0" sz="1600" spc="-60">
                <a:latin typeface="Trebuchet MS"/>
                <a:cs typeface="Trebuchet MS"/>
              </a:rPr>
              <a:t>pattern</a:t>
            </a:r>
            <a:r>
              <a:rPr dirty="0" sz="1600" spc="-100">
                <a:latin typeface="Trebuchet MS"/>
                <a:cs typeface="Trebuchet MS"/>
              </a:rPr>
              <a:t> </a:t>
            </a:r>
            <a:r>
              <a:rPr dirty="0" sz="1600" spc="-60">
                <a:latin typeface="Trebuchet MS"/>
                <a:cs typeface="Trebuchet MS"/>
              </a:rPr>
              <a:t>where</a:t>
            </a:r>
            <a:r>
              <a:rPr dirty="0" sz="1600" spc="-8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few </a:t>
            </a:r>
            <a:r>
              <a:rPr dirty="0" sz="1600" spc="-20">
                <a:latin typeface="Trebuchet MS"/>
                <a:cs typeface="Trebuchet MS"/>
              </a:rPr>
              <a:t>movies</a:t>
            </a:r>
            <a:r>
              <a:rPr dirty="0" sz="1600" spc="-110">
                <a:latin typeface="Trebuchet MS"/>
                <a:cs typeface="Trebuchet MS"/>
              </a:rPr>
              <a:t> </a:t>
            </a:r>
            <a:r>
              <a:rPr dirty="0" sz="1600" spc="-40">
                <a:latin typeface="Trebuchet MS"/>
                <a:cs typeface="Trebuchet MS"/>
              </a:rPr>
              <a:t>capture</a:t>
            </a:r>
            <a:r>
              <a:rPr dirty="0" sz="1600" spc="-100">
                <a:latin typeface="Trebuchet MS"/>
                <a:cs typeface="Trebuchet MS"/>
              </a:rPr>
              <a:t> </a:t>
            </a:r>
            <a:r>
              <a:rPr dirty="0" sz="1600">
                <a:latin typeface="Trebuchet MS"/>
                <a:cs typeface="Trebuchet MS"/>
              </a:rPr>
              <a:t>most</a:t>
            </a:r>
            <a:r>
              <a:rPr dirty="0" sz="1600" spc="-110">
                <a:latin typeface="Trebuchet MS"/>
                <a:cs typeface="Trebuchet MS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revenue</a:t>
            </a:r>
            <a:endParaRPr sz="1600">
              <a:latin typeface="Trebuchet MS"/>
              <a:cs typeface="Trebuchet MS"/>
            </a:endParaRPr>
          </a:p>
          <a:p>
            <a:pPr marL="12700" marR="19685" indent="-8255">
              <a:lnSpc>
                <a:spcPct val="80000"/>
              </a:lnSpc>
              <a:spcBef>
                <a:spcPts val="1005"/>
              </a:spcBef>
              <a:buSzPct val="93750"/>
              <a:buFont typeface="Arial"/>
              <a:buChar char="•"/>
              <a:tabLst>
                <a:tab pos="83820" algn="l"/>
              </a:tabLst>
            </a:pPr>
            <a:r>
              <a:rPr dirty="0" sz="1600" spc="-20">
                <a:latin typeface="Trebuchet MS"/>
                <a:cs typeface="Trebuchet MS"/>
              </a:rPr>
              <a:t>	</a:t>
            </a:r>
            <a:r>
              <a:rPr dirty="0" sz="1600" spc="-20">
                <a:latin typeface="Trebuchet MS"/>
                <a:cs typeface="Trebuchet MS"/>
              </a:rPr>
              <a:t>High</a:t>
            </a:r>
            <a:r>
              <a:rPr dirty="0" sz="1600" spc="-90">
                <a:latin typeface="Trebuchet MS"/>
                <a:cs typeface="Trebuchet MS"/>
              </a:rPr>
              <a:t> </a:t>
            </a:r>
            <a:r>
              <a:rPr dirty="0" sz="1600" spc="-40">
                <a:latin typeface="Trebuchet MS"/>
                <a:cs typeface="Trebuchet MS"/>
              </a:rPr>
              <a:t>budget</a:t>
            </a:r>
            <a:r>
              <a:rPr dirty="0" sz="1600" spc="-110">
                <a:latin typeface="Trebuchet MS"/>
                <a:cs typeface="Trebuchet MS"/>
              </a:rPr>
              <a:t> </a:t>
            </a:r>
            <a:r>
              <a:rPr dirty="0" sz="1600" spc="-30">
                <a:latin typeface="Trebuchet MS"/>
                <a:cs typeface="Trebuchet MS"/>
              </a:rPr>
              <a:t>films</a:t>
            </a:r>
            <a:r>
              <a:rPr dirty="0" sz="1600" spc="-125">
                <a:latin typeface="Trebuchet MS"/>
                <a:cs typeface="Trebuchet MS"/>
              </a:rPr>
              <a:t> </a:t>
            </a:r>
            <a:r>
              <a:rPr dirty="0" sz="1600" spc="-50">
                <a:latin typeface="Trebuchet MS"/>
                <a:cs typeface="Trebuchet MS"/>
              </a:rPr>
              <a:t>tend</a:t>
            </a:r>
            <a:r>
              <a:rPr dirty="0" sz="1600" spc="-110">
                <a:latin typeface="Trebuchet MS"/>
                <a:cs typeface="Trebuchet MS"/>
              </a:rPr>
              <a:t> </a:t>
            </a:r>
            <a:r>
              <a:rPr dirty="0" sz="1600" spc="-70">
                <a:latin typeface="Trebuchet MS"/>
                <a:cs typeface="Trebuchet MS"/>
              </a:rPr>
              <a:t>to</a:t>
            </a:r>
            <a:r>
              <a:rPr dirty="0" sz="1600" spc="-114">
                <a:latin typeface="Trebuchet MS"/>
                <a:cs typeface="Trebuchet MS"/>
              </a:rPr>
              <a:t> </a:t>
            </a:r>
            <a:r>
              <a:rPr dirty="0" sz="1600" spc="-65">
                <a:latin typeface="Trebuchet MS"/>
                <a:cs typeface="Trebuchet MS"/>
              </a:rPr>
              <a:t>generate</a:t>
            </a:r>
            <a:r>
              <a:rPr dirty="0" sz="1600" spc="-100">
                <a:latin typeface="Trebuchet MS"/>
                <a:cs typeface="Trebuchet MS"/>
              </a:rPr>
              <a:t> </a:t>
            </a:r>
            <a:r>
              <a:rPr dirty="0" sz="1600" spc="-55">
                <a:latin typeface="Trebuchet MS"/>
                <a:cs typeface="Trebuchet MS"/>
              </a:rPr>
              <a:t>higher</a:t>
            </a:r>
            <a:r>
              <a:rPr dirty="0" sz="1600" spc="-95">
                <a:latin typeface="Trebuchet MS"/>
                <a:cs typeface="Trebuchet MS"/>
              </a:rPr>
              <a:t> </a:t>
            </a:r>
            <a:r>
              <a:rPr dirty="0" sz="1600" spc="-55">
                <a:latin typeface="Trebuchet MS"/>
                <a:cs typeface="Trebuchet MS"/>
              </a:rPr>
              <a:t>revenue</a:t>
            </a:r>
            <a:r>
              <a:rPr dirty="0" sz="1600" spc="-85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but </a:t>
            </a:r>
            <a:r>
              <a:rPr dirty="0" sz="1600" spc="-75">
                <a:latin typeface="Trebuchet MS"/>
                <a:cs typeface="Trebuchet MS"/>
              </a:rPr>
              <a:t>with</a:t>
            </a:r>
            <a:r>
              <a:rPr dirty="0" sz="1600" spc="-114">
                <a:latin typeface="Trebuchet MS"/>
                <a:cs typeface="Trebuchet MS"/>
              </a:rPr>
              <a:t> </a:t>
            </a:r>
            <a:r>
              <a:rPr dirty="0" sz="1600" spc="-55">
                <a:latin typeface="Trebuchet MS"/>
                <a:cs typeface="Trebuchet MS"/>
              </a:rPr>
              <a:t>varying</a:t>
            </a:r>
            <a:r>
              <a:rPr dirty="0" sz="1600" spc="-90">
                <a:latin typeface="Trebuchet MS"/>
                <a:cs typeface="Trebuchet MS"/>
              </a:rPr>
              <a:t> </a:t>
            </a:r>
            <a:r>
              <a:rPr dirty="0" sz="1600" spc="-25">
                <a:latin typeface="Trebuchet MS"/>
                <a:cs typeface="Trebuchet MS"/>
              </a:rPr>
              <a:t>ROI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40"/>
              <a:t>5.</a:t>
            </a:r>
            <a:r>
              <a:rPr dirty="0" spc="-459"/>
              <a:t> </a:t>
            </a:r>
            <a:r>
              <a:rPr dirty="0" spc="-135"/>
              <a:t>Results</a:t>
            </a:r>
            <a:r>
              <a:rPr dirty="0" spc="-495"/>
              <a:t> </a:t>
            </a:r>
            <a:r>
              <a:rPr dirty="0" spc="-200"/>
              <a:t>and</a:t>
            </a:r>
            <a:r>
              <a:rPr dirty="0" spc="-445"/>
              <a:t> </a:t>
            </a:r>
            <a:r>
              <a:rPr dirty="0" spc="-20"/>
              <a:t>Insights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07917"/>
            <a:ext cx="5258435" cy="4113529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lvl="1" marL="570865" indent="-558800">
              <a:lnSpc>
                <a:spcPct val="100000"/>
              </a:lnSpc>
              <a:spcBef>
                <a:spcPts val="755"/>
              </a:spcBef>
              <a:buAutoNum type="arabicPeriod"/>
              <a:tabLst>
                <a:tab pos="570865" algn="l"/>
              </a:tabLst>
            </a:pPr>
            <a:r>
              <a:rPr dirty="0" sz="2800" spc="-35" b="1">
                <a:latin typeface="Trebuchet MS"/>
                <a:cs typeface="Trebuchet MS"/>
              </a:rPr>
              <a:t>Financial</a:t>
            </a:r>
            <a:r>
              <a:rPr dirty="0" sz="2800" spc="-210" b="1">
                <a:latin typeface="Trebuchet MS"/>
                <a:cs typeface="Trebuchet MS"/>
              </a:rPr>
              <a:t> </a:t>
            </a:r>
            <a:r>
              <a:rPr dirty="0" sz="2800" spc="-10" b="1">
                <a:latin typeface="Trebuchet MS"/>
                <a:cs typeface="Trebuchet MS"/>
              </a:rPr>
              <a:t>Patterns</a:t>
            </a:r>
            <a:endParaRPr sz="2800">
              <a:latin typeface="Trebuchet MS"/>
              <a:cs typeface="Trebuchet MS"/>
            </a:endParaRPr>
          </a:p>
          <a:p>
            <a:pPr lvl="2" marL="240029" indent="-227329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800">
                <a:latin typeface="Trebuchet MS"/>
                <a:cs typeface="Trebuchet MS"/>
              </a:rPr>
              <a:t>Mean</a:t>
            </a:r>
            <a:r>
              <a:rPr dirty="0" sz="2800" spc="-155">
                <a:latin typeface="Trebuchet MS"/>
                <a:cs typeface="Trebuchet MS"/>
              </a:rPr>
              <a:t> </a:t>
            </a:r>
            <a:r>
              <a:rPr dirty="0" sz="2800" spc="-95">
                <a:latin typeface="Trebuchet MS"/>
                <a:cs typeface="Trebuchet MS"/>
              </a:rPr>
              <a:t>revenue:</a:t>
            </a:r>
            <a:r>
              <a:rPr dirty="0" sz="2800" spc="-140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$2.11M</a:t>
            </a:r>
            <a:endParaRPr sz="2800">
              <a:latin typeface="Trebuchet MS"/>
              <a:cs typeface="Trebuchet MS"/>
            </a:endParaRPr>
          </a:p>
          <a:p>
            <a:pPr lvl="2" marL="240665" indent="-2279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 spc="-10">
                <a:latin typeface="Trebuchet MS"/>
                <a:cs typeface="Trebuchet MS"/>
              </a:rPr>
              <a:t>High</a:t>
            </a:r>
            <a:r>
              <a:rPr dirty="0" sz="2800" spc="-250">
                <a:latin typeface="Trebuchet MS"/>
                <a:cs typeface="Trebuchet MS"/>
              </a:rPr>
              <a:t> </a:t>
            </a:r>
            <a:r>
              <a:rPr dirty="0" sz="2800" spc="-65">
                <a:latin typeface="Trebuchet MS"/>
                <a:cs typeface="Trebuchet MS"/>
              </a:rPr>
              <a:t>variance</a:t>
            </a:r>
            <a:r>
              <a:rPr dirty="0" sz="2800" spc="-235">
                <a:latin typeface="Trebuchet MS"/>
                <a:cs typeface="Trebuchet MS"/>
              </a:rPr>
              <a:t> </a:t>
            </a:r>
            <a:r>
              <a:rPr dirty="0" sz="2800" spc="-70">
                <a:latin typeface="Trebuchet MS"/>
                <a:cs typeface="Trebuchet MS"/>
              </a:rPr>
              <a:t>in</a:t>
            </a:r>
            <a:r>
              <a:rPr dirty="0" sz="2800" spc="-250">
                <a:latin typeface="Trebuchet MS"/>
                <a:cs typeface="Trebuchet MS"/>
              </a:rPr>
              <a:t> </a:t>
            </a:r>
            <a:r>
              <a:rPr dirty="0" sz="2800" spc="-25">
                <a:latin typeface="Trebuchet MS"/>
                <a:cs typeface="Trebuchet MS"/>
              </a:rPr>
              <a:t>ROI</a:t>
            </a:r>
            <a:endParaRPr sz="2800">
              <a:latin typeface="Trebuchet MS"/>
              <a:cs typeface="Trebuchet MS"/>
            </a:endParaRPr>
          </a:p>
          <a:p>
            <a:pPr lvl="2" marL="240665" indent="-22796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 spc="-50">
                <a:latin typeface="Trebuchet MS"/>
                <a:cs typeface="Trebuchet MS"/>
              </a:rPr>
              <a:t>Budget</a:t>
            </a:r>
            <a:r>
              <a:rPr dirty="0" sz="2800" spc="-215">
                <a:latin typeface="Trebuchet MS"/>
                <a:cs typeface="Trebuchet MS"/>
              </a:rPr>
              <a:t> </a:t>
            </a:r>
            <a:r>
              <a:rPr dirty="0" sz="2800" spc="-60">
                <a:latin typeface="Trebuchet MS"/>
                <a:cs typeface="Trebuchet MS"/>
              </a:rPr>
              <a:t>strongly</a:t>
            </a:r>
            <a:r>
              <a:rPr dirty="0" sz="2800" spc="-220">
                <a:latin typeface="Trebuchet MS"/>
                <a:cs typeface="Trebuchet MS"/>
              </a:rPr>
              <a:t> </a:t>
            </a:r>
            <a:r>
              <a:rPr dirty="0" sz="2800" spc="-50">
                <a:latin typeface="Trebuchet MS"/>
                <a:cs typeface="Trebuchet MS"/>
              </a:rPr>
              <a:t>predicts</a:t>
            </a:r>
            <a:r>
              <a:rPr dirty="0" sz="2800" spc="-215">
                <a:latin typeface="Trebuchet MS"/>
                <a:cs typeface="Trebuchet MS"/>
              </a:rPr>
              <a:t> </a:t>
            </a:r>
            <a:r>
              <a:rPr dirty="0" sz="2800" spc="-30">
                <a:latin typeface="Trebuchet MS"/>
                <a:cs typeface="Trebuchet MS"/>
              </a:rPr>
              <a:t>revenue</a:t>
            </a: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2800" spc="-170" b="1">
                <a:latin typeface="Trebuchet MS"/>
                <a:cs typeface="Trebuchet MS"/>
              </a:rPr>
              <a:t>5.2</a:t>
            </a:r>
            <a:r>
              <a:rPr dirty="0" sz="2800" spc="-215" b="1">
                <a:latin typeface="Trebuchet MS"/>
                <a:cs typeface="Trebuchet MS"/>
              </a:rPr>
              <a:t> </a:t>
            </a:r>
            <a:r>
              <a:rPr dirty="0" sz="2800" spc="-45" b="1">
                <a:latin typeface="Trebuchet MS"/>
                <a:cs typeface="Trebuchet MS"/>
              </a:rPr>
              <a:t>Production</a:t>
            </a:r>
            <a:r>
              <a:rPr dirty="0" sz="2800" spc="-210" b="1">
                <a:latin typeface="Trebuchet MS"/>
                <a:cs typeface="Trebuchet MS"/>
              </a:rPr>
              <a:t> </a:t>
            </a:r>
            <a:r>
              <a:rPr dirty="0" sz="2800" spc="-10" b="1">
                <a:latin typeface="Trebuchet MS"/>
                <a:cs typeface="Trebuchet MS"/>
              </a:rPr>
              <a:t>Characteristics</a:t>
            </a:r>
            <a:endParaRPr sz="2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 spc="-45">
                <a:latin typeface="Trebuchet MS"/>
                <a:cs typeface="Trebuchet MS"/>
              </a:rPr>
              <a:t>Optimal</a:t>
            </a:r>
            <a:r>
              <a:rPr dirty="0" sz="2800" spc="-245">
                <a:latin typeface="Trebuchet MS"/>
                <a:cs typeface="Trebuchet MS"/>
              </a:rPr>
              <a:t> </a:t>
            </a:r>
            <a:r>
              <a:rPr dirty="0" sz="2800" spc="-70">
                <a:latin typeface="Trebuchet MS"/>
                <a:cs typeface="Trebuchet MS"/>
              </a:rPr>
              <a:t>runtime</a:t>
            </a:r>
            <a:r>
              <a:rPr dirty="0" sz="2800" spc="-254">
                <a:latin typeface="Trebuchet MS"/>
                <a:cs typeface="Trebuchet MS"/>
              </a:rPr>
              <a:t> </a:t>
            </a:r>
            <a:r>
              <a:rPr dirty="0" sz="2800" spc="-85">
                <a:latin typeface="Trebuchet MS"/>
                <a:cs typeface="Trebuchet MS"/>
              </a:rPr>
              <a:t>range</a:t>
            </a:r>
            <a:r>
              <a:rPr dirty="0" sz="2800" spc="-229">
                <a:latin typeface="Trebuchet MS"/>
                <a:cs typeface="Trebuchet MS"/>
              </a:rPr>
              <a:t> </a:t>
            </a:r>
            <a:r>
              <a:rPr dirty="0" sz="2800" spc="-30">
                <a:latin typeface="Trebuchet MS"/>
                <a:cs typeface="Trebuchet MS"/>
              </a:rPr>
              <a:t>identified</a:t>
            </a:r>
            <a:endParaRPr sz="2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 spc="-55">
                <a:latin typeface="Trebuchet MS"/>
                <a:cs typeface="Trebuchet MS"/>
              </a:rPr>
              <a:t>Genre</a:t>
            </a:r>
            <a:r>
              <a:rPr dirty="0" sz="2800" spc="-220">
                <a:latin typeface="Trebuchet MS"/>
                <a:cs typeface="Trebuchet MS"/>
              </a:rPr>
              <a:t> </a:t>
            </a:r>
            <a:r>
              <a:rPr dirty="0" sz="2800" spc="-60">
                <a:latin typeface="Trebuchet MS"/>
                <a:cs typeface="Trebuchet MS"/>
              </a:rPr>
              <a:t>influence</a:t>
            </a:r>
            <a:r>
              <a:rPr dirty="0" sz="2800" spc="-22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on</a:t>
            </a:r>
            <a:r>
              <a:rPr dirty="0" sz="2800" spc="-225">
                <a:latin typeface="Trebuchet MS"/>
                <a:cs typeface="Trebuchet MS"/>
              </a:rPr>
              <a:t> </a:t>
            </a:r>
            <a:r>
              <a:rPr dirty="0" sz="2800" spc="95">
                <a:latin typeface="Trebuchet MS"/>
                <a:cs typeface="Trebuchet MS"/>
              </a:rPr>
              <a:t>success</a:t>
            </a:r>
            <a:endParaRPr sz="28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800" spc="-20">
                <a:latin typeface="Trebuchet MS"/>
                <a:cs typeface="Trebuchet MS"/>
              </a:rPr>
              <a:t>Studio</a:t>
            </a:r>
            <a:r>
              <a:rPr dirty="0" sz="2800" spc="-210">
                <a:latin typeface="Trebuchet MS"/>
                <a:cs typeface="Trebuchet MS"/>
              </a:rPr>
              <a:t> </a:t>
            </a:r>
            <a:r>
              <a:rPr dirty="0" sz="2800" spc="-50">
                <a:latin typeface="Trebuchet MS"/>
                <a:cs typeface="Trebuchet MS"/>
              </a:rPr>
              <a:t>performance</a:t>
            </a:r>
            <a:r>
              <a:rPr dirty="0" sz="2800" spc="-204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variations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16939" y="832510"/>
            <a:ext cx="7350759" cy="5136515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 spc="-185" b="1">
                <a:latin typeface="Trebuchet MS"/>
                <a:cs typeface="Trebuchet MS"/>
              </a:rPr>
              <a:t>5.3</a:t>
            </a:r>
            <a:r>
              <a:rPr dirty="0" sz="2800" spc="-204" b="1">
                <a:latin typeface="Trebuchet MS"/>
                <a:cs typeface="Trebuchet MS"/>
              </a:rPr>
              <a:t> </a:t>
            </a:r>
            <a:r>
              <a:rPr dirty="0" sz="2800" spc="-45" b="1">
                <a:latin typeface="Trebuchet MS"/>
                <a:cs typeface="Trebuchet MS"/>
              </a:rPr>
              <a:t>Audience</a:t>
            </a:r>
            <a:r>
              <a:rPr dirty="0" sz="2800" spc="-180" b="1">
                <a:latin typeface="Trebuchet MS"/>
                <a:cs typeface="Trebuchet MS"/>
              </a:rPr>
              <a:t> </a:t>
            </a:r>
            <a:r>
              <a:rPr dirty="0" sz="2800" spc="-10" b="1">
                <a:latin typeface="Trebuchet MS"/>
                <a:cs typeface="Trebuchet MS"/>
              </a:rPr>
              <a:t>Reception</a:t>
            </a:r>
            <a:endParaRPr sz="2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 spc="-110">
                <a:latin typeface="Trebuchet MS"/>
                <a:cs typeface="Trebuchet MS"/>
              </a:rPr>
              <a:t>Vote</a:t>
            </a:r>
            <a:r>
              <a:rPr dirty="0" sz="2800" spc="-240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patterns</a:t>
            </a:r>
            <a:endParaRPr sz="28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800" spc="-80">
                <a:latin typeface="Trebuchet MS"/>
                <a:cs typeface="Trebuchet MS"/>
              </a:rPr>
              <a:t>Popularity</a:t>
            </a:r>
            <a:r>
              <a:rPr dirty="0" sz="2800" spc="-210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metrics</a:t>
            </a:r>
            <a:endParaRPr sz="2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 spc="-65">
                <a:latin typeface="Trebuchet MS"/>
                <a:cs typeface="Trebuchet MS"/>
              </a:rPr>
              <a:t>Rating</a:t>
            </a:r>
            <a:r>
              <a:rPr dirty="0" sz="2800" spc="-23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correlations</a:t>
            </a:r>
            <a:endParaRPr sz="2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 spc="-180" b="1">
                <a:latin typeface="Trebuchet MS"/>
                <a:cs typeface="Trebuchet MS"/>
              </a:rPr>
              <a:t>6.</a:t>
            </a:r>
            <a:r>
              <a:rPr dirty="0" sz="2800" spc="-220" b="1">
                <a:latin typeface="Trebuchet MS"/>
                <a:cs typeface="Trebuchet MS"/>
              </a:rPr>
              <a:t> </a:t>
            </a:r>
            <a:r>
              <a:rPr dirty="0" sz="2800" spc="-75" b="1">
                <a:latin typeface="Trebuchet MS"/>
                <a:cs typeface="Trebuchet MS"/>
              </a:rPr>
              <a:t>Technical</a:t>
            </a:r>
            <a:r>
              <a:rPr dirty="0" sz="2800" spc="-204" b="1">
                <a:latin typeface="Trebuchet MS"/>
                <a:cs typeface="Trebuchet MS"/>
              </a:rPr>
              <a:t> </a:t>
            </a:r>
            <a:r>
              <a:rPr dirty="0" sz="2800" spc="-10" b="1">
                <a:latin typeface="Trebuchet MS"/>
                <a:cs typeface="Trebuchet MS"/>
              </a:rPr>
              <a:t>Implementation</a:t>
            </a:r>
            <a:endParaRPr sz="28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800" spc="-55">
                <a:latin typeface="Trebuchet MS"/>
                <a:cs typeface="Trebuchet MS"/>
              </a:rPr>
              <a:t>Python-</a:t>
            </a:r>
            <a:r>
              <a:rPr dirty="0" sz="2800">
                <a:latin typeface="Trebuchet MS"/>
                <a:cs typeface="Trebuchet MS"/>
              </a:rPr>
              <a:t>based</a:t>
            </a:r>
            <a:r>
              <a:rPr dirty="0" sz="2800" spc="-6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analysis</a:t>
            </a:r>
            <a:endParaRPr sz="2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 spc="-90">
                <a:latin typeface="Trebuchet MS"/>
                <a:cs typeface="Trebuchet MS"/>
              </a:rPr>
              <a:t>Libraries:</a:t>
            </a:r>
            <a:r>
              <a:rPr dirty="0" sz="2800" spc="-210">
                <a:latin typeface="Trebuchet MS"/>
                <a:cs typeface="Trebuchet MS"/>
              </a:rPr>
              <a:t> </a:t>
            </a:r>
            <a:r>
              <a:rPr dirty="0" sz="2800" spc="-25">
                <a:latin typeface="Trebuchet MS"/>
                <a:cs typeface="Trebuchet MS"/>
              </a:rPr>
              <a:t>Pandas,</a:t>
            </a:r>
            <a:r>
              <a:rPr dirty="0" sz="2800" spc="-200">
                <a:latin typeface="Trebuchet MS"/>
                <a:cs typeface="Trebuchet MS"/>
              </a:rPr>
              <a:t> </a:t>
            </a:r>
            <a:r>
              <a:rPr dirty="0" sz="2800" spc="-60">
                <a:latin typeface="Trebuchet MS"/>
                <a:cs typeface="Trebuchet MS"/>
              </a:rPr>
              <a:t>NumPy,</a:t>
            </a:r>
            <a:r>
              <a:rPr dirty="0" sz="2800" spc="-190">
                <a:latin typeface="Trebuchet MS"/>
                <a:cs typeface="Trebuchet MS"/>
              </a:rPr>
              <a:t> </a:t>
            </a:r>
            <a:r>
              <a:rPr dirty="0" sz="2800" spc="-30">
                <a:latin typeface="Trebuchet MS"/>
                <a:cs typeface="Trebuchet MS"/>
              </a:rPr>
              <a:t>Seaborn,</a:t>
            </a:r>
            <a:r>
              <a:rPr dirty="0" sz="2800" spc="-200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Matplotlib</a:t>
            </a:r>
            <a:endParaRPr sz="2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 spc="50">
                <a:latin typeface="Trebuchet MS"/>
                <a:cs typeface="Trebuchet MS"/>
              </a:rPr>
              <a:t>Custom</a:t>
            </a:r>
            <a:r>
              <a:rPr dirty="0" sz="2800" spc="-225">
                <a:latin typeface="Trebuchet MS"/>
                <a:cs typeface="Trebuchet MS"/>
              </a:rPr>
              <a:t> </a:t>
            </a:r>
            <a:r>
              <a:rPr dirty="0" sz="2800" spc="-30">
                <a:latin typeface="Trebuchet MS"/>
                <a:cs typeface="Trebuchet MS"/>
              </a:rPr>
              <a:t>functions</a:t>
            </a:r>
            <a:r>
              <a:rPr dirty="0" sz="2800" spc="-24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and</a:t>
            </a:r>
            <a:r>
              <a:rPr dirty="0" sz="2800" spc="-240">
                <a:latin typeface="Trebuchet MS"/>
                <a:cs typeface="Trebuchet MS"/>
              </a:rPr>
              <a:t> </a:t>
            </a:r>
            <a:r>
              <a:rPr dirty="0" sz="2800" spc="75">
                <a:latin typeface="Trebuchet MS"/>
                <a:cs typeface="Trebuchet MS"/>
              </a:rPr>
              <a:t>classes</a:t>
            </a:r>
            <a:endParaRPr sz="28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800" spc="-60">
                <a:latin typeface="Trebuchet MS"/>
                <a:cs typeface="Trebuchet MS"/>
              </a:rPr>
              <a:t>Exception</a:t>
            </a:r>
            <a:r>
              <a:rPr dirty="0" sz="2800" spc="-210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handling</a:t>
            </a:r>
            <a:endParaRPr sz="2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 spc="-25">
                <a:latin typeface="Trebuchet MS"/>
                <a:cs typeface="Trebuchet MS"/>
              </a:rPr>
              <a:t>Data</a:t>
            </a:r>
            <a:r>
              <a:rPr dirty="0" sz="2800" spc="-190">
                <a:latin typeface="Trebuchet MS"/>
                <a:cs typeface="Trebuchet MS"/>
              </a:rPr>
              <a:t> </a:t>
            </a:r>
            <a:r>
              <a:rPr dirty="0" sz="2800" spc="-75">
                <a:latin typeface="Trebuchet MS"/>
                <a:cs typeface="Trebuchet MS"/>
              </a:rPr>
              <a:t>transformation</a:t>
            </a:r>
            <a:r>
              <a:rPr dirty="0" sz="2800" spc="-190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techniques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40"/>
              <a:t>7.</a:t>
            </a:r>
            <a:r>
              <a:rPr dirty="0" spc="-475"/>
              <a:t> </a:t>
            </a:r>
            <a:r>
              <a:rPr dirty="0" spc="-60"/>
              <a:t>Conclusions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095754"/>
            <a:ext cx="6940550" cy="471043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800" spc="-90" b="1">
                <a:latin typeface="Trebuchet MS"/>
                <a:cs typeface="Trebuchet MS"/>
              </a:rPr>
              <a:t>Key</a:t>
            </a:r>
            <a:r>
              <a:rPr dirty="0" sz="2800" spc="-240" b="1">
                <a:latin typeface="Trebuchet MS"/>
                <a:cs typeface="Trebuchet MS"/>
              </a:rPr>
              <a:t> </a:t>
            </a:r>
            <a:r>
              <a:rPr dirty="0" sz="2800" spc="-10" b="1">
                <a:latin typeface="Trebuchet MS"/>
                <a:cs typeface="Trebuchet MS"/>
              </a:rPr>
              <a:t>Findings:</a:t>
            </a:r>
            <a:endParaRPr sz="2800">
              <a:latin typeface="Trebuchet MS"/>
              <a:cs typeface="Trebuchet MS"/>
            </a:endParaRPr>
          </a:p>
          <a:p>
            <a:pPr marL="304800" indent="-301625">
              <a:lnSpc>
                <a:spcPct val="100000"/>
              </a:lnSpc>
              <a:spcBef>
                <a:spcPts val="325"/>
              </a:spcBef>
              <a:buSzPct val="91071"/>
              <a:buAutoNum type="arabicPeriod"/>
              <a:tabLst>
                <a:tab pos="304800" algn="l"/>
              </a:tabLst>
            </a:pPr>
            <a:r>
              <a:rPr dirty="0" sz="2800" spc="-40">
                <a:latin typeface="Trebuchet MS"/>
                <a:cs typeface="Trebuchet MS"/>
              </a:rPr>
              <a:t>Strong</a:t>
            </a:r>
            <a:r>
              <a:rPr dirty="0" sz="2800" spc="-185">
                <a:latin typeface="Trebuchet MS"/>
                <a:cs typeface="Trebuchet MS"/>
              </a:rPr>
              <a:t> </a:t>
            </a:r>
            <a:r>
              <a:rPr dirty="0" sz="2800" spc="-65">
                <a:latin typeface="Trebuchet MS"/>
                <a:cs typeface="Trebuchet MS"/>
              </a:rPr>
              <a:t>budget-</a:t>
            </a:r>
            <a:r>
              <a:rPr dirty="0" sz="2800" spc="-75">
                <a:latin typeface="Trebuchet MS"/>
                <a:cs typeface="Trebuchet MS"/>
              </a:rPr>
              <a:t>revenue</a:t>
            </a:r>
            <a:r>
              <a:rPr dirty="0" sz="2800" spc="-16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relationship</a:t>
            </a:r>
            <a:endParaRPr sz="2800">
              <a:latin typeface="Trebuchet MS"/>
              <a:cs typeface="Trebuchet MS"/>
            </a:endParaRPr>
          </a:p>
          <a:p>
            <a:pPr marL="304800" indent="-301625">
              <a:lnSpc>
                <a:spcPct val="100000"/>
              </a:lnSpc>
              <a:spcBef>
                <a:spcPts val="335"/>
              </a:spcBef>
              <a:buSzPct val="91071"/>
              <a:buAutoNum type="arabicPeriod"/>
              <a:tabLst>
                <a:tab pos="304800" algn="l"/>
              </a:tabLst>
            </a:pPr>
            <a:r>
              <a:rPr dirty="0" sz="2800" spc="-20">
                <a:latin typeface="Trebuchet MS"/>
                <a:cs typeface="Trebuchet MS"/>
              </a:rPr>
              <a:t>Audience</a:t>
            </a:r>
            <a:r>
              <a:rPr dirty="0" sz="2800" spc="-210">
                <a:latin typeface="Trebuchet MS"/>
                <a:cs typeface="Trebuchet MS"/>
              </a:rPr>
              <a:t> </a:t>
            </a:r>
            <a:r>
              <a:rPr dirty="0" sz="2800" spc="-70">
                <a:latin typeface="Trebuchet MS"/>
                <a:cs typeface="Trebuchet MS"/>
              </a:rPr>
              <a:t>ratings</a:t>
            </a:r>
            <a:r>
              <a:rPr dirty="0" sz="2800" spc="-229">
                <a:latin typeface="Trebuchet MS"/>
                <a:cs typeface="Trebuchet MS"/>
              </a:rPr>
              <a:t> </a:t>
            </a:r>
            <a:r>
              <a:rPr dirty="0" sz="2800" spc="-55">
                <a:latin typeface="Trebuchet MS"/>
                <a:cs typeface="Trebuchet MS"/>
              </a:rPr>
              <a:t>impact</a:t>
            </a:r>
            <a:r>
              <a:rPr dirty="0" sz="2800" spc="-210">
                <a:latin typeface="Trebuchet MS"/>
                <a:cs typeface="Trebuchet MS"/>
              </a:rPr>
              <a:t> </a:t>
            </a:r>
            <a:r>
              <a:rPr dirty="0" sz="2800" spc="-60">
                <a:latin typeface="Trebuchet MS"/>
                <a:cs typeface="Trebuchet MS"/>
              </a:rPr>
              <a:t>financial</a:t>
            </a:r>
            <a:r>
              <a:rPr dirty="0" sz="2800" spc="-240">
                <a:latin typeface="Trebuchet MS"/>
                <a:cs typeface="Trebuchet MS"/>
              </a:rPr>
              <a:t> </a:t>
            </a:r>
            <a:r>
              <a:rPr dirty="0" sz="2800" spc="100">
                <a:latin typeface="Trebuchet MS"/>
                <a:cs typeface="Trebuchet MS"/>
              </a:rPr>
              <a:t>success</a:t>
            </a:r>
            <a:endParaRPr sz="2800">
              <a:latin typeface="Trebuchet MS"/>
              <a:cs typeface="Trebuchet MS"/>
            </a:endParaRPr>
          </a:p>
          <a:p>
            <a:pPr marL="304165" indent="-301625">
              <a:lnSpc>
                <a:spcPct val="100000"/>
              </a:lnSpc>
              <a:spcBef>
                <a:spcPts val="325"/>
              </a:spcBef>
              <a:buSzPct val="91071"/>
              <a:buAutoNum type="arabicPeriod"/>
              <a:tabLst>
                <a:tab pos="304165" algn="l"/>
              </a:tabLst>
            </a:pPr>
            <a:r>
              <a:rPr dirty="0" sz="2800" spc="-55">
                <a:latin typeface="Trebuchet MS"/>
                <a:cs typeface="Trebuchet MS"/>
              </a:rPr>
              <a:t>Genre</a:t>
            </a:r>
            <a:r>
              <a:rPr dirty="0" sz="2800" spc="-220">
                <a:latin typeface="Trebuchet MS"/>
                <a:cs typeface="Trebuchet MS"/>
              </a:rPr>
              <a:t> </a:t>
            </a:r>
            <a:r>
              <a:rPr dirty="0" sz="2800" spc="-100">
                <a:latin typeface="Trebuchet MS"/>
                <a:cs typeface="Trebuchet MS"/>
              </a:rPr>
              <a:t>diversity</a:t>
            </a:r>
            <a:r>
              <a:rPr dirty="0" sz="2800" spc="-229">
                <a:latin typeface="Trebuchet MS"/>
                <a:cs typeface="Trebuchet MS"/>
              </a:rPr>
              <a:t> </a:t>
            </a:r>
            <a:r>
              <a:rPr dirty="0" sz="2800" spc="-75">
                <a:latin typeface="Trebuchet MS"/>
                <a:cs typeface="Trebuchet MS"/>
              </a:rPr>
              <a:t>affects</a:t>
            </a:r>
            <a:r>
              <a:rPr dirty="0" sz="2800" spc="-215">
                <a:latin typeface="Trebuchet MS"/>
                <a:cs typeface="Trebuchet MS"/>
              </a:rPr>
              <a:t> </a:t>
            </a:r>
            <a:r>
              <a:rPr dirty="0" sz="2800" spc="-95">
                <a:latin typeface="Trebuchet MS"/>
                <a:cs typeface="Trebuchet MS"/>
              </a:rPr>
              <a:t>market</a:t>
            </a:r>
            <a:r>
              <a:rPr dirty="0" sz="2800" spc="-210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performance</a:t>
            </a:r>
            <a:endParaRPr sz="2800">
              <a:latin typeface="Trebuchet MS"/>
              <a:cs typeface="Trebuchet MS"/>
            </a:endParaRPr>
          </a:p>
          <a:p>
            <a:pPr marL="304800" indent="-301625">
              <a:lnSpc>
                <a:spcPct val="100000"/>
              </a:lnSpc>
              <a:spcBef>
                <a:spcPts val="325"/>
              </a:spcBef>
              <a:buSzPct val="91071"/>
              <a:buAutoNum type="arabicPeriod"/>
              <a:tabLst>
                <a:tab pos="304800" algn="l"/>
              </a:tabLst>
            </a:pPr>
            <a:r>
              <a:rPr dirty="0" sz="2800" spc="-50">
                <a:latin typeface="Trebuchet MS"/>
                <a:cs typeface="Trebuchet MS"/>
              </a:rPr>
              <a:t>Production</a:t>
            </a:r>
            <a:r>
              <a:rPr dirty="0" sz="2800" spc="-200">
                <a:latin typeface="Trebuchet MS"/>
                <a:cs typeface="Trebuchet MS"/>
              </a:rPr>
              <a:t> </a:t>
            </a:r>
            <a:r>
              <a:rPr dirty="0" sz="2800" spc="-85">
                <a:latin typeface="Trebuchet MS"/>
                <a:cs typeface="Trebuchet MS"/>
              </a:rPr>
              <a:t>quality</a:t>
            </a:r>
            <a:r>
              <a:rPr dirty="0" sz="2800" spc="-220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indicators</a:t>
            </a:r>
            <a:endParaRPr sz="2800">
              <a:latin typeface="Trebuchet MS"/>
              <a:cs typeface="Trebuchet MS"/>
            </a:endParaRPr>
          </a:p>
          <a:p>
            <a:pPr lvl="1" marL="240665" indent="-227965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 spc="-10" b="1">
                <a:latin typeface="Trebuchet MS"/>
                <a:cs typeface="Trebuchet MS"/>
              </a:rPr>
              <a:t>Recommendations:</a:t>
            </a:r>
            <a:endParaRPr sz="2800">
              <a:latin typeface="Trebuchet MS"/>
              <a:cs typeface="Trebuchet MS"/>
            </a:endParaRPr>
          </a:p>
          <a:p>
            <a:pPr marL="304165" indent="-301625">
              <a:lnSpc>
                <a:spcPct val="100000"/>
              </a:lnSpc>
              <a:spcBef>
                <a:spcPts val="320"/>
              </a:spcBef>
              <a:buSzPct val="91071"/>
              <a:buAutoNum type="arabicPeriod"/>
              <a:tabLst>
                <a:tab pos="304165" algn="l"/>
              </a:tabLst>
            </a:pPr>
            <a:r>
              <a:rPr dirty="0" sz="2800" spc="-50">
                <a:latin typeface="Trebuchet MS"/>
                <a:cs typeface="Trebuchet MS"/>
              </a:rPr>
              <a:t>Budget</a:t>
            </a:r>
            <a:r>
              <a:rPr dirty="0" sz="2800" spc="-190">
                <a:latin typeface="Trebuchet MS"/>
                <a:cs typeface="Trebuchet MS"/>
              </a:rPr>
              <a:t> </a:t>
            </a:r>
            <a:r>
              <a:rPr dirty="0" sz="2800" spc="-80">
                <a:latin typeface="Trebuchet MS"/>
                <a:cs typeface="Trebuchet MS"/>
              </a:rPr>
              <a:t>optimization</a:t>
            </a:r>
            <a:r>
              <a:rPr dirty="0" sz="2800" spc="-22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strategies</a:t>
            </a:r>
            <a:endParaRPr sz="2800">
              <a:latin typeface="Trebuchet MS"/>
              <a:cs typeface="Trebuchet MS"/>
            </a:endParaRPr>
          </a:p>
          <a:p>
            <a:pPr marL="304800" indent="-301625">
              <a:lnSpc>
                <a:spcPct val="100000"/>
              </a:lnSpc>
              <a:spcBef>
                <a:spcPts val="330"/>
              </a:spcBef>
              <a:buSzPct val="91071"/>
              <a:buAutoNum type="arabicPeriod"/>
              <a:tabLst>
                <a:tab pos="304800" algn="l"/>
              </a:tabLst>
            </a:pPr>
            <a:r>
              <a:rPr dirty="0" sz="2800" spc="-55">
                <a:latin typeface="Trebuchet MS"/>
                <a:cs typeface="Trebuchet MS"/>
              </a:rPr>
              <a:t>Genre</a:t>
            </a:r>
            <a:r>
              <a:rPr dirty="0" sz="2800" spc="-210">
                <a:latin typeface="Trebuchet MS"/>
                <a:cs typeface="Trebuchet MS"/>
              </a:rPr>
              <a:t> </a:t>
            </a:r>
            <a:r>
              <a:rPr dirty="0" sz="2800" spc="-40">
                <a:latin typeface="Trebuchet MS"/>
                <a:cs typeface="Trebuchet MS"/>
              </a:rPr>
              <a:t>selection</a:t>
            </a:r>
            <a:r>
              <a:rPr dirty="0" sz="2800" spc="-204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guidance</a:t>
            </a:r>
            <a:endParaRPr sz="2800">
              <a:latin typeface="Trebuchet MS"/>
              <a:cs typeface="Trebuchet MS"/>
            </a:endParaRPr>
          </a:p>
          <a:p>
            <a:pPr marL="304800" indent="-301625">
              <a:lnSpc>
                <a:spcPct val="100000"/>
              </a:lnSpc>
              <a:spcBef>
                <a:spcPts val="335"/>
              </a:spcBef>
              <a:buSzPct val="91071"/>
              <a:buAutoNum type="arabicPeriod"/>
              <a:tabLst>
                <a:tab pos="304800" algn="l"/>
              </a:tabLst>
            </a:pPr>
            <a:r>
              <a:rPr dirty="0" sz="2800" spc="-50">
                <a:latin typeface="Trebuchet MS"/>
                <a:cs typeface="Trebuchet MS"/>
              </a:rPr>
              <a:t>Production</a:t>
            </a:r>
            <a:r>
              <a:rPr dirty="0" sz="2800" spc="-204">
                <a:latin typeface="Trebuchet MS"/>
                <a:cs typeface="Trebuchet MS"/>
              </a:rPr>
              <a:t> </a:t>
            </a:r>
            <a:r>
              <a:rPr dirty="0" sz="2800" spc="-45">
                <a:latin typeface="Trebuchet MS"/>
                <a:cs typeface="Trebuchet MS"/>
              </a:rPr>
              <a:t>planning</a:t>
            </a:r>
            <a:r>
              <a:rPr dirty="0" sz="2800" spc="-210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insights</a:t>
            </a:r>
            <a:endParaRPr sz="2800">
              <a:latin typeface="Trebuchet MS"/>
              <a:cs typeface="Trebuchet MS"/>
            </a:endParaRPr>
          </a:p>
          <a:p>
            <a:pPr marL="304800" indent="-301625">
              <a:lnSpc>
                <a:spcPct val="100000"/>
              </a:lnSpc>
              <a:spcBef>
                <a:spcPts val="325"/>
              </a:spcBef>
              <a:buSzPct val="91071"/>
              <a:buAutoNum type="arabicPeriod"/>
              <a:tabLst>
                <a:tab pos="304800" algn="l"/>
              </a:tabLst>
            </a:pPr>
            <a:r>
              <a:rPr dirty="0" sz="2800" spc="-70">
                <a:latin typeface="Trebuchet MS"/>
                <a:cs typeface="Trebuchet MS"/>
              </a:rPr>
              <a:t>Marketing</a:t>
            </a:r>
            <a:r>
              <a:rPr dirty="0" sz="2800" spc="-17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focus</a:t>
            </a:r>
            <a:r>
              <a:rPr dirty="0" sz="2800" spc="-160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areas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16939" y="596671"/>
            <a:ext cx="4775200" cy="258064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381000" indent="-368300">
              <a:lnSpc>
                <a:spcPct val="100000"/>
              </a:lnSpc>
              <a:spcBef>
                <a:spcPts val="760"/>
              </a:spcBef>
              <a:buFont typeface="Trebuchet MS"/>
              <a:buAutoNum type="arabicPeriod" startAt="8"/>
              <a:tabLst>
                <a:tab pos="381000" algn="l"/>
              </a:tabLst>
            </a:pPr>
            <a:r>
              <a:rPr dirty="0" sz="2800" spc="-110" b="1">
                <a:latin typeface="Trebuchet MS"/>
                <a:cs typeface="Trebuchet MS"/>
              </a:rPr>
              <a:t>Future</a:t>
            </a:r>
            <a:r>
              <a:rPr dirty="0" sz="2800" spc="-204" b="1">
                <a:latin typeface="Trebuchet MS"/>
                <a:cs typeface="Trebuchet MS"/>
              </a:rPr>
              <a:t> </a:t>
            </a:r>
            <a:r>
              <a:rPr dirty="0" sz="2800" spc="-20" b="1">
                <a:latin typeface="Trebuchet MS"/>
                <a:cs typeface="Trebuchet MS"/>
              </a:rPr>
              <a:t>Work</a:t>
            </a:r>
            <a:endParaRPr sz="2800">
              <a:latin typeface="Trebuchet MS"/>
              <a:cs typeface="Trebuchet MS"/>
            </a:endParaRPr>
          </a:p>
          <a:p>
            <a:pPr lvl="1" marL="240665" indent="-227965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Trebuchet MS"/>
                <a:cs typeface="Trebuchet MS"/>
              </a:rPr>
              <a:t>Deep</a:t>
            </a:r>
            <a:r>
              <a:rPr dirty="0" sz="2800" spc="-210">
                <a:latin typeface="Trebuchet MS"/>
                <a:cs typeface="Trebuchet MS"/>
              </a:rPr>
              <a:t> </a:t>
            </a:r>
            <a:r>
              <a:rPr dirty="0" sz="2800" spc="-70">
                <a:latin typeface="Trebuchet MS"/>
                <a:cs typeface="Trebuchet MS"/>
              </a:rPr>
              <a:t>learning</a:t>
            </a:r>
            <a:r>
              <a:rPr dirty="0" sz="2800" spc="-22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predictions</a:t>
            </a:r>
            <a:endParaRPr sz="2800">
              <a:latin typeface="Trebuchet MS"/>
              <a:cs typeface="Trebuchet MS"/>
            </a:endParaRPr>
          </a:p>
          <a:p>
            <a:pPr lvl="1" marL="240665" indent="-22796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 spc="-55">
                <a:latin typeface="Trebuchet MS"/>
                <a:cs typeface="Trebuchet MS"/>
              </a:rPr>
              <a:t>Sentiment</a:t>
            </a:r>
            <a:r>
              <a:rPr dirty="0" sz="2800" spc="-229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analysis</a:t>
            </a:r>
            <a:r>
              <a:rPr dirty="0" sz="2800" spc="-225">
                <a:latin typeface="Trebuchet MS"/>
                <a:cs typeface="Trebuchet MS"/>
              </a:rPr>
              <a:t> </a:t>
            </a:r>
            <a:r>
              <a:rPr dirty="0" sz="2800" spc="-90">
                <a:latin typeface="Trebuchet MS"/>
                <a:cs typeface="Trebuchet MS"/>
              </a:rPr>
              <a:t>of</a:t>
            </a:r>
            <a:r>
              <a:rPr dirty="0" sz="2800" spc="-225">
                <a:latin typeface="Trebuchet MS"/>
                <a:cs typeface="Trebuchet MS"/>
              </a:rPr>
              <a:t> </a:t>
            </a:r>
            <a:r>
              <a:rPr dirty="0" sz="2800" spc="-25">
                <a:latin typeface="Trebuchet MS"/>
                <a:cs typeface="Trebuchet MS"/>
              </a:rPr>
              <a:t>reviews</a:t>
            </a:r>
            <a:endParaRPr sz="2800">
              <a:latin typeface="Trebuchet MS"/>
              <a:cs typeface="Trebuchet MS"/>
            </a:endParaRPr>
          </a:p>
          <a:p>
            <a:pPr lvl="1" marL="240665" indent="-22796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 spc="-50">
                <a:latin typeface="Trebuchet MS"/>
                <a:cs typeface="Trebuchet MS"/>
              </a:rPr>
              <a:t>Real-</a:t>
            </a:r>
            <a:r>
              <a:rPr dirty="0" sz="2800" spc="-95">
                <a:latin typeface="Trebuchet MS"/>
                <a:cs typeface="Trebuchet MS"/>
              </a:rPr>
              <a:t>time</a:t>
            </a:r>
            <a:r>
              <a:rPr dirty="0" sz="2800" spc="-225">
                <a:latin typeface="Trebuchet MS"/>
                <a:cs typeface="Trebuchet MS"/>
              </a:rPr>
              <a:t> </a:t>
            </a:r>
            <a:r>
              <a:rPr dirty="0" sz="2800" spc="-70">
                <a:latin typeface="Trebuchet MS"/>
                <a:cs typeface="Trebuchet MS"/>
              </a:rPr>
              <a:t>data</a:t>
            </a:r>
            <a:r>
              <a:rPr dirty="0" sz="2800" spc="-21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integration</a:t>
            </a:r>
            <a:endParaRPr sz="2800">
              <a:latin typeface="Trebuchet MS"/>
              <a:cs typeface="Trebuchet MS"/>
            </a:endParaRPr>
          </a:p>
          <a:p>
            <a:pPr lvl="1" marL="240665" indent="-227965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 spc="-65">
                <a:latin typeface="Trebuchet MS"/>
                <a:cs typeface="Trebuchet MS"/>
              </a:rPr>
              <a:t>Market</a:t>
            </a:r>
            <a:r>
              <a:rPr dirty="0" sz="2800" spc="-220">
                <a:latin typeface="Trebuchet MS"/>
                <a:cs typeface="Trebuchet MS"/>
              </a:rPr>
              <a:t> </a:t>
            </a:r>
            <a:r>
              <a:rPr dirty="0" sz="2800" spc="-25">
                <a:latin typeface="Trebuchet MS"/>
                <a:cs typeface="Trebuchet MS"/>
              </a:rPr>
              <a:t>segment</a:t>
            </a:r>
            <a:r>
              <a:rPr dirty="0" sz="2800" spc="-21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analysis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329057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30"/>
              <a:t>G.</a:t>
            </a:r>
            <a:r>
              <a:rPr dirty="0" spc="-475"/>
              <a:t> </a:t>
            </a:r>
            <a:r>
              <a:rPr dirty="0" spc="-195"/>
              <a:t>Referenceз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1158239" y="2176145"/>
            <a:ext cx="9227820" cy="9525"/>
          </a:xfrm>
          <a:custGeom>
            <a:avLst/>
            <a:gdLst/>
            <a:ahLst/>
            <a:cxnLst/>
            <a:rect l="l" t="t" r="r" b="b"/>
            <a:pathLst>
              <a:path w="9227820" h="9525">
                <a:moveTo>
                  <a:pt x="9227819" y="0"/>
                </a:moveTo>
                <a:lnTo>
                  <a:pt x="0" y="0"/>
                </a:lnTo>
                <a:lnTo>
                  <a:pt x="0" y="9143"/>
                </a:lnTo>
                <a:lnTo>
                  <a:pt x="9227819" y="9143"/>
                </a:lnTo>
                <a:lnTo>
                  <a:pt x="9227819" y="0"/>
                </a:lnTo>
                <a:close/>
              </a:path>
            </a:pathLst>
          </a:custGeom>
          <a:solidFill>
            <a:srgbClr val="4678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16939" y="1791969"/>
            <a:ext cx="9483725" cy="83566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Clr>
                <a:srgbClr val="000000"/>
              </a:buClr>
              <a:buFont typeface="Arial"/>
              <a:buChar char="•"/>
              <a:tabLst>
                <a:tab pos="241300" algn="l"/>
              </a:tabLst>
            </a:pPr>
            <a:r>
              <a:rPr dirty="0" sz="2800" spc="-130">
                <a:solidFill>
                  <a:srgbClr val="467885"/>
                </a:solidFill>
                <a:latin typeface="Trebuchet MS"/>
                <a:cs typeface="Trebuchet MS"/>
                <a:hlinkClick r:id="rId2"/>
              </a:rPr>
              <a:t>https://www.kaggle.com/datasets/juzershakir/tmdb-</a:t>
            </a:r>
            <a:r>
              <a:rPr dirty="0" sz="2800" spc="-10">
                <a:solidFill>
                  <a:srgbClr val="467885"/>
                </a:solidFill>
                <a:latin typeface="Trebuchet MS"/>
                <a:cs typeface="Trebuchet MS"/>
                <a:hlinkClick r:id="rId2"/>
              </a:rPr>
              <a:t>movies-</a:t>
            </a:r>
            <a:r>
              <a:rPr dirty="0" sz="2800" spc="-10">
                <a:solidFill>
                  <a:srgbClr val="467885"/>
                </a:solidFill>
                <a:latin typeface="Trebuchet MS"/>
                <a:cs typeface="Trebuchet MS"/>
              </a:rPr>
              <a:t> </a:t>
            </a:r>
            <a:r>
              <a:rPr dirty="0" sz="2800" spc="-10">
                <a:solidFill>
                  <a:srgbClr val="467885"/>
                </a:solidFill>
                <a:latin typeface="Trebuchet MS"/>
                <a:cs typeface="Trebuchet MS"/>
              </a:rPr>
              <a:t>	</a:t>
            </a:r>
            <a:r>
              <a:rPr dirty="0" sz="2800" spc="-10">
                <a:solidFill>
                  <a:srgbClr val="467885"/>
                </a:solidFill>
                <a:latin typeface="Trebuchet MS"/>
                <a:cs typeface="Trebuchet MS"/>
                <a:hlinkClick r:id="rId2"/>
              </a:rPr>
              <a:t>dataset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158239" y="2560192"/>
            <a:ext cx="1161415" cy="9525"/>
          </a:xfrm>
          <a:custGeom>
            <a:avLst/>
            <a:gdLst/>
            <a:ahLst/>
            <a:cxnLst/>
            <a:rect l="l" t="t" r="r" b="b"/>
            <a:pathLst>
              <a:path w="1161414" h="9525">
                <a:moveTo>
                  <a:pt x="1161287" y="0"/>
                </a:moveTo>
                <a:lnTo>
                  <a:pt x="0" y="0"/>
                </a:lnTo>
                <a:lnTo>
                  <a:pt x="0" y="9144"/>
                </a:lnTo>
                <a:lnTo>
                  <a:pt x="1161287" y="9144"/>
                </a:lnTo>
                <a:lnTo>
                  <a:pt x="1161287" y="0"/>
                </a:lnTo>
                <a:close/>
              </a:path>
            </a:pathLst>
          </a:custGeom>
          <a:solidFill>
            <a:srgbClr val="46788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6094" y="1573148"/>
            <a:ext cx="3855085" cy="1530985"/>
          </a:xfrm>
          <a:prstGeom prst="rect"/>
        </p:spPr>
        <p:txBody>
          <a:bodyPr wrap="square" lIns="0" tIns="101600" rIns="0" bIns="0" rtlCol="0" vert="horz">
            <a:spAutoFit/>
          </a:bodyPr>
          <a:lstStyle/>
          <a:p>
            <a:pPr marL="12700" marR="5080">
              <a:lnSpc>
                <a:spcPts val="5620"/>
              </a:lnSpc>
              <a:spcBef>
                <a:spcPts val="800"/>
              </a:spcBef>
            </a:pPr>
            <a:r>
              <a:rPr dirty="0" sz="5200" spc="-315" b="0">
                <a:latin typeface="Trebuchet MS"/>
                <a:cs typeface="Trebuchet MS"/>
              </a:rPr>
              <a:t>Thank</a:t>
            </a:r>
            <a:r>
              <a:rPr dirty="0" sz="5200" spc="-555" b="0">
                <a:latin typeface="Trebuchet MS"/>
                <a:cs typeface="Trebuchet MS"/>
              </a:rPr>
              <a:t> </a:t>
            </a:r>
            <a:r>
              <a:rPr dirty="0" sz="5200" spc="-254" b="0">
                <a:latin typeface="Trebuchet MS"/>
                <a:cs typeface="Trebuchet MS"/>
              </a:rPr>
              <a:t>you</a:t>
            </a:r>
            <a:r>
              <a:rPr dirty="0" sz="5200" spc="-545" b="0">
                <a:latin typeface="Trebuchet MS"/>
                <a:cs typeface="Trebuchet MS"/>
              </a:rPr>
              <a:t> </a:t>
            </a:r>
            <a:r>
              <a:rPr dirty="0" sz="5200" spc="-395" b="0">
                <a:latin typeface="Trebuchet MS"/>
                <a:cs typeface="Trebuchet MS"/>
              </a:rPr>
              <a:t>for </a:t>
            </a:r>
            <a:r>
              <a:rPr dirty="0" sz="5200" spc="-295" b="0">
                <a:latin typeface="Trebuchet MS"/>
                <a:cs typeface="Trebuchet MS"/>
              </a:rPr>
              <a:t>your</a:t>
            </a:r>
            <a:r>
              <a:rPr dirty="0" sz="5200" spc="-555" b="0">
                <a:latin typeface="Trebuchet MS"/>
                <a:cs typeface="Trebuchet MS"/>
              </a:rPr>
              <a:t> </a:t>
            </a:r>
            <a:r>
              <a:rPr dirty="0" sz="5200" spc="-380" b="0">
                <a:latin typeface="Trebuchet MS"/>
                <a:cs typeface="Trebuchet MS"/>
              </a:rPr>
              <a:t>attention!</a:t>
            </a:r>
            <a:endParaRPr sz="5200">
              <a:latin typeface="Trebuchet MS"/>
              <a:cs typeface="Trebuchet MS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851964" y="2911137"/>
            <a:ext cx="1024890" cy="1025525"/>
            <a:chOff x="851964" y="2911137"/>
            <a:chExt cx="1024890" cy="10255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4375" y="3256495"/>
              <a:ext cx="174801" cy="17488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9198" y="3256495"/>
              <a:ext cx="174801" cy="17488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096018" y="3596317"/>
              <a:ext cx="536575" cy="172720"/>
            </a:xfrm>
            <a:custGeom>
              <a:avLst/>
              <a:gdLst/>
              <a:ahLst/>
              <a:cxnLst/>
              <a:rect l="l" t="t" r="r" b="b"/>
              <a:pathLst>
                <a:path w="536575" h="172720">
                  <a:moveTo>
                    <a:pt x="509787" y="0"/>
                  </a:moveTo>
                  <a:lnTo>
                    <a:pt x="500494" y="0"/>
                  </a:lnTo>
                  <a:lnTo>
                    <a:pt x="492529" y="3984"/>
                  </a:lnTo>
                  <a:lnTo>
                    <a:pt x="488546" y="10626"/>
                  </a:lnTo>
                  <a:lnTo>
                    <a:pt x="454921" y="47319"/>
                  </a:lnTo>
                  <a:lnTo>
                    <a:pt x="415179" y="77190"/>
                  </a:lnTo>
                  <a:lnTo>
                    <a:pt x="370211" y="99473"/>
                  </a:lnTo>
                  <a:lnTo>
                    <a:pt x="320911" y="113405"/>
                  </a:lnTo>
                  <a:lnTo>
                    <a:pt x="268169" y="118218"/>
                  </a:lnTo>
                  <a:lnTo>
                    <a:pt x="215555" y="113405"/>
                  </a:lnTo>
                  <a:lnTo>
                    <a:pt x="166509" y="99473"/>
                  </a:lnTo>
                  <a:lnTo>
                    <a:pt x="121733" y="77190"/>
                  </a:lnTo>
                  <a:lnTo>
                    <a:pt x="81927" y="47319"/>
                  </a:lnTo>
                  <a:lnTo>
                    <a:pt x="47792" y="10626"/>
                  </a:lnTo>
                  <a:lnTo>
                    <a:pt x="42482" y="3984"/>
                  </a:lnTo>
                  <a:lnTo>
                    <a:pt x="34516" y="0"/>
                  </a:lnTo>
                  <a:lnTo>
                    <a:pt x="0" y="26566"/>
                  </a:lnTo>
                  <a:lnTo>
                    <a:pt x="0" y="31879"/>
                  </a:lnTo>
                  <a:lnTo>
                    <a:pt x="38518" y="79821"/>
                  </a:lnTo>
                  <a:lnTo>
                    <a:pt x="76704" y="111675"/>
                  </a:lnTo>
                  <a:lnTo>
                    <a:pt x="119315" y="137479"/>
                  </a:lnTo>
                  <a:lnTo>
                    <a:pt x="165798" y="156641"/>
                  </a:lnTo>
                  <a:lnTo>
                    <a:pt x="215601" y="168571"/>
                  </a:lnTo>
                  <a:lnTo>
                    <a:pt x="268169" y="172679"/>
                  </a:lnTo>
                  <a:lnTo>
                    <a:pt x="320737" y="168571"/>
                  </a:lnTo>
                  <a:lnTo>
                    <a:pt x="370540" y="156641"/>
                  </a:lnTo>
                  <a:lnTo>
                    <a:pt x="417023" y="137479"/>
                  </a:lnTo>
                  <a:lnTo>
                    <a:pt x="459634" y="111675"/>
                  </a:lnTo>
                  <a:lnTo>
                    <a:pt x="497820" y="79821"/>
                  </a:lnTo>
                  <a:lnTo>
                    <a:pt x="531028" y="42505"/>
                  </a:lnTo>
                  <a:lnTo>
                    <a:pt x="536338" y="33207"/>
                  </a:lnTo>
                  <a:lnTo>
                    <a:pt x="536338" y="26566"/>
                  </a:lnTo>
                  <a:lnTo>
                    <a:pt x="534243" y="16251"/>
                  </a:lnTo>
                  <a:lnTo>
                    <a:pt x="528539" y="7803"/>
                  </a:lnTo>
                  <a:lnTo>
                    <a:pt x="520096" y="2096"/>
                  </a:lnTo>
                  <a:lnTo>
                    <a:pt x="509787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96018" y="3596317"/>
              <a:ext cx="536575" cy="172720"/>
            </a:xfrm>
            <a:custGeom>
              <a:avLst/>
              <a:gdLst/>
              <a:ahLst/>
              <a:cxnLst/>
              <a:rect l="l" t="t" r="r" b="b"/>
              <a:pathLst>
                <a:path w="536575" h="172720">
                  <a:moveTo>
                    <a:pt x="509787" y="0"/>
                  </a:moveTo>
                  <a:lnTo>
                    <a:pt x="500494" y="0"/>
                  </a:lnTo>
                  <a:lnTo>
                    <a:pt x="492529" y="3984"/>
                  </a:lnTo>
                  <a:lnTo>
                    <a:pt x="488546" y="10626"/>
                  </a:lnTo>
                  <a:lnTo>
                    <a:pt x="454921" y="47319"/>
                  </a:lnTo>
                  <a:lnTo>
                    <a:pt x="415179" y="77190"/>
                  </a:lnTo>
                  <a:lnTo>
                    <a:pt x="370211" y="99473"/>
                  </a:lnTo>
                  <a:lnTo>
                    <a:pt x="320911" y="113405"/>
                  </a:lnTo>
                  <a:lnTo>
                    <a:pt x="268169" y="118218"/>
                  </a:lnTo>
                  <a:lnTo>
                    <a:pt x="215555" y="113405"/>
                  </a:lnTo>
                  <a:lnTo>
                    <a:pt x="166509" y="99473"/>
                  </a:lnTo>
                  <a:lnTo>
                    <a:pt x="121733" y="77190"/>
                  </a:lnTo>
                  <a:lnTo>
                    <a:pt x="81927" y="47319"/>
                  </a:lnTo>
                  <a:lnTo>
                    <a:pt x="47792" y="10626"/>
                  </a:lnTo>
                  <a:lnTo>
                    <a:pt x="42482" y="3984"/>
                  </a:lnTo>
                  <a:lnTo>
                    <a:pt x="34516" y="0"/>
                  </a:lnTo>
                  <a:lnTo>
                    <a:pt x="0" y="26566"/>
                  </a:lnTo>
                  <a:lnTo>
                    <a:pt x="0" y="31879"/>
                  </a:lnTo>
                  <a:lnTo>
                    <a:pt x="38518" y="79821"/>
                  </a:lnTo>
                  <a:lnTo>
                    <a:pt x="76704" y="111675"/>
                  </a:lnTo>
                  <a:lnTo>
                    <a:pt x="119315" y="137479"/>
                  </a:lnTo>
                  <a:lnTo>
                    <a:pt x="165798" y="156641"/>
                  </a:lnTo>
                  <a:lnTo>
                    <a:pt x="215601" y="168571"/>
                  </a:lnTo>
                  <a:lnTo>
                    <a:pt x="268169" y="172679"/>
                  </a:lnTo>
                  <a:lnTo>
                    <a:pt x="320737" y="168571"/>
                  </a:lnTo>
                  <a:lnTo>
                    <a:pt x="370540" y="156641"/>
                  </a:lnTo>
                  <a:lnTo>
                    <a:pt x="417023" y="137479"/>
                  </a:lnTo>
                  <a:lnTo>
                    <a:pt x="459634" y="111675"/>
                  </a:lnTo>
                  <a:lnTo>
                    <a:pt x="497820" y="79821"/>
                  </a:lnTo>
                  <a:lnTo>
                    <a:pt x="531028" y="42505"/>
                  </a:lnTo>
                  <a:lnTo>
                    <a:pt x="536338" y="33207"/>
                  </a:lnTo>
                  <a:lnTo>
                    <a:pt x="536338" y="26566"/>
                  </a:lnTo>
                  <a:lnTo>
                    <a:pt x="534243" y="16251"/>
                  </a:lnTo>
                  <a:lnTo>
                    <a:pt x="528539" y="7803"/>
                  </a:lnTo>
                  <a:lnTo>
                    <a:pt x="520096" y="2096"/>
                  </a:lnTo>
                  <a:lnTo>
                    <a:pt x="509787" y="0"/>
                  </a:lnTo>
                  <a:close/>
                </a:path>
              </a:pathLst>
            </a:custGeom>
            <a:ln w="15496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59710" y="2918883"/>
              <a:ext cx="1009015" cy="1009650"/>
            </a:xfrm>
            <a:custGeom>
              <a:avLst/>
              <a:gdLst/>
              <a:ahLst/>
              <a:cxnLst/>
              <a:rect l="l" t="t" r="r" b="b"/>
              <a:pathLst>
                <a:path w="1009014" h="1009650">
                  <a:moveTo>
                    <a:pt x="504477" y="0"/>
                  </a:moveTo>
                  <a:lnTo>
                    <a:pt x="455865" y="2308"/>
                  </a:lnTo>
                  <a:lnTo>
                    <a:pt x="408566" y="9095"/>
                  </a:lnTo>
                  <a:lnTo>
                    <a:pt x="362792" y="20147"/>
                  </a:lnTo>
                  <a:lnTo>
                    <a:pt x="318752" y="35255"/>
                  </a:lnTo>
                  <a:lnTo>
                    <a:pt x="276658" y="54208"/>
                  </a:lnTo>
                  <a:lnTo>
                    <a:pt x="236720" y="76794"/>
                  </a:lnTo>
                  <a:lnTo>
                    <a:pt x="199149" y="102803"/>
                  </a:lnTo>
                  <a:lnTo>
                    <a:pt x="164156" y="132024"/>
                  </a:lnTo>
                  <a:lnTo>
                    <a:pt x="131951" y="164246"/>
                  </a:lnTo>
                  <a:lnTo>
                    <a:pt x="102746" y="199258"/>
                  </a:lnTo>
                  <a:lnTo>
                    <a:pt x="76752" y="236850"/>
                  </a:lnTo>
                  <a:lnTo>
                    <a:pt x="54178" y="276810"/>
                  </a:lnTo>
                  <a:lnTo>
                    <a:pt x="35236" y="318927"/>
                  </a:lnTo>
                  <a:lnTo>
                    <a:pt x="20136" y="362991"/>
                  </a:lnTo>
                  <a:lnTo>
                    <a:pt x="9090" y="408791"/>
                  </a:lnTo>
                  <a:lnTo>
                    <a:pt x="2307" y="456116"/>
                  </a:lnTo>
                  <a:lnTo>
                    <a:pt x="0" y="504754"/>
                  </a:lnTo>
                  <a:lnTo>
                    <a:pt x="2307" y="553393"/>
                  </a:lnTo>
                  <a:lnTo>
                    <a:pt x="9090" y="600717"/>
                  </a:lnTo>
                  <a:lnTo>
                    <a:pt x="20136" y="646517"/>
                  </a:lnTo>
                  <a:lnTo>
                    <a:pt x="35236" y="690581"/>
                  </a:lnTo>
                  <a:lnTo>
                    <a:pt x="54178" y="732699"/>
                  </a:lnTo>
                  <a:lnTo>
                    <a:pt x="76752" y="772659"/>
                  </a:lnTo>
                  <a:lnTo>
                    <a:pt x="102746" y="810250"/>
                  </a:lnTo>
                  <a:lnTo>
                    <a:pt x="131951" y="845262"/>
                  </a:lnTo>
                  <a:lnTo>
                    <a:pt x="164156" y="877484"/>
                  </a:lnTo>
                  <a:lnTo>
                    <a:pt x="199149" y="906706"/>
                  </a:lnTo>
                  <a:lnTo>
                    <a:pt x="236720" y="932715"/>
                  </a:lnTo>
                  <a:lnTo>
                    <a:pt x="276658" y="955301"/>
                  </a:lnTo>
                  <a:lnTo>
                    <a:pt x="318752" y="974253"/>
                  </a:lnTo>
                  <a:lnTo>
                    <a:pt x="362792" y="989361"/>
                  </a:lnTo>
                  <a:lnTo>
                    <a:pt x="408566" y="1000414"/>
                  </a:lnTo>
                  <a:lnTo>
                    <a:pt x="455865" y="1007200"/>
                  </a:lnTo>
                  <a:lnTo>
                    <a:pt x="504477" y="1009509"/>
                  </a:lnTo>
                  <a:lnTo>
                    <a:pt x="553089" y="1007200"/>
                  </a:lnTo>
                  <a:lnTo>
                    <a:pt x="600387" y="1000414"/>
                  </a:lnTo>
                  <a:lnTo>
                    <a:pt x="646162" y="989361"/>
                  </a:lnTo>
                  <a:lnTo>
                    <a:pt x="690202" y="974253"/>
                  </a:lnTo>
                  <a:lnTo>
                    <a:pt x="729906" y="956377"/>
                  </a:lnTo>
                  <a:lnTo>
                    <a:pt x="504477" y="956377"/>
                  </a:lnTo>
                  <a:lnTo>
                    <a:pt x="455474" y="953714"/>
                  </a:lnTo>
                  <a:lnTo>
                    <a:pt x="407956" y="945913"/>
                  </a:lnTo>
                  <a:lnTo>
                    <a:pt x="362204" y="933254"/>
                  </a:lnTo>
                  <a:lnTo>
                    <a:pt x="318497" y="916019"/>
                  </a:lnTo>
                  <a:lnTo>
                    <a:pt x="277118" y="894488"/>
                  </a:lnTo>
                  <a:lnTo>
                    <a:pt x="238346" y="868943"/>
                  </a:lnTo>
                  <a:lnTo>
                    <a:pt x="202464" y="839664"/>
                  </a:lnTo>
                  <a:lnTo>
                    <a:pt x="169751" y="806933"/>
                  </a:lnTo>
                  <a:lnTo>
                    <a:pt x="140488" y="771031"/>
                  </a:lnTo>
                  <a:lnTo>
                    <a:pt x="114957" y="732238"/>
                  </a:lnTo>
                  <a:lnTo>
                    <a:pt x="93439" y="690836"/>
                  </a:lnTo>
                  <a:lnTo>
                    <a:pt x="76213" y="647106"/>
                  </a:lnTo>
                  <a:lnTo>
                    <a:pt x="63561" y="601328"/>
                  </a:lnTo>
                  <a:lnTo>
                    <a:pt x="55764" y="553784"/>
                  </a:lnTo>
                  <a:lnTo>
                    <a:pt x="53102" y="504754"/>
                  </a:lnTo>
                  <a:lnTo>
                    <a:pt x="55764" y="455725"/>
                  </a:lnTo>
                  <a:lnTo>
                    <a:pt x="63561" y="408181"/>
                  </a:lnTo>
                  <a:lnTo>
                    <a:pt x="76213" y="362403"/>
                  </a:lnTo>
                  <a:lnTo>
                    <a:pt x="93439" y="318672"/>
                  </a:lnTo>
                  <a:lnTo>
                    <a:pt x="114957" y="277270"/>
                  </a:lnTo>
                  <a:lnTo>
                    <a:pt x="140488" y="238477"/>
                  </a:lnTo>
                  <a:lnTo>
                    <a:pt x="169751" y="202575"/>
                  </a:lnTo>
                  <a:lnTo>
                    <a:pt x="202464" y="169844"/>
                  </a:lnTo>
                  <a:lnTo>
                    <a:pt x="238346" y="140566"/>
                  </a:lnTo>
                  <a:lnTo>
                    <a:pt x="277118" y="115021"/>
                  </a:lnTo>
                  <a:lnTo>
                    <a:pt x="318497" y="93490"/>
                  </a:lnTo>
                  <a:lnTo>
                    <a:pt x="362204" y="76255"/>
                  </a:lnTo>
                  <a:lnTo>
                    <a:pt x="407956" y="63596"/>
                  </a:lnTo>
                  <a:lnTo>
                    <a:pt x="455474" y="55794"/>
                  </a:lnTo>
                  <a:lnTo>
                    <a:pt x="504477" y="53132"/>
                  </a:lnTo>
                  <a:lnTo>
                    <a:pt x="729906" y="53132"/>
                  </a:lnTo>
                  <a:lnTo>
                    <a:pt x="690202" y="35255"/>
                  </a:lnTo>
                  <a:lnTo>
                    <a:pt x="646162" y="20147"/>
                  </a:lnTo>
                  <a:lnTo>
                    <a:pt x="600387" y="9095"/>
                  </a:lnTo>
                  <a:lnTo>
                    <a:pt x="553089" y="2308"/>
                  </a:lnTo>
                  <a:lnTo>
                    <a:pt x="504477" y="0"/>
                  </a:lnTo>
                  <a:close/>
                </a:path>
                <a:path w="1009014" h="1009650">
                  <a:moveTo>
                    <a:pt x="729906" y="53132"/>
                  </a:moveTo>
                  <a:lnTo>
                    <a:pt x="504477" y="53132"/>
                  </a:lnTo>
                  <a:lnTo>
                    <a:pt x="553479" y="55794"/>
                  </a:lnTo>
                  <a:lnTo>
                    <a:pt x="600997" y="63596"/>
                  </a:lnTo>
                  <a:lnTo>
                    <a:pt x="646750" y="76255"/>
                  </a:lnTo>
                  <a:lnTo>
                    <a:pt x="690456" y="93490"/>
                  </a:lnTo>
                  <a:lnTo>
                    <a:pt x="731836" y="115021"/>
                  </a:lnTo>
                  <a:lnTo>
                    <a:pt x="770607" y="140566"/>
                  </a:lnTo>
                  <a:lnTo>
                    <a:pt x="806490" y="169844"/>
                  </a:lnTo>
                  <a:lnTo>
                    <a:pt x="839203" y="202575"/>
                  </a:lnTo>
                  <a:lnTo>
                    <a:pt x="868465" y="238478"/>
                  </a:lnTo>
                  <a:lnTo>
                    <a:pt x="893996" y="277270"/>
                  </a:lnTo>
                  <a:lnTo>
                    <a:pt x="915515" y="318672"/>
                  </a:lnTo>
                  <a:lnTo>
                    <a:pt x="932741" y="362403"/>
                  </a:lnTo>
                  <a:lnTo>
                    <a:pt x="945393" y="408181"/>
                  </a:lnTo>
                  <a:lnTo>
                    <a:pt x="953190" y="455725"/>
                  </a:lnTo>
                  <a:lnTo>
                    <a:pt x="955851" y="504754"/>
                  </a:lnTo>
                  <a:lnTo>
                    <a:pt x="953190" y="553784"/>
                  </a:lnTo>
                  <a:lnTo>
                    <a:pt x="945393" y="601328"/>
                  </a:lnTo>
                  <a:lnTo>
                    <a:pt x="932741" y="647106"/>
                  </a:lnTo>
                  <a:lnTo>
                    <a:pt x="915515" y="690836"/>
                  </a:lnTo>
                  <a:lnTo>
                    <a:pt x="893996" y="732238"/>
                  </a:lnTo>
                  <a:lnTo>
                    <a:pt x="868465" y="771031"/>
                  </a:lnTo>
                  <a:lnTo>
                    <a:pt x="839203" y="806933"/>
                  </a:lnTo>
                  <a:lnTo>
                    <a:pt x="806490" y="839664"/>
                  </a:lnTo>
                  <a:lnTo>
                    <a:pt x="770607" y="868943"/>
                  </a:lnTo>
                  <a:lnTo>
                    <a:pt x="731836" y="894488"/>
                  </a:lnTo>
                  <a:lnTo>
                    <a:pt x="690456" y="916019"/>
                  </a:lnTo>
                  <a:lnTo>
                    <a:pt x="646750" y="933254"/>
                  </a:lnTo>
                  <a:lnTo>
                    <a:pt x="600997" y="945913"/>
                  </a:lnTo>
                  <a:lnTo>
                    <a:pt x="553479" y="953714"/>
                  </a:lnTo>
                  <a:lnTo>
                    <a:pt x="504477" y="956377"/>
                  </a:lnTo>
                  <a:lnTo>
                    <a:pt x="729906" y="956377"/>
                  </a:lnTo>
                  <a:lnTo>
                    <a:pt x="772234" y="932715"/>
                  </a:lnTo>
                  <a:lnTo>
                    <a:pt x="809805" y="906706"/>
                  </a:lnTo>
                  <a:lnTo>
                    <a:pt x="844798" y="877485"/>
                  </a:lnTo>
                  <a:lnTo>
                    <a:pt x="877002" y="845262"/>
                  </a:lnTo>
                  <a:lnTo>
                    <a:pt x="906207" y="810250"/>
                  </a:lnTo>
                  <a:lnTo>
                    <a:pt x="932202" y="772659"/>
                  </a:lnTo>
                  <a:lnTo>
                    <a:pt x="954776" y="732699"/>
                  </a:lnTo>
                  <a:lnTo>
                    <a:pt x="973718" y="690581"/>
                  </a:lnTo>
                  <a:lnTo>
                    <a:pt x="988818" y="646517"/>
                  </a:lnTo>
                  <a:lnTo>
                    <a:pt x="999864" y="600718"/>
                  </a:lnTo>
                  <a:lnTo>
                    <a:pt x="1006646" y="553393"/>
                  </a:lnTo>
                  <a:lnTo>
                    <a:pt x="1008954" y="504754"/>
                  </a:lnTo>
                  <a:lnTo>
                    <a:pt x="1006646" y="456116"/>
                  </a:lnTo>
                  <a:lnTo>
                    <a:pt x="999864" y="408791"/>
                  </a:lnTo>
                  <a:lnTo>
                    <a:pt x="988818" y="362991"/>
                  </a:lnTo>
                  <a:lnTo>
                    <a:pt x="973718" y="318927"/>
                  </a:lnTo>
                  <a:lnTo>
                    <a:pt x="954776" y="276810"/>
                  </a:lnTo>
                  <a:lnTo>
                    <a:pt x="932202" y="236850"/>
                  </a:lnTo>
                  <a:lnTo>
                    <a:pt x="906207" y="199258"/>
                  </a:lnTo>
                  <a:lnTo>
                    <a:pt x="877002" y="164246"/>
                  </a:lnTo>
                  <a:lnTo>
                    <a:pt x="844798" y="132024"/>
                  </a:lnTo>
                  <a:lnTo>
                    <a:pt x="809805" y="102803"/>
                  </a:lnTo>
                  <a:lnTo>
                    <a:pt x="772234" y="76794"/>
                  </a:lnTo>
                  <a:lnTo>
                    <a:pt x="732296" y="54208"/>
                  </a:lnTo>
                  <a:lnTo>
                    <a:pt x="729906" y="53132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59710" y="2918883"/>
              <a:ext cx="1009015" cy="1009650"/>
            </a:xfrm>
            <a:custGeom>
              <a:avLst/>
              <a:gdLst/>
              <a:ahLst/>
              <a:cxnLst/>
              <a:rect l="l" t="t" r="r" b="b"/>
              <a:pathLst>
                <a:path w="1009014" h="1009650">
                  <a:moveTo>
                    <a:pt x="504477" y="53132"/>
                  </a:moveTo>
                  <a:lnTo>
                    <a:pt x="553479" y="55794"/>
                  </a:lnTo>
                  <a:lnTo>
                    <a:pt x="600997" y="63596"/>
                  </a:lnTo>
                  <a:lnTo>
                    <a:pt x="646750" y="76255"/>
                  </a:lnTo>
                  <a:lnTo>
                    <a:pt x="690456" y="93490"/>
                  </a:lnTo>
                  <a:lnTo>
                    <a:pt x="731836" y="115021"/>
                  </a:lnTo>
                  <a:lnTo>
                    <a:pt x="770607" y="140566"/>
                  </a:lnTo>
                  <a:lnTo>
                    <a:pt x="806490" y="169844"/>
                  </a:lnTo>
                  <a:lnTo>
                    <a:pt x="839203" y="202575"/>
                  </a:lnTo>
                  <a:lnTo>
                    <a:pt x="868465" y="238478"/>
                  </a:lnTo>
                  <a:lnTo>
                    <a:pt x="893996" y="277270"/>
                  </a:lnTo>
                  <a:lnTo>
                    <a:pt x="915515" y="318672"/>
                  </a:lnTo>
                  <a:lnTo>
                    <a:pt x="932741" y="362403"/>
                  </a:lnTo>
                  <a:lnTo>
                    <a:pt x="945393" y="408181"/>
                  </a:lnTo>
                  <a:lnTo>
                    <a:pt x="953190" y="455725"/>
                  </a:lnTo>
                  <a:lnTo>
                    <a:pt x="955851" y="504754"/>
                  </a:lnTo>
                  <a:lnTo>
                    <a:pt x="953190" y="553784"/>
                  </a:lnTo>
                  <a:lnTo>
                    <a:pt x="945393" y="601328"/>
                  </a:lnTo>
                  <a:lnTo>
                    <a:pt x="932741" y="647106"/>
                  </a:lnTo>
                  <a:lnTo>
                    <a:pt x="915515" y="690836"/>
                  </a:lnTo>
                  <a:lnTo>
                    <a:pt x="893996" y="732238"/>
                  </a:lnTo>
                  <a:lnTo>
                    <a:pt x="868465" y="771031"/>
                  </a:lnTo>
                  <a:lnTo>
                    <a:pt x="839203" y="806933"/>
                  </a:lnTo>
                  <a:lnTo>
                    <a:pt x="806490" y="839664"/>
                  </a:lnTo>
                  <a:lnTo>
                    <a:pt x="770607" y="868943"/>
                  </a:lnTo>
                  <a:lnTo>
                    <a:pt x="731836" y="894488"/>
                  </a:lnTo>
                  <a:lnTo>
                    <a:pt x="690456" y="916019"/>
                  </a:lnTo>
                  <a:lnTo>
                    <a:pt x="646750" y="933254"/>
                  </a:lnTo>
                  <a:lnTo>
                    <a:pt x="600997" y="945913"/>
                  </a:lnTo>
                  <a:lnTo>
                    <a:pt x="553479" y="953714"/>
                  </a:lnTo>
                  <a:lnTo>
                    <a:pt x="504477" y="956377"/>
                  </a:lnTo>
                  <a:lnTo>
                    <a:pt x="455474" y="953714"/>
                  </a:lnTo>
                  <a:lnTo>
                    <a:pt x="407956" y="945913"/>
                  </a:lnTo>
                  <a:lnTo>
                    <a:pt x="362204" y="933254"/>
                  </a:lnTo>
                  <a:lnTo>
                    <a:pt x="318497" y="916019"/>
                  </a:lnTo>
                  <a:lnTo>
                    <a:pt x="277118" y="894488"/>
                  </a:lnTo>
                  <a:lnTo>
                    <a:pt x="238346" y="868943"/>
                  </a:lnTo>
                  <a:lnTo>
                    <a:pt x="202464" y="839664"/>
                  </a:lnTo>
                  <a:lnTo>
                    <a:pt x="169751" y="806933"/>
                  </a:lnTo>
                  <a:lnTo>
                    <a:pt x="140488" y="771031"/>
                  </a:lnTo>
                  <a:lnTo>
                    <a:pt x="114957" y="732238"/>
                  </a:lnTo>
                  <a:lnTo>
                    <a:pt x="93439" y="690836"/>
                  </a:lnTo>
                  <a:lnTo>
                    <a:pt x="76213" y="647106"/>
                  </a:lnTo>
                  <a:lnTo>
                    <a:pt x="63561" y="601328"/>
                  </a:lnTo>
                  <a:lnTo>
                    <a:pt x="55764" y="553784"/>
                  </a:lnTo>
                  <a:lnTo>
                    <a:pt x="53102" y="504754"/>
                  </a:lnTo>
                  <a:lnTo>
                    <a:pt x="55764" y="455725"/>
                  </a:lnTo>
                  <a:lnTo>
                    <a:pt x="63561" y="408181"/>
                  </a:lnTo>
                  <a:lnTo>
                    <a:pt x="76213" y="362403"/>
                  </a:lnTo>
                  <a:lnTo>
                    <a:pt x="93439" y="318672"/>
                  </a:lnTo>
                  <a:lnTo>
                    <a:pt x="114957" y="277270"/>
                  </a:lnTo>
                  <a:lnTo>
                    <a:pt x="140488" y="238477"/>
                  </a:lnTo>
                  <a:lnTo>
                    <a:pt x="169751" y="202575"/>
                  </a:lnTo>
                  <a:lnTo>
                    <a:pt x="202464" y="169844"/>
                  </a:lnTo>
                  <a:lnTo>
                    <a:pt x="238346" y="140566"/>
                  </a:lnTo>
                  <a:lnTo>
                    <a:pt x="277118" y="115021"/>
                  </a:lnTo>
                  <a:lnTo>
                    <a:pt x="318497" y="93490"/>
                  </a:lnTo>
                  <a:lnTo>
                    <a:pt x="362204" y="76255"/>
                  </a:lnTo>
                  <a:lnTo>
                    <a:pt x="407956" y="63596"/>
                  </a:lnTo>
                  <a:lnTo>
                    <a:pt x="455474" y="55794"/>
                  </a:lnTo>
                  <a:lnTo>
                    <a:pt x="504477" y="53132"/>
                  </a:lnTo>
                </a:path>
                <a:path w="1009014" h="1009650">
                  <a:moveTo>
                    <a:pt x="504477" y="0"/>
                  </a:moveTo>
                  <a:lnTo>
                    <a:pt x="455865" y="2308"/>
                  </a:lnTo>
                  <a:lnTo>
                    <a:pt x="408566" y="9095"/>
                  </a:lnTo>
                  <a:lnTo>
                    <a:pt x="362792" y="20147"/>
                  </a:lnTo>
                  <a:lnTo>
                    <a:pt x="318752" y="35255"/>
                  </a:lnTo>
                  <a:lnTo>
                    <a:pt x="276658" y="54208"/>
                  </a:lnTo>
                  <a:lnTo>
                    <a:pt x="236720" y="76794"/>
                  </a:lnTo>
                  <a:lnTo>
                    <a:pt x="199149" y="102803"/>
                  </a:lnTo>
                  <a:lnTo>
                    <a:pt x="164156" y="132024"/>
                  </a:lnTo>
                  <a:lnTo>
                    <a:pt x="131951" y="164246"/>
                  </a:lnTo>
                  <a:lnTo>
                    <a:pt x="102746" y="199258"/>
                  </a:lnTo>
                  <a:lnTo>
                    <a:pt x="76752" y="236850"/>
                  </a:lnTo>
                  <a:lnTo>
                    <a:pt x="54178" y="276810"/>
                  </a:lnTo>
                  <a:lnTo>
                    <a:pt x="35236" y="318927"/>
                  </a:lnTo>
                  <a:lnTo>
                    <a:pt x="20136" y="362991"/>
                  </a:lnTo>
                  <a:lnTo>
                    <a:pt x="9090" y="408791"/>
                  </a:lnTo>
                  <a:lnTo>
                    <a:pt x="2307" y="456116"/>
                  </a:lnTo>
                  <a:lnTo>
                    <a:pt x="0" y="504754"/>
                  </a:lnTo>
                  <a:lnTo>
                    <a:pt x="2307" y="553393"/>
                  </a:lnTo>
                  <a:lnTo>
                    <a:pt x="9090" y="600717"/>
                  </a:lnTo>
                  <a:lnTo>
                    <a:pt x="20136" y="646517"/>
                  </a:lnTo>
                  <a:lnTo>
                    <a:pt x="35236" y="690581"/>
                  </a:lnTo>
                  <a:lnTo>
                    <a:pt x="54178" y="732699"/>
                  </a:lnTo>
                  <a:lnTo>
                    <a:pt x="76752" y="772659"/>
                  </a:lnTo>
                  <a:lnTo>
                    <a:pt x="102746" y="810250"/>
                  </a:lnTo>
                  <a:lnTo>
                    <a:pt x="131951" y="845262"/>
                  </a:lnTo>
                  <a:lnTo>
                    <a:pt x="164156" y="877485"/>
                  </a:lnTo>
                  <a:lnTo>
                    <a:pt x="199149" y="906706"/>
                  </a:lnTo>
                  <a:lnTo>
                    <a:pt x="236720" y="932715"/>
                  </a:lnTo>
                  <a:lnTo>
                    <a:pt x="276658" y="955301"/>
                  </a:lnTo>
                  <a:lnTo>
                    <a:pt x="318752" y="974253"/>
                  </a:lnTo>
                  <a:lnTo>
                    <a:pt x="362792" y="989361"/>
                  </a:lnTo>
                  <a:lnTo>
                    <a:pt x="408566" y="1000414"/>
                  </a:lnTo>
                  <a:lnTo>
                    <a:pt x="455865" y="1007200"/>
                  </a:lnTo>
                  <a:lnTo>
                    <a:pt x="504477" y="1009509"/>
                  </a:lnTo>
                  <a:lnTo>
                    <a:pt x="553089" y="1007200"/>
                  </a:lnTo>
                  <a:lnTo>
                    <a:pt x="600387" y="1000414"/>
                  </a:lnTo>
                  <a:lnTo>
                    <a:pt x="646162" y="989362"/>
                  </a:lnTo>
                  <a:lnTo>
                    <a:pt x="690202" y="974254"/>
                  </a:lnTo>
                  <a:lnTo>
                    <a:pt x="732296" y="955301"/>
                  </a:lnTo>
                  <a:lnTo>
                    <a:pt x="772234" y="932715"/>
                  </a:lnTo>
                  <a:lnTo>
                    <a:pt x="809805" y="906706"/>
                  </a:lnTo>
                  <a:lnTo>
                    <a:pt x="844798" y="877485"/>
                  </a:lnTo>
                  <a:lnTo>
                    <a:pt x="877002" y="845263"/>
                  </a:lnTo>
                  <a:lnTo>
                    <a:pt x="906207" y="810250"/>
                  </a:lnTo>
                  <a:lnTo>
                    <a:pt x="932202" y="772659"/>
                  </a:lnTo>
                  <a:lnTo>
                    <a:pt x="954776" y="732699"/>
                  </a:lnTo>
                  <a:lnTo>
                    <a:pt x="973718" y="690581"/>
                  </a:lnTo>
                  <a:lnTo>
                    <a:pt x="988818" y="646517"/>
                  </a:lnTo>
                  <a:lnTo>
                    <a:pt x="999864" y="600718"/>
                  </a:lnTo>
                  <a:lnTo>
                    <a:pt x="1006646" y="553393"/>
                  </a:lnTo>
                  <a:lnTo>
                    <a:pt x="1008954" y="504754"/>
                  </a:lnTo>
                  <a:lnTo>
                    <a:pt x="1006646" y="456116"/>
                  </a:lnTo>
                  <a:lnTo>
                    <a:pt x="999864" y="408791"/>
                  </a:lnTo>
                  <a:lnTo>
                    <a:pt x="988818" y="362991"/>
                  </a:lnTo>
                  <a:lnTo>
                    <a:pt x="973718" y="318927"/>
                  </a:lnTo>
                  <a:lnTo>
                    <a:pt x="954776" y="276810"/>
                  </a:lnTo>
                  <a:lnTo>
                    <a:pt x="932202" y="236850"/>
                  </a:lnTo>
                  <a:lnTo>
                    <a:pt x="906207" y="199258"/>
                  </a:lnTo>
                  <a:lnTo>
                    <a:pt x="877002" y="164246"/>
                  </a:lnTo>
                  <a:lnTo>
                    <a:pt x="844798" y="132024"/>
                  </a:lnTo>
                  <a:lnTo>
                    <a:pt x="809805" y="102803"/>
                  </a:lnTo>
                  <a:lnTo>
                    <a:pt x="772234" y="76794"/>
                  </a:lnTo>
                  <a:lnTo>
                    <a:pt x="732296" y="54208"/>
                  </a:lnTo>
                  <a:lnTo>
                    <a:pt x="690202" y="35255"/>
                  </a:lnTo>
                  <a:lnTo>
                    <a:pt x="646162" y="20147"/>
                  </a:lnTo>
                  <a:lnTo>
                    <a:pt x="600387" y="9095"/>
                  </a:lnTo>
                  <a:lnTo>
                    <a:pt x="553089" y="2308"/>
                  </a:lnTo>
                  <a:lnTo>
                    <a:pt x="504477" y="0"/>
                  </a:lnTo>
                  <a:close/>
                </a:path>
              </a:pathLst>
            </a:custGeom>
            <a:ln w="15492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43307" y="1251904"/>
            <a:ext cx="4340348" cy="43403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6788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Shepherd metro</dc:creator>
  <dcterms:created xsi:type="dcterms:W3CDTF">2024-11-16T15:44:10Z</dcterms:created>
  <dcterms:modified xsi:type="dcterms:W3CDTF">2024-11-16T15:44:10Z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2024-11-09T00:00:00Z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2024-11-16T00:00:00Z</vt:filetime>
  </property>
  <property fmtid="{D5CDD505-2E9C-101B-9397-08002B2CF9AE}" pid="5" name="Producer">
    <vt:lpwstr>3-Heights(TM) PDF Security Shell 4.8.25.2 (http://www.pdf-tools.com)</vt:lpwstr>
  </property>
</Properties>
</file>